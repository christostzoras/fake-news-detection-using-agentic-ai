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2.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3.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5" r:id="rId1"/>
  </p:sldMasterIdLst>
  <p:notesMasterIdLst>
    <p:notesMasterId r:id="rId29"/>
  </p:notesMasterIdLst>
  <p:sldIdLst>
    <p:sldId id="256" r:id="rId2"/>
    <p:sldId id="257" r:id="rId3"/>
    <p:sldId id="258" r:id="rId4"/>
    <p:sldId id="268" r:id="rId5"/>
    <p:sldId id="269" r:id="rId6"/>
    <p:sldId id="283" r:id="rId7"/>
    <p:sldId id="259" r:id="rId8"/>
    <p:sldId id="270" r:id="rId9"/>
    <p:sldId id="260" r:id="rId10"/>
    <p:sldId id="276" r:id="rId11"/>
    <p:sldId id="271" r:id="rId12"/>
    <p:sldId id="272" r:id="rId13"/>
    <p:sldId id="277" r:id="rId14"/>
    <p:sldId id="273" r:id="rId15"/>
    <p:sldId id="278" r:id="rId16"/>
    <p:sldId id="274" r:id="rId17"/>
    <p:sldId id="280" r:id="rId18"/>
    <p:sldId id="275" r:id="rId19"/>
    <p:sldId id="279" r:id="rId20"/>
    <p:sldId id="281" r:id="rId21"/>
    <p:sldId id="261" r:id="rId22"/>
    <p:sldId id="262" r:id="rId23"/>
    <p:sldId id="263" r:id="rId24"/>
    <p:sldId id="264" r:id="rId25"/>
    <p:sldId id="265" r:id="rId26"/>
    <p:sldId id="266" r:id="rId27"/>
    <p:sldId id="26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62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snapToGrid="0" snapToObjects="1">
      <p:cViewPr>
        <p:scale>
          <a:sx n="102" d="100"/>
          <a:sy n="102" d="100"/>
        </p:scale>
        <p:origin x="1896" y="222"/>
      </p:cViewPr>
      <p:guideLst>
        <p:guide orient="horz" pos="2160"/>
        <p:guide pos="2880"/>
      </p:guideLst>
    </p:cSldViewPr>
  </p:slideViewPr>
  <p:notesTextViewPr>
    <p:cViewPr>
      <p:scale>
        <a:sx n="83" d="100"/>
        <a:sy n="83" d="100"/>
      </p:scale>
      <p:origin x="0" y="0"/>
    </p:cViewPr>
  </p:notesTextViewPr>
  <p:notesViewPr>
    <p:cSldViewPr snapToGrid="0" snapToObjects="1">
      <p:cViewPr varScale="1">
        <p:scale>
          <a:sx n="86" d="100"/>
          <a:sy n="86" d="100"/>
        </p:scale>
        <p:origin x="3864"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Χρήστος Τζώρας" userId="1a71c37f54fe57f8" providerId="LiveId" clId="{519AE172-FC83-418F-BA0B-605FC81D3B0E}"/>
    <pc:docChg chg="undo custSel addSld modSld">
      <pc:chgData name="Χρήστος Τζώρας" userId="1a71c37f54fe57f8" providerId="LiveId" clId="{519AE172-FC83-418F-BA0B-605FC81D3B0E}" dt="2025-09-25T20:04:03.940" v="3918" actId="1076"/>
      <pc:docMkLst>
        <pc:docMk/>
      </pc:docMkLst>
      <pc:sldChg chg="modSp mod">
        <pc:chgData name="Χρήστος Τζώρας" userId="1a71c37f54fe57f8" providerId="LiveId" clId="{519AE172-FC83-418F-BA0B-605FC81D3B0E}" dt="2025-09-25T19:11:47.985" v="3188" actId="2711"/>
        <pc:sldMkLst>
          <pc:docMk/>
          <pc:sldMk cId="0" sldId="256"/>
        </pc:sldMkLst>
        <pc:spChg chg="mod">
          <ac:chgData name="Χρήστος Τζώρας" userId="1a71c37f54fe57f8" providerId="LiveId" clId="{519AE172-FC83-418F-BA0B-605FC81D3B0E}" dt="2025-09-25T19:11:43.458" v="3187" actId="2711"/>
          <ac:spMkLst>
            <pc:docMk/>
            <pc:sldMk cId="0" sldId="256"/>
            <ac:spMk id="2" creationId="{00000000-0000-0000-0000-000000000000}"/>
          </ac:spMkLst>
        </pc:spChg>
        <pc:spChg chg="mod">
          <ac:chgData name="Χρήστος Τζώρας" userId="1a71c37f54fe57f8" providerId="LiveId" clId="{519AE172-FC83-418F-BA0B-605FC81D3B0E}" dt="2025-09-25T19:11:47.985" v="3188" actId="2711"/>
          <ac:spMkLst>
            <pc:docMk/>
            <pc:sldMk cId="0" sldId="256"/>
            <ac:spMk id="3" creationId="{00000000-0000-0000-0000-000000000000}"/>
          </ac:spMkLst>
        </pc:spChg>
      </pc:sldChg>
      <pc:sldChg chg="addSp delSp modSp mod">
        <pc:chgData name="Χρήστος Τζώρας" userId="1a71c37f54fe57f8" providerId="LiveId" clId="{519AE172-FC83-418F-BA0B-605FC81D3B0E}" dt="2025-09-25T19:11:54.292" v="3191" actId="2711"/>
        <pc:sldMkLst>
          <pc:docMk/>
          <pc:sldMk cId="0" sldId="257"/>
        </pc:sldMkLst>
        <pc:spChg chg="mod">
          <ac:chgData name="Χρήστος Τζώρας" userId="1a71c37f54fe57f8" providerId="LiveId" clId="{519AE172-FC83-418F-BA0B-605FC81D3B0E}" dt="2025-09-25T19:11:54.292" v="3191" actId="2711"/>
          <ac:spMkLst>
            <pc:docMk/>
            <pc:sldMk cId="0" sldId="257"/>
            <ac:spMk id="2" creationId="{00000000-0000-0000-0000-000000000000}"/>
          </ac:spMkLst>
        </pc:spChg>
        <pc:picChg chg="add mod">
          <ac:chgData name="Χρήστος Τζώρας" userId="1a71c37f54fe57f8" providerId="LiveId" clId="{519AE172-FC83-418F-BA0B-605FC81D3B0E}" dt="2025-09-22T20:06:21.912" v="639"/>
          <ac:picMkLst>
            <pc:docMk/>
            <pc:sldMk cId="0" sldId="257"/>
            <ac:picMk id="4" creationId="{CD5B2B9D-7C3B-F078-89BF-F254300861DC}"/>
          </ac:picMkLst>
        </pc:picChg>
      </pc:sldChg>
      <pc:sldChg chg="addSp modSp mod">
        <pc:chgData name="Χρήστος Τζώρας" userId="1a71c37f54fe57f8" providerId="LiveId" clId="{519AE172-FC83-418F-BA0B-605FC81D3B0E}" dt="2025-09-25T19:12:13.701" v="3198" actId="1076"/>
        <pc:sldMkLst>
          <pc:docMk/>
          <pc:sldMk cId="0" sldId="258"/>
        </pc:sldMkLst>
        <pc:spChg chg="mod">
          <ac:chgData name="Χρήστος Τζώρας" userId="1a71c37f54fe57f8" providerId="LiveId" clId="{519AE172-FC83-418F-BA0B-605FC81D3B0E}" dt="2025-09-25T19:11:58.837" v="3192" actId="2711"/>
          <ac:spMkLst>
            <pc:docMk/>
            <pc:sldMk cId="0" sldId="258"/>
            <ac:spMk id="2" creationId="{00000000-0000-0000-0000-000000000000}"/>
          </ac:spMkLst>
        </pc:spChg>
        <pc:spChg chg="mod">
          <ac:chgData name="Χρήστος Τζώρας" userId="1a71c37f54fe57f8" providerId="LiveId" clId="{519AE172-FC83-418F-BA0B-605FC81D3B0E}" dt="2025-09-25T19:12:13.701" v="3198" actId="1076"/>
          <ac:spMkLst>
            <pc:docMk/>
            <pc:sldMk cId="0" sldId="258"/>
            <ac:spMk id="3" creationId="{00000000-0000-0000-0000-000000000000}"/>
          </ac:spMkLst>
        </pc:spChg>
        <pc:picChg chg="add mod">
          <ac:chgData name="Χρήστος Τζώρας" userId="1a71c37f54fe57f8" providerId="LiveId" clId="{519AE172-FC83-418F-BA0B-605FC81D3B0E}" dt="2025-09-22T20:05:11.858" v="635" actId="1076"/>
          <ac:picMkLst>
            <pc:docMk/>
            <pc:sldMk cId="0" sldId="258"/>
            <ac:picMk id="5" creationId="{702BDC74-B070-8283-2E25-7D5F3F6D3DE9}"/>
          </ac:picMkLst>
        </pc:picChg>
        <pc:picChg chg="add mod">
          <ac:chgData name="Χρήστος Τζώρας" userId="1a71c37f54fe57f8" providerId="LiveId" clId="{519AE172-FC83-418F-BA0B-605FC81D3B0E}" dt="2025-09-22T20:06:07.570" v="638" actId="1076"/>
          <ac:picMkLst>
            <pc:docMk/>
            <pc:sldMk cId="0" sldId="258"/>
            <ac:picMk id="1026" creationId="{8FB7C79F-BEC8-045C-2447-38FF5ACB1377}"/>
          </ac:picMkLst>
        </pc:picChg>
      </pc:sldChg>
      <pc:sldChg chg="addSp delSp modSp mod">
        <pc:chgData name="Χρήστος Τζώρας" userId="1a71c37f54fe57f8" providerId="LiveId" clId="{519AE172-FC83-418F-BA0B-605FC81D3B0E}" dt="2025-09-25T19:12:49.540" v="3209" actId="2711"/>
        <pc:sldMkLst>
          <pc:docMk/>
          <pc:sldMk cId="0" sldId="259"/>
        </pc:sldMkLst>
        <pc:spChg chg="mod">
          <ac:chgData name="Χρήστος Τζώρας" userId="1a71c37f54fe57f8" providerId="LiveId" clId="{519AE172-FC83-418F-BA0B-605FC81D3B0E}" dt="2025-09-25T19:12:49.540" v="3209" actId="2711"/>
          <ac:spMkLst>
            <pc:docMk/>
            <pc:sldMk cId="0" sldId="259"/>
            <ac:spMk id="2" creationId="{00000000-0000-0000-0000-000000000000}"/>
          </ac:spMkLst>
        </pc:spChg>
        <pc:picChg chg="add mod">
          <ac:chgData name="Χρήστος Τζώρας" userId="1a71c37f54fe57f8" providerId="LiveId" clId="{519AE172-FC83-418F-BA0B-605FC81D3B0E}" dt="2025-09-22T20:06:26.474" v="640"/>
          <ac:picMkLst>
            <pc:docMk/>
            <pc:sldMk cId="0" sldId="259"/>
            <ac:picMk id="4" creationId="{47FBE8C3-1298-37D4-ED78-9B5B42B37DC0}"/>
          </ac:picMkLst>
        </pc:picChg>
      </pc:sldChg>
      <pc:sldChg chg="addSp delSp modSp mod">
        <pc:chgData name="Χρήστος Τζώρας" userId="1a71c37f54fe57f8" providerId="LiveId" clId="{519AE172-FC83-418F-BA0B-605FC81D3B0E}" dt="2025-09-25T19:19:56.272" v="3386" actId="1076"/>
        <pc:sldMkLst>
          <pc:docMk/>
          <pc:sldMk cId="0" sldId="260"/>
        </pc:sldMkLst>
        <pc:spChg chg="mod">
          <ac:chgData name="Χρήστος Τζώρας" userId="1a71c37f54fe57f8" providerId="LiveId" clId="{519AE172-FC83-418F-BA0B-605FC81D3B0E}" dt="2025-09-25T19:12:56.935" v="3210" actId="2711"/>
          <ac:spMkLst>
            <pc:docMk/>
            <pc:sldMk cId="0" sldId="260"/>
            <ac:spMk id="2" creationId="{00000000-0000-0000-0000-000000000000}"/>
          </ac:spMkLst>
        </pc:spChg>
        <pc:spChg chg="add del mod">
          <ac:chgData name="Χρήστος Τζώρας" userId="1a71c37f54fe57f8" providerId="LiveId" clId="{519AE172-FC83-418F-BA0B-605FC81D3B0E}" dt="2025-09-25T19:19:00.154" v="3383" actId="14100"/>
          <ac:spMkLst>
            <pc:docMk/>
            <pc:sldMk cId="0" sldId="260"/>
            <ac:spMk id="8" creationId="{B97D3F37-9180-14C2-2D70-EEF8C9EC139C}"/>
          </ac:spMkLst>
        </pc:spChg>
        <pc:spChg chg="add">
          <ac:chgData name="Χρήστος Τζώρας" userId="1a71c37f54fe57f8" providerId="LiveId" clId="{519AE172-FC83-418F-BA0B-605FC81D3B0E}" dt="2025-09-25T19:16:54.280" v="3334"/>
          <ac:spMkLst>
            <pc:docMk/>
            <pc:sldMk cId="0" sldId="260"/>
            <ac:spMk id="9" creationId="{20565EEE-668B-1E32-DFD5-E83EFBC26299}"/>
          </ac:spMkLst>
        </pc:spChg>
        <pc:spChg chg="add del mod">
          <ac:chgData name="Χρήστος Τζώρας" userId="1a71c37f54fe57f8" providerId="LiveId" clId="{519AE172-FC83-418F-BA0B-605FC81D3B0E}" dt="2025-09-25T19:17:20.950" v="3340" actId="14100"/>
          <ac:spMkLst>
            <pc:docMk/>
            <pc:sldMk cId="0" sldId="260"/>
            <ac:spMk id="10" creationId="{E5B4538A-86FD-7989-5CBD-F932C8558505}"/>
          </ac:spMkLst>
        </pc:spChg>
        <pc:spChg chg="add mod">
          <ac:chgData name="Χρήστος Τζώρας" userId="1a71c37f54fe57f8" providerId="LiveId" clId="{519AE172-FC83-418F-BA0B-605FC81D3B0E}" dt="2025-09-25T19:17:08.490" v="3338" actId="478"/>
          <ac:spMkLst>
            <pc:docMk/>
            <pc:sldMk cId="0" sldId="260"/>
            <ac:spMk id="11" creationId="{5053DD65-C367-1065-9D39-EB290FB5A276}"/>
          </ac:spMkLst>
        </pc:spChg>
        <pc:picChg chg="add mod">
          <ac:chgData name="Χρήστος Τζώρας" userId="1a71c37f54fe57f8" providerId="LiveId" clId="{519AE172-FC83-418F-BA0B-605FC81D3B0E}" dt="2025-09-22T20:06:27.283" v="641"/>
          <ac:picMkLst>
            <pc:docMk/>
            <pc:sldMk cId="0" sldId="260"/>
            <ac:picMk id="4" creationId="{142CAB5E-4F79-7927-AF49-0BC1323A2AA2}"/>
          </ac:picMkLst>
        </pc:picChg>
        <pc:picChg chg="add mod">
          <ac:chgData name="Χρήστος Τζώρας" userId="1a71c37f54fe57f8" providerId="LiveId" clId="{519AE172-FC83-418F-BA0B-605FC81D3B0E}" dt="2025-09-25T19:19:56.272" v="3386" actId="1076"/>
          <ac:picMkLst>
            <pc:docMk/>
            <pc:sldMk cId="0" sldId="260"/>
            <ac:picMk id="13" creationId="{24A7A63A-4EBD-85C1-A500-E869508A5904}"/>
          </ac:picMkLst>
        </pc:picChg>
      </pc:sldChg>
      <pc:sldChg chg="addSp delSp modSp mod">
        <pc:chgData name="Χρήστος Τζώρας" userId="1a71c37f54fe57f8" providerId="LiveId" clId="{519AE172-FC83-418F-BA0B-605FC81D3B0E}" dt="2025-09-25T19:50:23.563" v="3764" actId="20577"/>
        <pc:sldMkLst>
          <pc:docMk/>
          <pc:sldMk cId="0" sldId="261"/>
        </pc:sldMkLst>
        <pc:spChg chg="mod">
          <ac:chgData name="Χρήστος Τζώρας" userId="1a71c37f54fe57f8" providerId="LiveId" clId="{519AE172-FC83-418F-BA0B-605FC81D3B0E}" dt="2025-09-25T19:13:06.048" v="3213" actId="2711"/>
          <ac:spMkLst>
            <pc:docMk/>
            <pc:sldMk cId="0" sldId="261"/>
            <ac:spMk id="2" creationId="{00000000-0000-0000-0000-000000000000}"/>
          </ac:spMkLst>
        </pc:spChg>
        <pc:spChg chg="del mod">
          <ac:chgData name="Χρήστος Τζώρας" userId="1a71c37f54fe57f8" providerId="LiveId" clId="{519AE172-FC83-418F-BA0B-605FC81D3B0E}" dt="2025-09-25T19:25:26.198" v="3387" actId="478"/>
          <ac:spMkLst>
            <pc:docMk/>
            <pc:sldMk cId="0" sldId="261"/>
            <ac:spMk id="3" creationId="{00000000-0000-0000-0000-000000000000}"/>
          </ac:spMkLst>
        </pc:spChg>
        <pc:spChg chg="add del mod">
          <ac:chgData name="Χρήστος Τζώρας" userId="1a71c37f54fe57f8" providerId="LiveId" clId="{519AE172-FC83-418F-BA0B-605FC81D3B0E}" dt="2025-09-25T19:25:27.729" v="3388" actId="478"/>
          <ac:spMkLst>
            <pc:docMk/>
            <pc:sldMk cId="0" sldId="261"/>
            <ac:spMk id="6" creationId="{916B3561-F54B-4A34-F6FF-AA7498DEEDD7}"/>
          </ac:spMkLst>
        </pc:spChg>
        <pc:spChg chg="add mod">
          <ac:chgData name="Χρήστος Τζώρας" userId="1a71c37f54fe57f8" providerId="LiveId" clId="{519AE172-FC83-418F-BA0B-605FC81D3B0E}" dt="2025-09-25T19:32:24.441" v="3752" actId="1076"/>
          <ac:spMkLst>
            <pc:docMk/>
            <pc:sldMk cId="0" sldId="261"/>
            <ac:spMk id="7" creationId="{14AD8399-ECF0-14AC-9F76-69EEAA7A1856}"/>
          </ac:spMkLst>
        </pc:spChg>
        <pc:spChg chg="add mod">
          <ac:chgData name="Χρήστος Τζώρας" userId="1a71c37f54fe57f8" providerId="LiveId" clId="{519AE172-FC83-418F-BA0B-605FC81D3B0E}" dt="2025-09-25T19:32:16.858" v="3750" actId="1076"/>
          <ac:spMkLst>
            <pc:docMk/>
            <pc:sldMk cId="0" sldId="261"/>
            <ac:spMk id="8" creationId="{38C451D1-A171-F19E-28E6-067829096871}"/>
          </ac:spMkLst>
        </pc:spChg>
        <pc:spChg chg="add del mod">
          <ac:chgData name="Χρήστος Τζώρας" userId="1a71c37f54fe57f8" providerId="LiveId" clId="{519AE172-FC83-418F-BA0B-605FC81D3B0E}" dt="2025-09-25T19:32:15.268" v="3749" actId="1076"/>
          <ac:spMkLst>
            <pc:docMk/>
            <pc:sldMk cId="0" sldId="261"/>
            <ac:spMk id="9" creationId="{6B6CC9EE-F026-6460-B3FF-E1836FFF4C3E}"/>
          </ac:spMkLst>
        </pc:spChg>
        <pc:spChg chg="add mod">
          <ac:chgData name="Χρήστος Τζώρας" userId="1a71c37f54fe57f8" providerId="LiveId" clId="{519AE172-FC83-418F-BA0B-605FC81D3B0E}" dt="2025-09-25T19:50:23.563" v="3764" actId="20577"/>
          <ac:spMkLst>
            <pc:docMk/>
            <pc:sldMk cId="0" sldId="261"/>
            <ac:spMk id="10" creationId="{4E64E359-1BCD-DB9F-F128-2F339C44836F}"/>
          </ac:spMkLst>
        </pc:spChg>
        <pc:spChg chg="add">
          <ac:chgData name="Χρήστος Τζώρας" userId="1a71c37f54fe57f8" providerId="LiveId" clId="{519AE172-FC83-418F-BA0B-605FC81D3B0E}" dt="2025-09-25T19:26:25.129" v="3406"/>
          <ac:spMkLst>
            <pc:docMk/>
            <pc:sldMk cId="0" sldId="261"/>
            <ac:spMk id="11" creationId="{44B981D8-C059-6315-8154-D9294D07EC1C}"/>
          </ac:spMkLst>
        </pc:spChg>
        <pc:spChg chg="add mod">
          <ac:chgData name="Χρήστος Τζώρας" userId="1a71c37f54fe57f8" providerId="LiveId" clId="{519AE172-FC83-418F-BA0B-605FC81D3B0E}" dt="2025-09-25T19:27:17.558" v="3434"/>
          <ac:spMkLst>
            <pc:docMk/>
            <pc:sldMk cId="0" sldId="261"/>
            <ac:spMk id="12" creationId="{E7BE0F4E-62A2-4A76-8D48-DB413C3B8E62}"/>
          </ac:spMkLst>
        </pc:spChg>
        <pc:picChg chg="add mod">
          <ac:chgData name="Χρήστος Τζώρας" userId="1a71c37f54fe57f8" providerId="LiveId" clId="{519AE172-FC83-418F-BA0B-605FC81D3B0E}" dt="2025-09-22T20:06:28.375" v="642"/>
          <ac:picMkLst>
            <pc:docMk/>
            <pc:sldMk cId="0" sldId="261"/>
            <ac:picMk id="4" creationId="{0E3E1FFF-D339-2BA2-02CC-7648F4E6E11A}"/>
          </ac:picMkLst>
        </pc:picChg>
      </pc:sldChg>
      <pc:sldChg chg="addSp delSp modSp mod">
        <pc:chgData name="Χρήστος Τζώρας" userId="1a71c37f54fe57f8" providerId="LiveId" clId="{519AE172-FC83-418F-BA0B-605FC81D3B0E}" dt="2025-09-25T19:13:15.566" v="3216" actId="2711"/>
        <pc:sldMkLst>
          <pc:docMk/>
          <pc:sldMk cId="0" sldId="262"/>
        </pc:sldMkLst>
        <pc:spChg chg="mod">
          <ac:chgData name="Χρήστος Τζώρας" userId="1a71c37f54fe57f8" providerId="LiveId" clId="{519AE172-FC83-418F-BA0B-605FC81D3B0E}" dt="2025-09-25T19:13:15.566" v="3216" actId="2711"/>
          <ac:spMkLst>
            <pc:docMk/>
            <pc:sldMk cId="0" sldId="262"/>
            <ac:spMk id="2" creationId="{00000000-0000-0000-0000-000000000000}"/>
          </ac:spMkLst>
        </pc:spChg>
        <pc:spChg chg="del">
          <ac:chgData name="Χρήστος Τζώρας" userId="1a71c37f54fe57f8" providerId="LiveId" clId="{519AE172-FC83-418F-BA0B-605FC81D3B0E}" dt="2025-09-25T19:13:12.089" v="3215" actId="478"/>
          <ac:spMkLst>
            <pc:docMk/>
            <pc:sldMk cId="0" sldId="262"/>
            <ac:spMk id="3" creationId="{00000000-0000-0000-0000-000000000000}"/>
          </ac:spMkLst>
        </pc:spChg>
        <pc:picChg chg="add mod">
          <ac:chgData name="Χρήστος Τζώρας" userId="1a71c37f54fe57f8" providerId="LiveId" clId="{519AE172-FC83-418F-BA0B-605FC81D3B0E}" dt="2025-09-22T20:06:29.462" v="643"/>
          <ac:picMkLst>
            <pc:docMk/>
            <pc:sldMk cId="0" sldId="262"/>
            <ac:picMk id="4" creationId="{3E42A159-213F-F711-2FE8-96AC22014D7F}"/>
          </ac:picMkLst>
        </pc:picChg>
      </pc:sldChg>
      <pc:sldChg chg="addSp modSp mod">
        <pc:chgData name="Χρήστος Τζώρας" userId="1a71c37f54fe57f8" providerId="LiveId" clId="{519AE172-FC83-418F-BA0B-605FC81D3B0E}" dt="2025-09-25T19:34:07.922" v="3763" actId="14100"/>
        <pc:sldMkLst>
          <pc:docMk/>
          <pc:sldMk cId="0" sldId="263"/>
        </pc:sldMkLst>
        <pc:spChg chg="mod">
          <ac:chgData name="Χρήστος Τζώρας" userId="1a71c37f54fe57f8" providerId="LiveId" clId="{519AE172-FC83-418F-BA0B-605FC81D3B0E}" dt="2025-09-25T19:13:22.849" v="3217" actId="2711"/>
          <ac:spMkLst>
            <pc:docMk/>
            <pc:sldMk cId="0" sldId="263"/>
            <ac:spMk id="2" creationId="{00000000-0000-0000-0000-000000000000}"/>
          </ac:spMkLst>
        </pc:spChg>
        <pc:spChg chg="mod">
          <ac:chgData name="Χρήστος Τζώρας" userId="1a71c37f54fe57f8" providerId="LiveId" clId="{519AE172-FC83-418F-BA0B-605FC81D3B0E}" dt="2025-09-25T19:33:46.967" v="3756" actId="14100"/>
          <ac:spMkLst>
            <pc:docMk/>
            <pc:sldMk cId="0" sldId="263"/>
            <ac:spMk id="3" creationId="{00000000-0000-0000-0000-000000000000}"/>
          </ac:spMkLst>
        </pc:spChg>
        <pc:picChg chg="add mod">
          <ac:chgData name="Χρήστος Τζώρας" userId="1a71c37f54fe57f8" providerId="LiveId" clId="{519AE172-FC83-418F-BA0B-605FC81D3B0E}" dt="2025-09-22T20:06:30.440" v="644"/>
          <ac:picMkLst>
            <pc:docMk/>
            <pc:sldMk cId="0" sldId="263"/>
            <ac:picMk id="4" creationId="{73935F4D-0010-6590-2E40-17EF9E04F476}"/>
          </ac:picMkLst>
        </pc:picChg>
        <pc:picChg chg="add mod">
          <ac:chgData name="Χρήστος Τζώρας" userId="1a71c37f54fe57f8" providerId="LiveId" clId="{519AE172-FC83-418F-BA0B-605FC81D3B0E}" dt="2025-09-25T19:34:07.922" v="3763" actId="14100"/>
          <ac:picMkLst>
            <pc:docMk/>
            <pc:sldMk cId="0" sldId="263"/>
            <ac:picMk id="6" creationId="{44E398F0-2A2C-B11B-978C-5CD0DC533A63}"/>
          </ac:picMkLst>
        </pc:picChg>
      </pc:sldChg>
      <pc:sldChg chg="addSp delSp modSp mod">
        <pc:chgData name="Χρήστος Τζώρας" userId="1a71c37f54fe57f8" providerId="LiveId" clId="{519AE172-FC83-418F-BA0B-605FC81D3B0E}" dt="2025-09-25T20:04:03.940" v="3918" actId="1076"/>
        <pc:sldMkLst>
          <pc:docMk/>
          <pc:sldMk cId="0" sldId="264"/>
        </pc:sldMkLst>
        <pc:spChg chg="mod">
          <ac:chgData name="Χρήστος Τζώρας" userId="1a71c37f54fe57f8" providerId="LiveId" clId="{519AE172-FC83-418F-BA0B-605FC81D3B0E}" dt="2025-09-25T19:13:45.562" v="3223" actId="20577"/>
          <ac:spMkLst>
            <pc:docMk/>
            <pc:sldMk cId="0" sldId="264"/>
            <ac:spMk id="2" creationId="{00000000-0000-0000-0000-000000000000}"/>
          </ac:spMkLst>
        </pc:spChg>
        <pc:spChg chg="del mod">
          <ac:chgData name="Χρήστος Τζώρας" userId="1a71c37f54fe57f8" providerId="LiveId" clId="{519AE172-FC83-418F-BA0B-605FC81D3B0E}" dt="2025-09-25T19:52:24.317" v="3765" actId="478"/>
          <ac:spMkLst>
            <pc:docMk/>
            <pc:sldMk cId="0" sldId="264"/>
            <ac:spMk id="3" creationId="{00000000-0000-0000-0000-000000000000}"/>
          </ac:spMkLst>
        </pc:spChg>
        <pc:spChg chg="add del mod">
          <ac:chgData name="Χρήστος Τζώρας" userId="1a71c37f54fe57f8" providerId="LiveId" clId="{519AE172-FC83-418F-BA0B-605FC81D3B0E}" dt="2025-09-25T19:52:27.173" v="3766" actId="478"/>
          <ac:spMkLst>
            <pc:docMk/>
            <pc:sldMk cId="0" sldId="264"/>
            <ac:spMk id="6" creationId="{71A55E1C-0BD6-E51E-DDA4-8044A0254018}"/>
          </ac:spMkLst>
        </pc:spChg>
        <pc:spChg chg="add mod">
          <ac:chgData name="Χρήστος Τζώρας" userId="1a71c37f54fe57f8" providerId="LiveId" clId="{519AE172-FC83-418F-BA0B-605FC81D3B0E}" dt="2025-09-25T20:04:03.940" v="3918" actId="1076"/>
          <ac:spMkLst>
            <pc:docMk/>
            <pc:sldMk cId="0" sldId="264"/>
            <ac:spMk id="8" creationId="{80FDD1D9-0E1E-8EEE-6AB9-E4FF10EDCB9C}"/>
          </ac:spMkLst>
        </pc:spChg>
        <pc:graphicFrameChg chg="add mod modGraphic">
          <ac:chgData name="Χρήστος Τζώρας" userId="1a71c37f54fe57f8" providerId="LiveId" clId="{519AE172-FC83-418F-BA0B-605FC81D3B0E}" dt="2025-09-25T20:01:03.397" v="3906" actId="20577"/>
          <ac:graphicFrameMkLst>
            <pc:docMk/>
            <pc:sldMk cId="0" sldId="264"/>
            <ac:graphicFrameMk id="7" creationId="{3060D97E-06B9-86B4-5434-DBA90A2C07D9}"/>
          </ac:graphicFrameMkLst>
        </pc:graphicFrameChg>
        <pc:picChg chg="add mod">
          <ac:chgData name="Χρήστος Τζώρας" userId="1a71c37f54fe57f8" providerId="LiveId" clId="{519AE172-FC83-418F-BA0B-605FC81D3B0E}" dt="2025-09-22T20:06:31.129" v="645"/>
          <ac:picMkLst>
            <pc:docMk/>
            <pc:sldMk cId="0" sldId="264"/>
            <ac:picMk id="4" creationId="{021C47E5-9B94-6A6A-1713-92E6860953F3}"/>
          </ac:picMkLst>
        </pc:picChg>
      </pc:sldChg>
      <pc:sldChg chg="addSp delSp modSp mod">
        <pc:chgData name="Χρήστος Τζώρας" userId="1a71c37f54fe57f8" providerId="LiveId" clId="{519AE172-FC83-418F-BA0B-605FC81D3B0E}" dt="2025-09-25T19:13:59.360" v="3227" actId="2711"/>
        <pc:sldMkLst>
          <pc:docMk/>
          <pc:sldMk cId="0" sldId="265"/>
        </pc:sldMkLst>
        <pc:spChg chg="mod">
          <ac:chgData name="Χρήστος Τζώρας" userId="1a71c37f54fe57f8" providerId="LiveId" clId="{519AE172-FC83-418F-BA0B-605FC81D3B0E}" dt="2025-09-25T19:13:59.360" v="3227" actId="2711"/>
          <ac:spMkLst>
            <pc:docMk/>
            <pc:sldMk cId="0" sldId="265"/>
            <ac:spMk id="2" creationId="{00000000-0000-0000-0000-000000000000}"/>
          </ac:spMkLst>
        </pc:spChg>
        <pc:spChg chg="del">
          <ac:chgData name="Χρήστος Τζώρας" userId="1a71c37f54fe57f8" providerId="LiveId" clId="{519AE172-FC83-418F-BA0B-605FC81D3B0E}" dt="2025-09-25T19:13:55.846" v="3226" actId="478"/>
          <ac:spMkLst>
            <pc:docMk/>
            <pc:sldMk cId="0" sldId="265"/>
            <ac:spMk id="3" creationId="{00000000-0000-0000-0000-000000000000}"/>
          </ac:spMkLst>
        </pc:spChg>
        <pc:picChg chg="add mod">
          <ac:chgData name="Χρήστος Τζώρας" userId="1a71c37f54fe57f8" providerId="LiveId" clId="{519AE172-FC83-418F-BA0B-605FC81D3B0E}" dt="2025-09-22T20:06:32.232" v="646"/>
          <ac:picMkLst>
            <pc:docMk/>
            <pc:sldMk cId="0" sldId="265"/>
            <ac:picMk id="4" creationId="{A473B697-5C81-6300-3FCD-0B69154F7FAB}"/>
          </ac:picMkLst>
        </pc:picChg>
      </pc:sldChg>
      <pc:sldChg chg="addSp modSp mod">
        <pc:chgData name="Χρήστος Τζώρας" userId="1a71c37f54fe57f8" providerId="LiveId" clId="{519AE172-FC83-418F-BA0B-605FC81D3B0E}" dt="2025-09-25T19:14:12.556" v="3233" actId="14100"/>
        <pc:sldMkLst>
          <pc:docMk/>
          <pc:sldMk cId="0" sldId="266"/>
        </pc:sldMkLst>
        <pc:spChg chg="mod">
          <ac:chgData name="Χρήστος Τζώρας" userId="1a71c37f54fe57f8" providerId="LiveId" clId="{519AE172-FC83-418F-BA0B-605FC81D3B0E}" dt="2025-09-25T19:14:04.272" v="3228" actId="2711"/>
          <ac:spMkLst>
            <pc:docMk/>
            <pc:sldMk cId="0" sldId="266"/>
            <ac:spMk id="2" creationId="{00000000-0000-0000-0000-000000000000}"/>
          </ac:spMkLst>
        </pc:spChg>
        <pc:spChg chg="mod">
          <ac:chgData name="Χρήστος Τζώρας" userId="1a71c37f54fe57f8" providerId="LiveId" clId="{519AE172-FC83-418F-BA0B-605FC81D3B0E}" dt="2025-09-25T19:14:12.556" v="3233" actId="14100"/>
          <ac:spMkLst>
            <pc:docMk/>
            <pc:sldMk cId="0" sldId="266"/>
            <ac:spMk id="3" creationId="{00000000-0000-0000-0000-000000000000}"/>
          </ac:spMkLst>
        </pc:spChg>
        <pc:picChg chg="add mod">
          <ac:chgData name="Χρήστος Τζώρας" userId="1a71c37f54fe57f8" providerId="LiveId" clId="{519AE172-FC83-418F-BA0B-605FC81D3B0E}" dt="2025-09-22T20:06:33.233" v="647"/>
          <ac:picMkLst>
            <pc:docMk/>
            <pc:sldMk cId="0" sldId="266"/>
            <ac:picMk id="4" creationId="{2A5A522D-83A7-FEE4-9163-6F6C754CCAE3}"/>
          </ac:picMkLst>
        </pc:picChg>
      </pc:sldChg>
      <pc:sldChg chg="addSp modSp mod">
        <pc:chgData name="Χρήστος Τζώρας" userId="1a71c37f54fe57f8" providerId="LiveId" clId="{519AE172-FC83-418F-BA0B-605FC81D3B0E}" dt="2025-09-25T19:14:28.375" v="3238" actId="1076"/>
        <pc:sldMkLst>
          <pc:docMk/>
          <pc:sldMk cId="0" sldId="267"/>
        </pc:sldMkLst>
        <pc:spChg chg="mod">
          <ac:chgData name="Χρήστος Τζώρας" userId="1a71c37f54fe57f8" providerId="LiveId" clId="{519AE172-FC83-418F-BA0B-605FC81D3B0E}" dt="2025-09-25T19:14:16.580" v="3234" actId="2711"/>
          <ac:spMkLst>
            <pc:docMk/>
            <pc:sldMk cId="0" sldId="267"/>
            <ac:spMk id="2" creationId="{00000000-0000-0000-0000-000000000000}"/>
          </ac:spMkLst>
        </pc:spChg>
        <pc:spChg chg="mod">
          <ac:chgData name="Χρήστος Τζώρας" userId="1a71c37f54fe57f8" providerId="LiveId" clId="{519AE172-FC83-418F-BA0B-605FC81D3B0E}" dt="2025-09-25T19:14:28.375" v="3238" actId="1076"/>
          <ac:spMkLst>
            <pc:docMk/>
            <pc:sldMk cId="0" sldId="267"/>
            <ac:spMk id="3" creationId="{00000000-0000-0000-0000-000000000000}"/>
          </ac:spMkLst>
        </pc:spChg>
        <pc:picChg chg="add mod">
          <ac:chgData name="Χρήστος Τζώρας" userId="1a71c37f54fe57f8" providerId="LiveId" clId="{519AE172-FC83-418F-BA0B-605FC81D3B0E}" dt="2025-09-22T20:06:35.302" v="648"/>
          <ac:picMkLst>
            <pc:docMk/>
            <pc:sldMk cId="0" sldId="267"/>
            <ac:picMk id="4" creationId="{EFDD8401-B6AF-C281-759E-B04001E6FC11}"/>
          </ac:picMkLst>
        </pc:picChg>
      </pc:sldChg>
      <pc:sldChg chg="modSp add mod">
        <pc:chgData name="Χρήστος Τζώρας" userId="1a71c37f54fe57f8" providerId="LiveId" clId="{519AE172-FC83-418F-BA0B-605FC81D3B0E}" dt="2025-09-25T19:12:19.081" v="3199" actId="2711"/>
        <pc:sldMkLst>
          <pc:docMk/>
          <pc:sldMk cId="2868902791" sldId="268"/>
        </pc:sldMkLst>
        <pc:spChg chg="mod">
          <ac:chgData name="Χρήστος Τζώρας" userId="1a71c37f54fe57f8" providerId="LiveId" clId="{519AE172-FC83-418F-BA0B-605FC81D3B0E}" dt="2025-09-25T19:12:19.081" v="3199" actId="2711"/>
          <ac:spMkLst>
            <pc:docMk/>
            <pc:sldMk cId="2868902791" sldId="268"/>
            <ac:spMk id="2" creationId="{1283101E-D6EC-68AD-F369-1832ADAF7413}"/>
          </ac:spMkLst>
        </pc:spChg>
      </pc:sldChg>
      <pc:sldChg chg="addSp modSp add mod">
        <pc:chgData name="Χρήστος Τζώρας" userId="1a71c37f54fe57f8" providerId="LiveId" clId="{519AE172-FC83-418F-BA0B-605FC81D3B0E}" dt="2025-09-25T19:12:44.124" v="3208" actId="27636"/>
        <pc:sldMkLst>
          <pc:docMk/>
          <pc:sldMk cId="1782244204" sldId="269"/>
        </pc:sldMkLst>
        <pc:spChg chg="mod">
          <ac:chgData name="Χρήστος Τζώρας" userId="1a71c37f54fe57f8" providerId="LiveId" clId="{519AE172-FC83-418F-BA0B-605FC81D3B0E}" dt="2025-09-25T19:12:23.258" v="3200" actId="2711"/>
          <ac:spMkLst>
            <pc:docMk/>
            <pc:sldMk cId="1782244204" sldId="269"/>
            <ac:spMk id="2" creationId="{F57C7E93-B30E-FB54-4C36-9C94F73AE410}"/>
          </ac:spMkLst>
        </pc:spChg>
        <pc:spChg chg="add mod">
          <ac:chgData name="Χρήστος Τζώρας" userId="1a71c37f54fe57f8" providerId="LiveId" clId="{519AE172-FC83-418F-BA0B-605FC81D3B0E}" dt="2025-09-25T19:12:40.791" v="3206" actId="14100"/>
          <ac:spMkLst>
            <pc:docMk/>
            <pc:sldMk cId="1782244204" sldId="269"/>
            <ac:spMk id="3" creationId="{5265F81C-C407-81A0-E16F-A8914912FC6A}"/>
          </ac:spMkLst>
        </pc:spChg>
        <pc:spChg chg="add mod">
          <ac:chgData name="Χρήστος Τζώρας" userId="1a71c37f54fe57f8" providerId="LiveId" clId="{519AE172-FC83-418F-BA0B-605FC81D3B0E}" dt="2025-09-25T19:12:35.218" v="3204" actId="113"/>
          <ac:spMkLst>
            <pc:docMk/>
            <pc:sldMk cId="1782244204" sldId="269"/>
            <ac:spMk id="5" creationId="{2F9145D9-012F-2325-FB4F-52529FFA10D4}"/>
          </ac:spMkLst>
        </pc:spChg>
        <pc:spChg chg="add mod">
          <ac:chgData name="Χρήστος Τζώρας" userId="1a71c37f54fe57f8" providerId="LiveId" clId="{519AE172-FC83-418F-BA0B-605FC81D3B0E}" dt="2025-09-25T19:12:26.202" v="3201" actId="2711"/>
          <ac:spMkLst>
            <pc:docMk/>
            <pc:sldMk cId="1782244204" sldId="269"/>
            <ac:spMk id="6" creationId="{E2C2D4CD-ECD2-D4A8-236E-FA1386FD6E1F}"/>
          </ac:spMkLst>
        </pc:spChg>
        <pc:spChg chg="add mod">
          <ac:chgData name="Χρήστος Τζώρας" userId="1a71c37f54fe57f8" providerId="LiveId" clId="{519AE172-FC83-418F-BA0B-605FC81D3B0E}" dt="2025-09-25T19:12:44.124" v="3208" actId="27636"/>
          <ac:spMkLst>
            <pc:docMk/>
            <pc:sldMk cId="1782244204" sldId="269"/>
            <ac:spMk id="7" creationId="{09F69B38-5AB4-FE77-FF15-95E34A7B0B5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D4C508-60EC-4578-A70B-13CA05C117E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l-GR"/>
        </a:p>
      </dgm:t>
    </dgm:pt>
    <dgm:pt modelId="{5E3FD756-3335-4673-8590-602F86FAC2E2}">
      <dgm:prSet phldrT="[Κείμενο]" phldr="0"/>
      <dgm:spPr/>
      <dgm:t>
        <a:bodyPr/>
        <a:lstStyle/>
        <a:p>
          <a:r>
            <a:rPr lang="en-US" dirty="0"/>
            <a:t>Machine Learning</a:t>
          </a:r>
          <a:endParaRPr lang="el-GR" dirty="0"/>
        </a:p>
      </dgm:t>
    </dgm:pt>
    <dgm:pt modelId="{2AB3D8BB-BFA7-4B5E-836C-10183C6D3F81}" type="parTrans" cxnId="{C925C34E-CE34-4D0A-84AD-059DE1DCFA95}">
      <dgm:prSet/>
      <dgm:spPr/>
      <dgm:t>
        <a:bodyPr/>
        <a:lstStyle/>
        <a:p>
          <a:endParaRPr lang="el-GR"/>
        </a:p>
      </dgm:t>
    </dgm:pt>
    <dgm:pt modelId="{186F97BC-3659-4B43-AFDF-D7BF6FDA003A}" type="sibTrans" cxnId="{C925C34E-CE34-4D0A-84AD-059DE1DCFA95}">
      <dgm:prSet/>
      <dgm:spPr/>
      <dgm:t>
        <a:bodyPr/>
        <a:lstStyle/>
        <a:p>
          <a:endParaRPr lang="el-GR"/>
        </a:p>
      </dgm:t>
    </dgm:pt>
    <dgm:pt modelId="{705EBA78-5112-4159-B9EB-57F1074F675C}">
      <dgm:prSet phldrT="[Κείμενο]"/>
      <dgm:spPr/>
      <dgm:t>
        <a:bodyPr/>
        <a:lstStyle/>
        <a:p>
          <a:pPr>
            <a:buFont typeface="Arial" panose="020B0604020202020204" pitchFamily="34" charset="0"/>
            <a:buChar char="•"/>
          </a:pPr>
          <a:r>
            <a:rPr lang="en-US" b="1" dirty="0">
              <a:latin typeface="Arial" panose="020B0604020202020204" pitchFamily="34" charset="0"/>
              <a:cs typeface="Arial" panose="020B0604020202020204" pitchFamily="34" charset="0"/>
            </a:rPr>
            <a:t>Perez-Rosas et al. (2018) </a:t>
          </a:r>
          <a:r>
            <a:rPr lang="en-US" b="0" dirty="0">
              <a:latin typeface="Arial" panose="020B0604020202020204" pitchFamily="34" charset="0"/>
              <a:cs typeface="Arial" panose="020B0604020202020204" pitchFamily="34" charset="0"/>
            </a:rPr>
            <a:t>– Uses handcrafted linguistic features (n-grams, LIWC, readability) with SVM to classify fake news</a:t>
          </a:r>
          <a:endParaRPr lang="el-GR" dirty="0"/>
        </a:p>
      </dgm:t>
    </dgm:pt>
    <dgm:pt modelId="{D67A5A50-5FE0-4429-A92D-838B1B693021}" type="parTrans" cxnId="{C618A35E-4F7B-4BA4-A412-C0E86525366F}">
      <dgm:prSet/>
      <dgm:spPr/>
      <dgm:t>
        <a:bodyPr/>
        <a:lstStyle/>
        <a:p>
          <a:endParaRPr lang="el-GR"/>
        </a:p>
      </dgm:t>
    </dgm:pt>
    <dgm:pt modelId="{841D7C20-6F30-43D3-B07F-AE24C966B6E4}" type="sibTrans" cxnId="{C618A35E-4F7B-4BA4-A412-C0E86525366F}">
      <dgm:prSet/>
      <dgm:spPr/>
      <dgm:t>
        <a:bodyPr/>
        <a:lstStyle/>
        <a:p>
          <a:endParaRPr lang="el-GR"/>
        </a:p>
      </dgm:t>
    </dgm:pt>
    <dgm:pt modelId="{8EA9E17B-D4D7-4AF6-8995-16B710BC1B91}">
      <dgm:prSet phldrT="[Κείμενο]" phldr="0"/>
      <dgm:spPr/>
      <dgm:t>
        <a:bodyPr/>
        <a:lstStyle/>
        <a:p>
          <a:r>
            <a:rPr lang="en-US" dirty="0"/>
            <a:t>Deep Learning</a:t>
          </a:r>
          <a:endParaRPr lang="el-GR" dirty="0"/>
        </a:p>
      </dgm:t>
    </dgm:pt>
    <dgm:pt modelId="{F346A062-522F-46FB-B2DF-61624CF6F814}" type="parTrans" cxnId="{44623B7F-90D8-486D-A825-C167D55223DD}">
      <dgm:prSet/>
      <dgm:spPr/>
      <dgm:t>
        <a:bodyPr/>
        <a:lstStyle/>
        <a:p>
          <a:endParaRPr lang="el-GR"/>
        </a:p>
      </dgm:t>
    </dgm:pt>
    <dgm:pt modelId="{08518C57-E199-457D-A9E1-FFA5E7656110}" type="sibTrans" cxnId="{44623B7F-90D8-486D-A825-C167D55223DD}">
      <dgm:prSet/>
      <dgm:spPr/>
      <dgm:t>
        <a:bodyPr/>
        <a:lstStyle/>
        <a:p>
          <a:endParaRPr lang="el-GR"/>
        </a:p>
      </dgm:t>
    </dgm:pt>
    <dgm:pt modelId="{065B1062-8A77-4D43-88D2-D191BD68F45C}">
      <dgm:prSet phldrT="[Κείμενο]"/>
      <dgm:spPr/>
      <dgm:t>
        <a:bodyPr/>
        <a:lstStyle/>
        <a:p>
          <a:pPr marL="57150" lvl="1" indent="0" defTabSz="488950">
            <a:lnSpc>
              <a:spcPct val="90000"/>
            </a:lnSpc>
            <a:spcBef>
              <a:spcPct val="0"/>
            </a:spcBef>
            <a:spcAft>
              <a:spcPct val="15000"/>
            </a:spcAft>
            <a:buClrTx/>
            <a:buSzTx/>
            <a:buFont typeface="Arial" panose="020B0604020202020204" pitchFamily="34" charset="0"/>
            <a:buChar char="•"/>
          </a:pPr>
          <a:r>
            <a:rPr lang="en-US" b="1" dirty="0">
              <a:latin typeface="Arial" panose="020B0604020202020204" pitchFamily="34" charset="0"/>
              <a:cs typeface="Arial" panose="020B0604020202020204" pitchFamily="34" charset="0"/>
            </a:rPr>
            <a:t>Monti et al. (2019) </a:t>
          </a:r>
          <a:r>
            <a:rPr lang="en-US" b="0" dirty="0">
              <a:latin typeface="Arial" panose="020B0604020202020204" pitchFamily="34" charset="0"/>
              <a:cs typeface="Arial" panose="020B0604020202020204" pitchFamily="34" charset="0"/>
            </a:rPr>
            <a:t>– Introduces a GCN model to detect fake news using Twitter propagation patterns (cascade structure).</a:t>
          </a:r>
          <a:endParaRPr lang="el-GR" dirty="0"/>
        </a:p>
      </dgm:t>
    </dgm:pt>
    <dgm:pt modelId="{6CEA763C-860C-4532-94EF-6635FDDBC319}" type="parTrans" cxnId="{673216D6-2579-432B-B828-C9B9DCEEF126}">
      <dgm:prSet/>
      <dgm:spPr/>
      <dgm:t>
        <a:bodyPr/>
        <a:lstStyle/>
        <a:p>
          <a:endParaRPr lang="el-GR"/>
        </a:p>
      </dgm:t>
    </dgm:pt>
    <dgm:pt modelId="{2B035E15-AC72-4B11-85BA-6FE48B6D7BB0}" type="sibTrans" cxnId="{673216D6-2579-432B-B828-C9B9DCEEF126}">
      <dgm:prSet/>
      <dgm:spPr/>
      <dgm:t>
        <a:bodyPr/>
        <a:lstStyle/>
        <a:p>
          <a:endParaRPr lang="el-GR"/>
        </a:p>
      </dgm:t>
    </dgm:pt>
    <dgm:pt modelId="{906B5DC7-644D-4E7D-96B3-2E8B0FA16F7D}">
      <dgm:prSet phldrT="[Κείμενο]" phldr="0"/>
      <dgm:spPr/>
      <dgm:t>
        <a:bodyPr/>
        <a:lstStyle/>
        <a:p>
          <a:r>
            <a:rPr lang="en-US" dirty="0"/>
            <a:t>Hybrid</a:t>
          </a:r>
          <a:endParaRPr lang="el-GR" dirty="0"/>
        </a:p>
      </dgm:t>
    </dgm:pt>
    <dgm:pt modelId="{F7EBA617-ABA7-4469-8847-A83C16574833}" type="parTrans" cxnId="{81ABA661-BCB5-4AE7-801D-A2FF84A65121}">
      <dgm:prSet/>
      <dgm:spPr/>
      <dgm:t>
        <a:bodyPr/>
        <a:lstStyle/>
        <a:p>
          <a:endParaRPr lang="el-GR"/>
        </a:p>
      </dgm:t>
    </dgm:pt>
    <dgm:pt modelId="{38DDCA52-44E3-46B7-8082-F3AA2844C13C}" type="sibTrans" cxnId="{81ABA661-BCB5-4AE7-801D-A2FF84A65121}">
      <dgm:prSet/>
      <dgm:spPr/>
      <dgm:t>
        <a:bodyPr/>
        <a:lstStyle/>
        <a:p>
          <a:endParaRPr lang="el-GR"/>
        </a:p>
      </dgm:t>
    </dgm:pt>
    <dgm:pt modelId="{697AC86D-A814-4EE1-892C-F7EAFB126360}">
      <dgm:prSet phldrT="[Κείμενο]"/>
      <dgm:spPr/>
      <dgm:t>
        <a:bodyPr/>
        <a:lstStyle/>
        <a:p>
          <a:pPr>
            <a:buFont typeface="Arial" panose="020B0604020202020204" pitchFamily="34" charset="0"/>
            <a:buChar char="•"/>
          </a:pPr>
          <a:r>
            <a:rPr lang="en-US" b="1" dirty="0" err="1">
              <a:latin typeface="Arial" panose="020B0604020202020204" pitchFamily="34" charset="0"/>
              <a:cs typeface="Arial" panose="020B0604020202020204" pitchFamily="34" charset="0"/>
            </a:rPr>
            <a:t>Ruchansky</a:t>
          </a:r>
          <a:r>
            <a:rPr lang="en-US" b="1" dirty="0">
              <a:latin typeface="Arial" panose="020B0604020202020204" pitchFamily="34" charset="0"/>
              <a:cs typeface="Arial" panose="020B0604020202020204" pitchFamily="34" charset="0"/>
            </a:rPr>
            <a:t> et al. (2017) </a:t>
          </a:r>
          <a:r>
            <a:rPr lang="en-US" b="0" dirty="0">
              <a:latin typeface="Arial" panose="020B0604020202020204" pitchFamily="34" charset="0"/>
              <a:cs typeface="Arial" panose="020B0604020202020204" pitchFamily="34" charset="0"/>
            </a:rPr>
            <a:t>– CSI model combining content (LSTM), user behavior scoring, and integration for classification.</a:t>
          </a:r>
          <a:endParaRPr lang="el-GR" dirty="0"/>
        </a:p>
      </dgm:t>
    </dgm:pt>
    <dgm:pt modelId="{5747C73F-B757-4E2D-8A2C-12A8E46694BF}" type="parTrans" cxnId="{F7A1AD5E-052B-4DD6-B964-AFDDCE65C8C2}">
      <dgm:prSet/>
      <dgm:spPr/>
      <dgm:t>
        <a:bodyPr/>
        <a:lstStyle/>
        <a:p>
          <a:endParaRPr lang="el-GR"/>
        </a:p>
      </dgm:t>
    </dgm:pt>
    <dgm:pt modelId="{53A050B0-F581-4FE8-87C6-8C9CC1292D1B}" type="sibTrans" cxnId="{F7A1AD5E-052B-4DD6-B964-AFDDCE65C8C2}">
      <dgm:prSet/>
      <dgm:spPr/>
      <dgm:t>
        <a:bodyPr/>
        <a:lstStyle/>
        <a:p>
          <a:endParaRPr lang="el-GR"/>
        </a:p>
      </dgm:t>
    </dgm:pt>
    <dgm:pt modelId="{1F705BBB-8805-4C7D-8DFD-40594BE46EE7}">
      <dgm:prSet/>
      <dgm:spPr/>
      <dgm:t>
        <a:bodyPr/>
        <a:lstStyle/>
        <a:p>
          <a:endParaRPr lang="el-GR" b="0" dirty="0">
            <a:latin typeface="Arial" panose="020B0604020202020204" pitchFamily="34" charset="0"/>
            <a:cs typeface="Arial" panose="020B0604020202020204" pitchFamily="34" charset="0"/>
          </a:endParaRPr>
        </a:p>
      </dgm:t>
    </dgm:pt>
    <dgm:pt modelId="{DE8ADAC9-1AF5-4ABA-9CCE-2BCBC84633AD}" type="parTrans" cxnId="{A06DB3B2-2246-4E87-970B-FAAAA6DD471F}">
      <dgm:prSet/>
      <dgm:spPr/>
      <dgm:t>
        <a:bodyPr/>
        <a:lstStyle/>
        <a:p>
          <a:endParaRPr lang="el-GR"/>
        </a:p>
      </dgm:t>
    </dgm:pt>
    <dgm:pt modelId="{7EA29273-4857-4071-BFA6-0752EBEEBF22}" type="sibTrans" cxnId="{A06DB3B2-2246-4E87-970B-FAAAA6DD471F}">
      <dgm:prSet/>
      <dgm:spPr/>
      <dgm:t>
        <a:bodyPr/>
        <a:lstStyle/>
        <a:p>
          <a:endParaRPr lang="el-GR"/>
        </a:p>
      </dgm:t>
    </dgm:pt>
    <dgm:pt modelId="{6B9CEF04-B05E-48F9-BB1F-872B50E9D81D}">
      <dgm:prSet/>
      <dgm:spPr/>
      <dgm:t>
        <a:bodyPr/>
        <a:lstStyle/>
        <a:p>
          <a:endParaRPr lang="el-GR" b="0" dirty="0">
            <a:latin typeface="Arial" panose="020B0604020202020204" pitchFamily="34" charset="0"/>
            <a:cs typeface="Arial" panose="020B0604020202020204" pitchFamily="34" charset="0"/>
          </a:endParaRPr>
        </a:p>
      </dgm:t>
    </dgm:pt>
    <dgm:pt modelId="{94245382-20F0-46E0-8E79-4517C1F51BDD}" type="parTrans" cxnId="{FC96B4CA-636E-4FFC-B01D-CEA3EC2B9CF8}">
      <dgm:prSet/>
      <dgm:spPr/>
      <dgm:t>
        <a:bodyPr/>
        <a:lstStyle/>
        <a:p>
          <a:endParaRPr lang="el-GR"/>
        </a:p>
      </dgm:t>
    </dgm:pt>
    <dgm:pt modelId="{C4D360E2-8431-4632-A5AD-86F89DC49838}" type="sibTrans" cxnId="{FC96B4CA-636E-4FFC-B01D-CEA3EC2B9CF8}">
      <dgm:prSet/>
      <dgm:spPr/>
      <dgm:t>
        <a:bodyPr/>
        <a:lstStyle/>
        <a:p>
          <a:endParaRPr lang="el-GR"/>
        </a:p>
      </dgm:t>
    </dgm:pt>
    <dgm:pt modelId="{6A64E9F8-47C2-46F7-BAED-1E6D458BA22C}">
      <dgm:prSet/>
      <dgm:spPr/>
      <dgm:t>
        <a:bodyPr/>
        <a:lstStyle/>
        <a:p>
          <a:r>
            <a:rPr lang="en-US" b="1" dirty="0" err="1">
              <a:latin typeface="Arial" panose="020B0604020202020204" pitchFamily="34" charset="0"/>
              <a:cs typeface="Arial" panose="020B0604020202020204" pitchFamily="34" charset="0"/>
            </a:rPr>
            <a:t>Tacchini</a:t>
          </a:r>
          <a:r>
            <a:rPr lang="en-US" b="1" dirty="0">
              <a:latin typeface="Arial" panose="020B0604020202020204" pitchFamily="34" charset="0"/>
              <a:cs typeface="Arial" panose="020B0604020202020204" pitchFamily="34" charset="0"/>
            </a:rPr>
            <a:t> et al. (2017)</a:t>
          </a:r>
          <a:r>
            <a:rPr lang="en-US" dirty="0">
              <a:latin typeface="Arial" panose="020B0604020202020204" pitchFamily="34" charset="0"/>
              <a:cs typeface="Arial" panose="020B0604020202020204" pitchFamily="34" charset="0"/>
            </a:rPr>
            <a:t>– Applies logistic regression and graph-based label propagation using Facebook user interactions.</a:t>
          </a:r>
          <a:endParaRPr lang="el-GR" dirty="0">
            <a:latin typeface="Arial" panose="020B0604020202020204" pitchFamily="34" charset="0"/>
            <a:cs typeface="Arial" panose="020B0604020202020204" pitchFamily="34" charset="0"/>
          </a:endParaRPr>
        </a:p>
      </dgm:t>
    </dgm:pt>
    <dgm:pt modelId="{CC2BF055-8081-40EC-987E-078FC63DF92C}" type="parTrans" cxnId="{D3929266-F408-40EC-8807-BE244E7A7BDC}">
      <dgm:prSet/>
      <dgm:spPr/>
      <dgm:t>
        <a:bodyPr/>
        <a:lstStyle/>
        <a:p>
          <a:endParaRPr lang="el-GR"/>
        </a:p>
      </dgm:t>
    </dgm:pt>
    <dgm:pt modelId="{37E08EF5-8A33-4622-BB66-A104D1101295}" type="sibTrans" cxnId="{D3929266-F408-40EC-8807-BE244E7A7BDC}">
      <dgm:prSet/>
      <dgm:spPr/>
      <dgm:t>
        <a:bodyPr/>
        <a:lstStyle/>
        <a:p>
          <a:endParaRPr lang="el-GR"/>
        </a:p>
      </dgm:t>
    </dgm:pt>
    <dgm:pt modelId="{2E87F7BB-85C9-4A8A-BE75-93F80B68D4A4}">
      <dgm:prSet/>
      <dgm:spPr/>
      <dgm:t>
        <a:bodyPr/>
        <a:lstStyle/>
        <a:p>
          <a:endParaRPr lang="el-GR" dirty="0">
            <a:latin typeface="Arial" panose="020B0604020202020204" pitchFamily="34" charset="0"/>
            <a:cs typeface="Arial" panose="020B0604020202020204" pitchFamily="34" charset="0"/>
          </a:endParaRPr>
        </a:p>
      </dgm:t>
    </dgm:pt>
    <dgm:pt modelId="{5A6CA3F4-DDFF-4172-BCE6-2AFF5462CFDC}" type="parTrans" cxnId="{E48392CE-151F-40E9-8ABB-F3BD391015B9}">
      <dgm:prSet/>
      <dgm:spPr/>
      <dgm:t>
        <a:bodyPr/>
        <a:lstStyle/>
        <a:p>
          <a:endParaRPr lang="el-GR"/>
        </a:p>
      </dgm:t>
    </dgm:pt>
    <dgm:pt modelId="{DE0A59E4-EBF7-4DC9-864F-32CB4D07955F}" type="sibTrans" cxnId="{E48392CE-151F-40E9-8ABB-F3BD391015B9}">
      <dgm:prSet/>
      <dgm:spPr/>
      <dgm:t>
        <a:bodyPr/>
        <a:lstStyle/>
        <a:p>
          <a:endParaRPr lang="el-GR"/>
        </a:p>
      </dgm:t>
    </dgm:pt>
    <dgm:pt modelId="{A0D93A45-D75A-41FE-A556-34B9774C68E2}">
      <dgm:prSet/>
      <dgm:spPr/>
      <dgm:t>
        <a:bodyPr/>
        <a:lstStyle/>
        <a:p>
          <a:endParaRPr lang="el-GR" dirty="0">
            <a:latin typeface="Arial" panose="020B0604020202020204" pitchFamily="34" charset="0"/>
            <a:cs typeface="Arial" panose="020B0604020202020204" pitchFamily="34" charset="0"/>
          </a:endParaRPr>
        </a:p>
      </dgm:t>
    </dgm:pt>
    <dgm:pt modelId="{98BB3BA7-7572-4173-B6A7-4DED41DDB2F6}" type="parTrans" cxnId="{DC7DA9B9-97B7-4B2F-A781-774AE189F3ED}">
      <dgm:prSet/>
      <dgm:spPr/>
      <dgm:t>
        <a:bodyPr/>
        <a:lstStyle/>
        <a:p>
          <a:endParaRPr lang="el-GR"/>
        </a:p>
      </dgm:t>
    </dgm:pt>
    <dgm:pt modelId="{6EBF57FF-6C5A-4373-AA87-20D160CB6904}" type="sibTrans" cxnId="{DC7DA9B9-97B7-4B2F-A781-774AE189F3ED}">
      <dgm:prSet/>
      <dgm:spPr/>
      <dgm:t>
        <a:bodyPr/>
        <a:lstStyle/>
        <a:p>
          <a:endParaRPr lang="el-GR"/>
        </a:p>
      </dgm:t>
    </dgm:pt>
    <dgm:pt modelId="{208EF4D1-986E-446C-8FE1-1DEC2227F5BF}">
      <dgm:prSet/>
      <dgm:spPr/>
      <dgm:t>
        <a:bodyPr/>
        <a:lstStyle/>
        <a:p>
          <a:r>
            <a:rPr lang="en-US" b="1" dirty="0">
              <a:latin typeface="Arial" panose="020B0604020202020204" pitchFamily="34" charset="0"/>
              <a:cs typeface="Arial" panose="020B0604020202020204" pitchFamily="34" charset="0"/>
            </a:rPr>
            <a:t>Wang (2017)</a:t>
          </a:r>
          <a:r>
            <a:rPr lang="en-US" dirty="0">
              <a:latin typeface="Arial" panose="020B0604020202020204" pitchFamily="34" charset="0"/>
              <a:cs typeface="Arial" panose="020B0604020202020204" pitchFamily="34" charset="0"/>
            </a:rPr>
            <a:t>– Uses TF-IDF and metadata with Logistic Regression and SVM for short statement classification.</a:t>
          </a:r>
          <a:endParaRPr lang="el-GR" dirty="0">
            <a:latin typeface="Arial" panose="020B0604020202020204" pitchFamily="34" charset="0"/>
            <a:cs typeface="Arial" panose="020B0604020202020204" pitchFamily="34" charset="0"/>
          </a:endParaRPr>
        </a:p>
      </dgm:t>
    </dgm:pt>
    <dgm:pt modelId="{9C1B3F5B-F1F4-4024-A4B6-B2AE834956F0}" type="parTrans" cxnId="{5326FAC5-5B80-4B45-AD6F-C10845709958}">
      <dgm:prSet/>
      <dgm:spPr/>
      <dgm:t>
        <a:bodyPr/>
        <a:lstStyle/>
        <a:p>
          <a:endParaRPr lang="el-GR"/>
        </a:p>
      </dgm:t>
    </dgm:pt>
    <dgm:pt modelId="{E130E47B-BED9-4535-A3A3-28DB382BD06D}" type="sibTrans" cxnId="{5326FAC5-5B80-4B45-AD6F-C10845709958}">
      <dgm:prSet/>
      <dgm:spPr/>
      <dgm:t>
        <a:bodyPr/>
        <a:lstStyle/>
        <a:p>
          <a:endParaRPr lang="el-GR"/>
        </a:p>
      </dgm:t>
    </dgm:pt>
    <dgm:pt modelId="{2063F90E-1639-4621-8FC6-9F5547265DA2}">
      <dgm:prSet/>
      <dgm:spPr/>
      <dgm:t>
        <a:bodyPr/>
        <a:lstStyle/>
        <a:p>
          <a:endParaRPr lang="el-GR" b="0" dirty="0">
            <a:latin typeface="Arial" panose="020B0604020202020204" pitchFamily="34" charset="0"/>
            <a:cs typeface="Arial" panose="020B0604020202020204" pitchFamily="34" charset="0"/>
          </a:endParaRPr>
        </a:p>
      </dgm:t>
    </dgm:pt>
    <dgm:pt modelId="{0228E00B-4422-48A6-A669-23A292CFF398}" type="parTrans" cxnId="{5FB2DC7C-873C-4161-B2E6-E84B653A537B}">
      <dgm:prSet/>
      <dgm:spPr/>
      <dgm:t>
        <a:bodyPr/>
        <a:lstStyle/>
        <a:p>
          <a:endParaRPr lang="el-GR"/>
        </a:p>
      </dgm:t>
    </dgm:pt>
    <dgm:pt modelId="{68D54577-1AB8-4586-9187-2A6ED2468FF2}" type="sibTrans" cxnId="{5FB2DC7C-873C-4161-B2E6-E84B653A537B}">
      <dgm:prSet/>
      <dgm:spPr/>
      <dgm:t>
        <a:bodyPr/>
        <a:lstStyle/>
        <a:p>
          <a:endParaRPr lang="el-GR"/>
        </a:p>
      </dgm:t>
    </dgm:pt>
    <dgm:pt modelId="{46C3E143-E0A2-4CED-AC65-0CC340C6685C}">
      <dgm:prSet/>
      <dgm:spPr/>
      <dgm:t>
        <a:bodyPr/>
        <a:lstStyle/>
        <a:p>
          <a:r>
            <a:rPr lang="en-US" b="1" dirty="0">
              <a:latin typeface="Arial" panose="020B0604020202020204" pitchFamily="34" charset="0"/>
              <a:cs typeface="Arial" panose="020B0604020202020204" pitchFamily="34" charset="0"/>
            </a:rPr>
            <a:t>Shu et al. (2019) </a:t>
          </a:r>
          <a:r>
            <a:rPr lang="en-US" b="0" dirty="0">
              <a:latin typeface="Arial" panose="020B0604020202020204" pitchFamily="34" charset="0"/>
              <a:cs typeface="Arial" panose="020B0604020202020204" pitchFamily="34" charset="0"/>
            </a:rPr>
            <a:t>– </a:t>
          </a:r>
          <a:r>
            <a:rPr lang="en-US" b="0" dirty="0" err="1">
              <a:latin typeface="Arial" panose="020B0604020202020204" pitchFamily="34" charset="0"/>
              <a:cs typeface="Arial" panose="020B0604020202020204" pitchFamily="34" charset="0"/>
            </a:rPr>
            <a:t>TriFN</a:t>
          </a:r>
          <a:r>
            <a:rPr lang="en-US" b="0" dirty="0">
              <a:latin typeface="Arial" panose="020B0604020202020204" pitchFamily="34" charset="0"/>
              <a:cs typeface="Arial" panose="020B0604020202020204" pitchFamily="34" charset="0"/>
            </a:rPr>
            <a:t> uses embeddings for content, user interactions, and publisher bias in a unified model.</a:t>
          </a:r>
          <a:endParaRPr lang="el-GR" b="0" dirty="0">
            <a:latin typeface="Arial" panose="020B0604020202020204" pitchFamily="34" charset="0"/>
            <a:cs typeface="Arial" panose="020B0604020202020204" pitchFamily="34" charset="0"/>
          </a:endParaRPr>
        </a:p>
      </dgm:t>
    </dgm:pt>
    <dgm:pt modelId="{BEDA499D-D442-4BDF-AF30-117F13E448E2}" type="parTrans" cxnId="{CA9DB8F6-4B8D-4535-B371-8330301993F6}">
      <dgm:prSet/>
      <dgm:spPr/>
      <dgm:t>
        <a:bodyPr/>
        <a:lstStyle/>
        <a:p>
          <a:endParaRPr lang="el-GR"/>
        </a:p>
      </dgm:t>
    </dgm:pt>
    <dgm:pt modelId="{01A01AEA-2A9D-41B4-9E65-D19CC1A61816}" type="sibTrans" cxnId="{CA9DB8F6-4B8D-4535-B371-8330301993F6}">
      <dgm:prSet/>
      <dgm:spPr/>
      <dgm:t>
        <a:bodyPr/>
        <a:lstStyle/>
        <a:p>
          <a:endParaRPr lang="el-GR"/>
        </a:p>
      </dgm:t>
    </dgm:pt>
    <dgm:pt modelId="{BB6F50B3-5F61-4D52-9E8D-B3142421C95D}">
      <dgm:prSet/>
      <dgm:spPr/>
      <dgm:t>
        <a:bodyPr/>
        <a:lstStyle/>
        <a:p>
          <a:endParaRPr lang="el-GR" dirty="0">
            <a:latin typeface="Arial" panose="020B0604020202020204" pitchFamily="34" charset="0"/>
            <a:cs typeface="Arial" panose="020B0604020202020204" pitchFamily="34" charset="0"/>
          </a:endParaRPr>
        </a:p>
      </dgm:t>
    </dgm:pt>
    <dgm:pt modelId="{179CDB27-C760-4D39-AE66-177F55660D82}" type="parTrans" cxnId="{B0F5FFD3-AD02-4271-A4DF-4856701F17B1}">
      <dgm:prSet/>
      <dgm:spPr/>
      <dgm:t>
        <a:bodyPr/>
        <a:lstStyle/>
        <a:p>
          <a:endParaRPr lang="el-GR"/>
        </a:p>
      </dgm:t>
    </dgm:pt>
    <dgm:pt modelId="{6B1A5E05-8C33-4BB8-A5CC-16A52CB62847}" type="sibTrans" cxnId="{B0F5FFD3-AD02-4271-A4DF-4856701F17B1}">
      <dgm:prSet/>
      <dgm:spPr/>
      <dgm:t>
        <a:bodyPr/>
        <a:lstStyle/>
        <a:p>
          <a:endParaRPr lang="el-GR"/>
        </a:p>
      </dgm:t>
    </dgm:pt>
    <dgm:pt modelId="{0829E3A8-E0E6-4799-ADA9-783F74E8F13D}">
      <dgm:prSet/>
      <dgm:spPr/>
      <dgm:t>
        <a:bodyPr/>
        <a:lstStyle/>
        <a:p>
          <a:pPr marL="57150" lvl="1" indent="0" defTabSz="488950">
            <a:lnSpc>
              <a:spcPct val="90000"/>
            </a:lnSpc>
            <a:spcBef>
              <a:spcPct val="0"/>
            </a:spcBef>
            <a:spcAft>
              <a:spcPct val="15000"/>
            </a:spcAft>
            <a:buFont typeface="Arial" panose="020B0604020202020204" pitchFamily="34" charset="0"/>
            <a:buChar char="•"/>
          </a:pPr>
          <a:r>
            <a:rPr lang="en-US" b="1" dirty="0">
              <a:latin typeface="Arial" panose="020B0604020202020204" pitchFamily="34" charset="0"/>
              <a:cs typeface="Arial" panose="020B0604020202020204" pitchFamily="34" charset="0"/>
            </a:rPr>
            <a:t>Qi et al. (2019) – </a:t>
          </a:r>
          <a:r>
            <a:rPr lang="en-US" b="0" dirty="0">
              <a:latin typeface="Arial" panose="020B0604020202020204" pitchFamily="34" charset="0"/>
              <a:cs typeface="Arial" panose="020B0604020202020204" pitchFamily="34" charset="0"/>
            </a:rPr>
            <a:t>Uses visual features with multi-domain CNN for detecting image-based misinformation.</a:t>
          </a:r>
          <a:endParaRPr lang="el-GR" b="0" dirty="0">
            <a:latin typeface="Arial" panose="020B0604020202020204" pitchFamily="34" charset="0"/>
            <a:cs typeface="Arial" panose="020B0604020202020204" pitchFamily="34" charset="0"/>
          </a:endParaRPr>
        </a:p>
      </dgm:t>
    </dgm:pt>
    <dgm:pt modelId="{D7793296-F2D5-4EC8-98BE-1CA55369C3BC}" type="parTrans" cxnId="{18439EB5-4000-464F-8DBC-49959C85152F}">
      <dgm:prSet/>
      <dgm:spPr/>
      <dgm:t>
        <a:bodyPr/>
        <a:lstStyle/>
        <a:p>
          <a:endParaRPr lang="el-GR"/>
        </a:p>
      </dgm:t>
    </dgm:pt>
    <dgm:pt modelId="{1CDC2854-382F-4658-B4A7-93DB102EFDEC}" type="sibTrans" cxnId="{18439EB5-4000-464F-8DBC-49959C85152F}">
      <dgm:prSet/>
      <dgm:spPr/>
      <dgm:t>
        <a:bodyPr/>
        <a:lstStyle/>
        <a:p>
          <a:endParaRPr lang="el-GR"/>
        </a:p>
      </dgm:t>
    </dgm:pt>
    <dgm:pt modelId="{8D189ED4-5B4B-4CED-AEE1-671D53DAB845}">
      <dgm:prSet phldrT="[Κείμενο]"/>
      <dgm:spPr/>
      <dgm:t>
        <a:bodyPr/>
        <a:lstStyle/>
        <a:p>
          <a:pPr marL="57150" lvl="1" indent="0" defTabSz="488950">
            <a:lnSpc>
              <a:spcPct val="90000"/>
            </a:lnSpc>
            <a:spcBef>
              <a:spcPct val="0"/>
            </a:spcBef>
            <a:spcAft>
              <a:spcPct val="15000"/>
            </a:spcAft>
            <a:buFont typeface="Arial" panose="020B0604020202020204" pitchFamily="34" charset="0"/>
            <a:buChar char="•"/>
          </a:pPr>
          <a:endParaRPr lang="el-GR" dirty="0"/>
        </a:p>
      </dgm:t>
    </dgm:pt>
    <dgm:pt modelId="{D0256285-9755-48E8-9A3E-4DD97689BBEE}" type="parTrans" cxnId="{3A8CF737-EFAF-4512-953B-5F1EFC361548}">
      <dgm:prSet/>
      <dgm:spPr/>
      <dgm:t>
        <a:bodyPr/>
        <a:lstStyle/>
        <a:p>
          <a:endParaRPr lang="el-GR"/>
        </a:p>
      </dgm:t>
    </dgm:pt>
    <dgm:pt modelId="{1DFD90DB-B68A-4271-8DB1-01A26A781951}" type="sibTrans" cxnId="{3A8CF737-EFAF-4512-953B-5F1EFC361548}">
      <dgm:prSet/>
      <dgm:spPr/>
      <dgm:t>
        <a:bodyPr/>
        <a:lstStyle/>
        <a:p>
          <a:endParaRPr lang="el-GR"/>
        </a:p>
      </dgm:t>
    </dgm:pt>
    <dgm:pt modelId="{CF23DE37-5AF2-4ECF-A8A4-A83933FA39D0}">
      <dgm:prSet phldrT="[Κείμενο]"/>
      <dgm:spPr/>
      <dgm:t>
        <a:bodyPr/>
        <a:lstStyle/>
        <a:p>
          <a:pPr marL="57150" lvl="1" indent="0" defTabSz="488950">
            <a:lnSpc>
              <a:spcPct val="90000"/>
            </a:lnSpc>
            <a:spcBef>
              <a:spcPct val="0"/>
            </a:spcBef>
            <a:spcAft>
              <a:spcPct val="15000"/>
            </a:spcAft>
            <a:buFont typeface="Arial" panose="020B0604020202020204" pitchFamily="34" charset="0"/>
            <a:buChar char="•"/>
          </a:pPr>
          <a:r>
            <a:rPr lang="en-US" b="1" dirty="0">
              <a:latin typeface="Arial" panose="020B0604020202020204" pitchFamily="34" charset="0"/>
              <a:cs typeface="Arial" panose="020B0604020202020204" pitchFamily="34" charset="0"/>
            </a:rPr>
            <a:t>Wang (2017) </a:t>
          </a:r>
          <a:r>
            <a:rPr lang="en-US" b="0" dirty="0">
              <a:latin typeface="Arial" panose="020B0604020202020204" pitchFamily="34" charset="0"/>
              <a:cs typeface="Arial" panose="020B0604020202020204" pitchFamily="34" charset="0"/>
            </a:rPr>
            <a:t>– Proposes CNN model using metadata and text for fake news detection on the LIAR dataset.</a:t>
          </a:r>
          <a:endParaRPr lang="el-GR" dirty="0"/>
        </a:p>
      </dgm:t>
    </dgm:pt>
    <dgm:pt modelId="{B85015D6-0FC2-4284-A200-6E0E5559D4B8}" type="parTrans" cxnId="{AFAD3B2A-10A6-4777-A840-5886F37B78E1}">
      <dgm:prSet/>
      <dgm:spPr/>
      <dgm:t>
        <a:bodyPr/>
        <a:lstStyle/>
        <a:p>
          <a:endParaRPr lang="el-GR"/>
        </a:p>
      </dgm:t>
    </dgm:pt>
    <dgm:pt modelId="{BA10F345-BF06-43C0-B507-6912764160D1}" type="sibTrans" cxnId="{AFAD3B2A-10A6-4777-A840-5886F37B78E1}">
      <dgm:prSet/>
      <dgm:spPr/>
      <dgm:t>
        <a:bodyPr/>
        <a:lstStyle/>
        <a:p>
          <a:endParaRPr lang="el-GR"/>
        </a:p>
      </dgm:t>
    </dgm:pt>
    <dgm:pt modelId="{DDEC591A-1532-4CD3-BC1E-0411E46F7B1B}">
      <dgm:prSet phldrT="[Κείμενο]"/>
      <dgm:spPr/>
      <dgm:t>
        <a:bodyPr/>
        <a:lstStyle/>
        <a:p>
          <a:pPr marL="57150" lvl="1" indent="0" defTabSz="488950">
            <a:lnSpc>
              <a:spcPct val="90000"/>
            </a:lnSpc>
            <a:spcBef>
              <a:spcPct val="0"/>
            </a:spcBef>
            <a:spcAft>
              <a:spcPct val="15000"/>
            </a:spcAft>
            <a:buFont typeface="Arial" panose="020B0604020202020204" pitchFamily="34" charset="0"/>
            <a:buChar char="•"/>
          </a:pPr>
          <a:endParaRPr lang="el-GR" dirty="0"/>
        </a:p>
      </dgm:t>
    </dgm:pt>
    <dgm:pt modelId="{37F9D3AE-A9BA-4249-9864-B26B97828F11}" type="parTrans" cxnId="{FE87A839-EB52-40ED-BA36-B99B38E3F2DB}">
      <dgm:prSet/>
      <dgm:spPr/>
      <dgm:t>
        <a:bodyPr/>
        <a:lstStyle/>
        <a:p>
          <a:endParaRPr lang="el-GR"/>
        </a:p>
      </dgm:t>
    </dgm:pt>
    <dgm:pt modelId="{4EE69D68-49FD-46C5-A592-C818B85F12B2}" type="sibTrans" cxnId="{FE87A839-EB52-40ED-BA36-B99B38E3F2DB}">
      <dgm:prSet/>
      <dgm:spPr/>
      <dgm:t>
        <a:bodyPr/>
        <a:lstStyle/>
        <a:p>
          <a:endParaRPr lang="el-GR"/>
        </a:p>
      </dgm:t>
    </dgm:pt>
    <dgm:pt modelId="{1E55CB54-262B-4F0C-94F8-97D12C102C7E}">
      <dgm:prSet phldrT="[Κείμενο]"/>
      <dgm:spPr/>
      <dgm:t>
        <a:bodyPr/>
        <a:lstStyle/>
        <a:p>
          <a:pPr marL="57150" lvl="1" indent="0" defTabSz="488950">
            <a:lnSpc>
              <a:spcPct val="90000"/>
            </a:lnSpc>
            <a:spcBef>
              <a:spcPct val="0"/>
            </a:spcBef>
            <a:spcAft>
              <a:spcPct val="15000"/>
            </a:spcAft>
            <a:buFont typeface="Arial" panose="020B0604020202020204" pitchFamily="34" charset="0"/>
            <a:buChar char="•"/>
          </a:pPr>
          <a:endParaRPr lang="el-GR" dirty="0"/>
        </a:p>
      </dgm:t>
    </dgm:pt>
    <dgm:pt modelId="{90D997D8-4FDE-4F85-B87C-951B109892B9}" type="parTrans" cxnId="{A98A51AB-5C30-4590-82AA-80D6B4088366}">
      <dgm:prSet/>
      <dgm:spPr/>
      <dgm:t>
        <a:bodyPr/>
        <a:lstStyle/>
        <a:p>
          <a:endParaRPr lang="el-GR"/>
        </a:p>
      </dgm:t>
    </dgm:pt>
    <dgm:pt modelId="{EC590861-9793-4EB1-95FF-7802245D2667}" type="sibTrans" cxnId="{A98A51AB-5C30-4590-82AA-80D6B4088366}">
      <dgm:prSet/>
      <dgm:spPr/>
      <dgm:t>
        <a:bodyPr/>
        <a:lstStyle/>
        <a:p>
          <a:endParaRPr lang="el-GR"/>
        </a:p>
      </dgm:t>
    </dgm:pt>
    <dgm:pt modelId="{A6FE18A7-473F-46F4-AB79-F2E0AF176EF0}">
      <dgm:prSet phldrT="[Κείμενο]"/>
      <dgm:spPr/>
      <dgm:t>
        <a:bodyPr/>
        <a:lstStyle/>
        <a:p>
          <a:pPr marL="57150" lvl="1" indent="0" defTabSz="488950">
            <a:lnSpc>
              <a:spcPct val="90000"/>
            </a:lnSpc>
            <a:spcBef>
              <a:spcPct val="0"/>
            </a:spcBef>
            <a:spcAft>
              <a:spcPct val="15000"/>
            </a:spcAft>
            <a:buFont typeface="Arial" panose="020B0604020202020204" pitchFamily="34" charset="0"/>
            <a:buChar char="•"/>
          </a:pPr>
          <a:endParaRPr lang="el-GR" dirty="0"/>
        </a:p>
      </dgm:t>
    </dgm:pt>
    <dgm:pt modelId="{42D4BCD3-FF7E-4593-8712-7247735C720A}" type="parTrans" cxnId="{C705BBB2-AE04-4C81-8550-CA09C40BF531}">
      <dgm:prSet/>
      <dgm:spPr/>
      <dgm:t>
        <a:bodyPr/>
        <a:lstStyle/>
        <a:p>
          <a:endParaRPr lang="el-GR"/>
        </a:p>
      </dgm:t>
    </dgm:pt>
    <dgm:pt modelId="{56B6461C-D373-47E3-8F2D-BD2304C19C9E}" type="sibTrans" cxnId="{C705BBB2-AE04-4C81-8550-CA09C40BF531}">
      <dgm:prSet/>
      <dgm:spPr/>
      <dgm:t>
        <a:bodyPr/>
        <a:lstStyle/>
        <a:p>
          <a:endParaRPr lang="el-GR"/>
        </a:p>
      </dgm:t>
    </dgm:pt>
    <dgm:pt modelId="{54CF9A70-EAC8-46A1-8BED-CC36DED73B45}">
      <dgm:prSet/>
      <dgm:spPr/>
      <dgm:t>
        <a:bodyPr/>
        <a:lstStyle/>
        <a:p>
          <a:endParaRPr lang="el-GR" b="0" dirty="0">
            <a:latin typeface="Arial" panose="020B0604020202020204" pitchFamily="34" charset="0"/>
            <a:cs typeface="Arial" panose="020B0604020202020204" pitchFamily="34" charset="0"/>
          </a:endParaRPr>
        </a:p>
      </dgm:t>
    </dgm:pt>
    <dgm:pt modelId="{59E3C3F5-1BFD-4767-97C9-FC74B583C1B1}" type="parTrans" cxnId="{A6E695F5-015C-450B-83E1-C8C59FF8C6FD}">
      <dgm:prSet/>
      <dgm:spPr/>
      <dgm:t>
        <a:bodyPr/>
        <a:lstStyle/>
        <a:p>
          <a:endParaRPr lang="el-GR"/>
        </a:p>
      </dgm:t>
    </dgm:pt>
    <dgm:pt modelId="{2D55C2D3-4739-468A-97D9-F8B07428747D}" type="sibTrans" cxnId="{A6E695F5-015C-450B-83E1-C8C59FF8C6FD}">
      <dgm:prSet/>
      <dgm:spPr/>
      <dgm:t>
        <a:bodyPr/>
        <a:lstStyle/>
        <a:p>
          <a:endParaRPr lang="el-GR"/>
        </a:p>
      </dgm:t>
    </dgm:pt>
    <dgm:pt modelId="{1666928E-BF09-44D8-9901-337BCCFE4344}">
      <dgm:prSet/>
      <dgm:spPr/>
      <dgm:t>
        <a:bodyPr/>
        <a:lstStyle/>
        <a:p>
          <a:r>
            <a:rPr lang="en-US" b="1" dirty="0">
              <a:latin typeface="Arial" panose="020B0604020202020204" pitchFamily="34" charset="0"/>
              <a:cs typeface="Arial" panose="020B0604020202020204" pitchFamily="34" charset="0"/>
            </a:rPr>
            <a:t>Wu et al. (2019) </a:t>
          </a:r>
          <a:r>
            <a:rPr lang="en-US" dirty="0">
              <a:latin typeface="Arial" panose="020B0604020202020204" pitchFamily="34" charset="0"/>
              <a:cs typeface="Arial" panose="020B0604020202020204" pitchFamily="34" charset="0"/>
            </a:rPr>
            <a:t>– Combines RCNN for semantics and Bi-LSTM for emotional features in multi-class fake news detection.</a:t>
          </a:r>
          <a:endParaRPr lang="el-GR" dirty="0">
            <a:latin typeface="Arial" panose="020B0604020202020204" pitchFamily="34" charset="0"/>
            <a:cs typeface="Arial" panose="020B0604020202020204" pitchFamily="34" charset="0"/>
          </a:endParaRPr>
        </a:p>
      </dgm:t>
    </dgm:pt>
    <dgm:pt modelId="{A2B59E9E-B7BA-45C1-B34D-617251722830}" type="parTrans" cxnId="{4A2F3CF8-9A15-4966-8611-2908B5F3F516}">
      <dgm:prSet/>
      <dgm:spPr/>
      <dgm:t>
        <a:bodyPr/>
        <a:lstStyle/>
        <a:p>
          <a:endParaRPr lang="el-GR"/>
        </a:p>
      </dgm:t>
    </dgm:pt>
    <dgm:pt modelId="{EDF51F18-2075-4981-B2BF-38CBA64624A5}" type="sibTrans" cxnId="{4A2F3CF8-9A15-4966-8611-2908B5F3F516}">
      <dgm:prSet/>
      <dgm:spPr/>
      <dgm:t>
        <a:bodyPr/>
        <a:lstStyle/>
        <a:p>
          <a:endParaRPr lang="el-GR"/>
        </a:p>
      </dgm:t>
    </dgm:pt>
    <dgm:pt modelId="{E566A7D7-7B6B-4422-A61D-F4C4928E389F}">
      <dgm:prSet/>
      <dgm:spPr/>
      <dgm:t>
        <a:bodyPr/>
        <a:lstStyle/>
        <a:p>
          <a:endParaRPr lang="el-GR" dirty="0">
            <a:latin typeface="Arial" panose="020B0604020202020204" pitchFamily="34" charset="0"/>
            <a:cs typeface="Arial" panose="020B0604020202020204" pitchFamily="34" charset="0"/>
          </a:endParaRPr>
        </a:p>
      </dgm:t>
    </dgm:pt>
    <dgm:pt modelId="{5F748F4F-A3D5-4E10-A761-4A5AD41947E1}" type="parTrans" cxnId="{DF2791E9-CBC5-42EC-8EFA-9A7926C070FA}">
      <dgm:prSet/>
      <dgm:spPr/>
      <dgm:t>
        <a:bodyPr/>
        <a:lstStyle/>
        <a:p>
          <a:endParaRPr lang="el-GR"/>
        </a:p>
      </dgm:t>
    </dgm:pt>
    <dgm:pt modelId="{F6110803-B938-4E20-8FCC-B572614F9A39}" type="sibTrans" cxnId="{DF2791E9-CBC5-42EC-8EFA-9A7926C070FA}">
      <dgm:prSet/>
      <dgm:spPr/>
      <dgm:t>
        <a:bodyPr/>
        <a:lstStyle/>
        <a:p>
          <a:endParaRPr lang="el-GR"/>
        </a:p>
      </dgm:t>
    </dgm:pt>
    <dgm:pt modelId="{F28BF73E-3363-4538-B340-BFE9FC8AF393}" type="pres">
      <dgm:prSet presAssocID="{C2D4C508-60EC-4578-A70B-13CA05C117E0}" presName="Name0" presStyleCnt="0">
        <dgm:presLayoutVars>
          <dgm:dir/>
          <dgm:animLvl val="lvl"/>
          <dgm:resizeHandles val="exact"/>
        </dgm:presLayoutVars>
      </dgm:prSet>
      <dgm:spPr/>
    </dgm:pt>
    <dgm:pt modelId="{1701000E-996C-445A-8F48-D15360F8FCC5}" type="pres">
      <dgm:prSet presAssocID="{5E3FD756-3335-4673-8590-602F86FAC2E2}" presName="composite" presStyleCnt="0"/>
      <dgm:spPr/>
    </dgm:pt>
    <dgm:pt modelId="{D632C224-4E29-4DE5-9C38-574D4682627A}" type="pres">
      <dgm:prSet presAssocID="{5E3FD756-3335-4673-8590-602F86FAC2E2}" presName="parTx" presStyleLbl="alignNode1" presStyleIdx="0" presStyleCnt="3">
        <dgm:presLayoutVars>
          <dgm:chMax val="0"/>
          <dgm:chPref val="0"/>
          <dgm:bulletEnabled val="1"/>
        </dgm:presLayoutVars>
      </dgm:prSet>
      <dgm:spPr/>
    </dgm:pt>
    <dgm:pt modelId="{6E998D1F-2550-4175-9DCA-FCCB04D7BE42}" type="pres">
      <dgm:prSet presAssocID="{5E3FD756-3335-4673-8590-602F86FAC2E2}" presName="desTx" presStyleLbl="alignAccFollowNode1" presStyleIdx="0" presStyleCnt="3">
        <dgm:presLayoutVars>
          <dgm:bulletEnabled val="1"/>
        </dgm:presLayoutVars>
      </dgm:prSet>
      <dgm:spPr/>
    </dgm:pt>
    <dgm:pt modelId="{F7B8A0FC-AEB3-4E47-BE62-255D06F8EB14}" type="pres">
      <dgm:prSet presAssocID="{186F97BC-3659-4B43-AFDF-D7BF6FDA003A}" presName="space" presStyleCnt="0"/>
      <dgm:spPr/>
    </dgm:pt>
    <dgm:pt modelId="{04E08F12-339F-41EC-B1A0-B1322B7D5AC2}" type="pres">
      <dgm:prSet presAssocID="{8EA9E17B-D4D7-4AF6-8995-16B710BC1B91}" presName="composite" presStyleCnt="0"/>
      <dgm:spPr/>
    </dgm:pt>
    <dgm:pt modelId="{9ED19492-E5CC-494F-8129-1B555DA0C60B}" type="pres">
      <dgm:prSet presAssocID="{8EA9E17B-D4D7-4AF6-8995-16B710BC1B91}" presName="parTx" presStyleLbl="alignNode1" presStyleIdx="1" presStyleCnt="3">
        <dgm:presLayoutVars>
          <dgm:chMax val="0"/>
          <dgm:chPref val="0"/>
          <dgm:bulletEnabled val="1"/>
        </dgm:presLayoutVars>
      </dgm:prSet>
      <dgm:spPr/>
    </dgm:pt>
    <dgm:pt modelId="{3B9F5790-9455-4F41-8333-C95F6262772E}" type="pres">
      <dgm:prSet presAssocID="{8EA9E17B-D4D7-4AF6-8995-16B710BC1B91}" presName="desTx" presStyleLbl="alignAccFollowNode1" presStyleIdx="1" presStyleCnt="3" custLinFactNeighborY="287">
        <dgm:presLayoutVars>
          <dgm:bulletEnabled val="1"/>
        </dgm:presLayoutVars>
      </dgm:prSet>
      <dgm:spPr/>
    </dgm:pt>
    <dgm:pt modelId="{6F1B8276-37E5-4CA4-8E37-13C31F531FED}" type="pres">
      <dgm:prSet presAssocID="{08518C57-E199-457D-A9E1-FFA5E7656110}" presName="space" presStyleCnt="0"/>
      <dgm:spPr/>
    </dgm:pt>
    <dgm:pt modelId="{2F99031A-72A9-4AEB-8356-5C9D5AAAAEEF}" type="pres">
      <dgm:prSet presAssocID="{906B5DC7-644D-4E7D-96B3-2E8B0FA16F7D}" presName="composite" presStyleCnt="0"/>
      <dgm:spPr/>
    </dgm:pt>
    <dgm:pt modelId="{8B2260B8-D27B-46F8-B5ED-4FAF34913834}" type="pres">
      <dgm:prSet presAssocID="{906B5DC7-644D-4E7D-96B3-2E8B0FA16F7D}" presName="parTx" presStyleLbl="alignNode1" presStyleIdx="2" presStyleCnt="3">
        <dgm:presLayoutVars>
          <dgm:chMax val="0"/>
          <dgm:chPref val="0"/>
          <dgm:bulletEnabled val="1"/>
        </dgm:presLayoutVars>
      </dgm:prSet>
      <dgm:spPr/>
    </dgm:pt>
    <dgm:pt modelId="{BE474E1B-6EFE-4A74-81C6-17E44841F3D6}" type="pres">
      <dgm:prSet presAssocID="{906B5DC7-644D-4E7D-96B3-2E8B0FA16F7D}" presName="desTx" presStyleLbl="alignAccFollowNode1" presStyleIdx="2" presStyleCnt="3">
        <dgm:presLayoutVars>
          <dgm:bulletEnabled val="1"/>
        </dgm:presLayoutVars>
      </dgm:prSet>
      <dgm:spPr/>
    </dgm:pt>
  </dgm:ptLst>
  <dgm:cxnLst>
    <dgm:cxn modelId="{E6572212-D62A-4A7E-9540-69ECD3B0B2A9}" type="presOf" srcId="{6B9CEF04-B05E-48F9-BB1F-872B50E9D81D}" destId="{6E998D1F-2550-4175-9DCA-FCCB04D7BE42}" srcOrd="0" destOrd="2" presId="urn:microsoft.com/office/officeart/2005/8/layout/hList1"/>
    <dgm:cxn modelId="{8C823422-5633-46AC-AF1F-77C5383C91BE}" type="presOf" srcId="{46C3E143-E0A2-4CED-AC65-0CC340C6685C}" destId="{BE474E1B-6EFE-4A74-81C6-17E44841F3D6}" srcOrd="0" destOrd="3" presId="urn:microsoft.com/office/officeart/2005/8/layout/hList1"/>
    <dgm:cxn modelId="{1BF3D426-1245-436E-8420-52B2F2E2D535}" type="presOf" srcId="{E566A7D7-7B6B-4422-A61D-F4C4928E389F}" destId="{BE474E1B-6EFE-4A74-81C6-17E44841F3D6}" srcOrd="0" destOrd="5" presId="urn:microsoft.com/office/officeart/2005/8/layout/hList1"/>
    <dgm:cxn modelId="{AFAD3B2A-10A6-4777-A840-5886F37B78E1}" srcId="{8EA9E17B-D4D7-4AF6-8995-16B710BC1B91}" destId="{CF23DE37-5AF2-4ECF-A8A4-A83933FA39D0}" srcOrd="3" destOrd="0" parTransId="{B85015D6-0FC2-4284-A200-6E0E5559D4B8}" sibTransId="{BA10F345-BF06-43C0-B507-6912764160D1}"/>
    <dgm:cxn modelId="{3A8CF737-EFAF-4512-953B-5F1EFC361548}" srcId="{8EA9E17B-D4D7-4AF6-8995-16B710BC1B91}" destId="{8D189ED4-5B4B-4CED-AEE1-671D53DAB845}" srcOrd="1" destOrd="0" parTransId="{D0256285-9755-48E8-9A3E-4DD97689BBEE}" sibTransId="{1DFD90DB-B68A-4271-8DB1-01A26A781951}"/>
    <dgm:cxn modelId="{FE87A839-EB52-40ED-BA36-B99B38E3F2DB}" srcId="{8EA9E17B-D4D7-4AF6-8995-16B710BC1B91}" destId="{DDEC591A-1532-4CD3-BC1E-0411E46F7B1B}" srcOrd="2" destOrd="0" parTransId="{37F9D3AE-A9BA-4249-9864-B26B97828F11}" sibTransId="{4EE69D68-49FD-46C5-A592-C818B85F12B2}"/>
    <dgm:cxn modelId="{0911483E-4D17-4C84-90AE-09B537386B3F}" type="presOf" srcId="{1666928E-BF09-44D8-9901-337BCCFE4344}" destId="{BE474E1B-6EFE-4A74-81C6-17E44841F3D6}" srcOrd="0" destOrd="6" presId="urn:microsoft.com/office/officeart/2005/8/layout/hList1"/>
    <dgm:cxn modelId="{2893DC40-D8E7-4614-8411-E0FD77DC41B1}" type="presOf" srcId="{DDEC591A-1532-4CD3-BC1E-0411E46F7B1B}" destId="{3B9F5790-9455-4F41-8333-C95F6262772E}" srcOrd="0" destOrd="2" presId="urn:microsoft.com/office/officeart/2005/8/layout/hList1"/>
    <dgm:cxn modelId="{C618A35E-4F7B-4BA4-A412-C0E86525366F}" srcId="{5E3FD756-3335-4673-8590-602F86FAC2E2}" destId="{705EBA78-5112-4159-B9EB-57F1074F675C}" srcOrd="0" destOrd="0" parTransId="{D67A5A50-5FE0-4429-A92D-838B1B693021}" sibTransId="{841D7C20-6F30-43D3-B07F-AE24C966B6E4}"/>
    <dgm:cxn modelId="{F7A1AD5E-052B-4DD6-B964-AFDDCE65C8C2}" srcId="{906B5DC7-644D-4E7D-96B3-2E8B0FA16F7D}" destId="{697AC86D-A814-4EE1-892C-F7EAFB126360}" srcOrd="0" destOrd="0" parTransId="{5747C73F-B757-4E2D-8A2C-12A8E46694BF}" sibTransId="{53A050B0-F581-4FE8-87C6-8C9CC1292D1B}"/>
    <dgm:cxn modelId="{81ABA661-BCB5-4AE7-801D-A2FF84A65121}" srcId="{C2D4C508-60EC-4578-A70B-13CA05C117E0}" destId="{906B5DC7-644D-4E7D-96B3-2E8B0FA16F7D}" srcOrd="2" destOrd="0" parTransId="{F7EBA617-ABA7-4469-8847-A83C16574833}" sibTransId="{38DDCA52-44E3-46B7-8082-F3AA2844C13C}"/>
    <dgm:cxn modelId="{29DCCE41-2587-442B-81C0-A46F9C392225}" type="presOf" srcId="{5E3FD756-3335-4673-8590-602F86FAC2E2}" destId="{D632C224-4E29-4DE5-9C38-574D4682627A}" srcOrd="0" destOrd="0" presId="urn:microsoft.com/office/officeart/2005/8/layout/hList1"/>
    <dgm:cxn modelId="{B4471942-48D7-4E96-8030-A86CC872F76A}" type="presOf" srcId="{065B1062-8A77-4D43-88D2-D191BD68F45C}" destId="{3B9F5790-9455-4F41-8333-C95F6262772E}" srcOrd="0" destOrd="0" presId="urn:microsoft.com/office/officeart/2005/8/layout/hList1"/>
    <dgm:cxn modelId="{7AF94F45-F1A2-40E4-83B0-75E24BF5EEF8}" type="presOf" srcId="{2E87F7BB-85C9-4A8A-BE75-93F80B68D4A4}" destId="{6E998D1F-2550-4175-9DCA-FCCB04D7BE42}" srcOrd="0" destOrd="4" presId="urn:microsoft.com/office/officeart/2005/8/layout/hList1"/>
    <dgm:cxn modelId="{D3929266-F408-40EC-8807-BE244E7A7BDC}" srcId="{5E3FD756-3335-4673-8590-602F86FAC2E2}" destId="{6A64E9F8-47C2-46F7-BAED-1E6D458BA22C}" srcOrd="3" destOrd="0" parTransId="{CC2BF055-8081-40EC-987E-078FC63DF92C}" sibTransId="{37E08EF5-8A33-4622-BB66-A104D1101295}"/>
    <dgm:cxn modelId="{6DFC1767-B5C3-4732-8900-E0A64D60AB65}" type="presOf" srcId="{697AC86D-A814-4EE1-892C-F7EAFB126360}" destId="{BE474E1B-6EFE-4A74-81C6-17E44841F3D6}" srcOrd="0" destOrd="0" presId="urn:microsoft.com/office/officeart/2005/8/layout/hList1"/>
    <dgm:cxn modelId="{D63F5A48-9C1E-4176-952E-3852F5A5E537}" type="presOf" srcId="{1E55CB54-262B-4F0C-94F8-97D12C102C7E}" destId="{3B9F5790-9455-4F41-8333-C95F6262772E}" srcOrd="0" destOrd="4" presId="urn:microsoft.com/office/officeart/2005/8/layout/hList1"/>
    <dgm:cxn modelId="{4188904C-C065-4E07-9BAF-C89149292DE6}" type="presOf" srcId="{906B5DC7-644D-4E7D-96B3-2E8B0FA16F7D}" destId="{8B2260B8-D27B-46F8-B5ED-4FAF34913834}" srcOrd="0" destOrd="0" presId="urn:microsoft.com/office/officeart/2005/8/layout/hList1"/>
    <dgm:cxn modelId="{C925C34E-CE34-4D0A-84AD-059DE1DCFA95}" srcId="{C2D4C508-60EC-4578-A70B-13CA05C117E0}" destId="{5E3FD756-3335-4673-8590-602F86FAC2E2}" srcOrd="0" destOrd="0" parTransId="{2AB3D8BB-BFA7-4B5E-836C-10183C6D3F81}" sibTransId="{186F97BC-3659-4B43-AFDF-D7BF6FDA003A}"/>
    <dgm:cxn modelId="{724B444F-1132-4193-9983-CFEDEC7B0B9E}" type="presOf" srcId="{A0D93A45-D75A-41FE-A556-34B9774C68E2}" destId="{6E998D1F-2550-4175-9DCA-FCCB04D7BE42}" srcOrd="0" destOrd="5" presId="urn:microsoft.com/office/officeart/2005/8/layout/hList1"/>
    <dgm:cxn modelId="{D4E8BB5A-841F-4794-9BCD-007511D0DCF9}" type="presOf" srcId="{2063F90E-1639-4621-8FC6-9F5547265DA2}" destId="{BE474E1B-6EFE-4A74-81C6-17E44841F3D6}" srcOrd="0" destOrd="1" presId="urn:microsoft.com/office/officeart/2005/8/layout/hList1"/>
    <dgm:cxn modelId="{5FB2DC7C-873C-4161-B2E6-E84B653A537B}" srcId="{906B5DC7-644D-4E7D-96B3-2E8B0FA16F7D}" destId="{2063F90E-1639-4621-8FC6-9F5547265DA2}" srcOrd="1" destOrd="0" parTransId="{0228E00B-4422-48A6-A669-23A292CFF398}" sibTransId="{68D54577-1AB8-4586-9187-2A6ED2468FF2}"/>
    <dgm:cxn modelId="{A27A3C7E-74C9-487F-8A57-421973E3887D}" type="presOf" srcId="{1F705BBB-8805-4C7D-8DFD-40594BE46EE7}" destId="{6E998D1F-2550-4175-9DCA-FCCB04D7BE42}" srcOrd="0" destOrd="1" presId="urn:microsoft.com/office/officeart/2005/8/layout/hList1"/>
    <dgm:cxn modelId="{44623B7F-90D8-486D-A825-C167D55223DD}" srcId="{C2D4C508-60EC-4578-A70B-13CA05C117E0}" destId="{8EA9E17B-D4D7-4AF6-8995-16B710BC1B91}" srcOrd="1" destOrd="0" parTransId="{F346A062-522F-46FB-B2DF-61624CF6F814}" sibTransId="{08518C57-E199-457D-A9E1-FFA5E7656110}"/>
    <dgm:cxn modelId="{FC60D586-8E10-43EF-A19F-CD7A44ABD7AB}" type="presOf" srcId="{6A64E9F8-47C2-46F7-BAED-1E6D458BA22C}" destId="{6E998D1F-2550-4175-9DCA-FCCB04D7BE42}" srcOrd="0" destOrd="3" presId="urn:microsoft.com/office/officeart/2005/8/layout/hList1"/>
    <dgm:cxn modelId="{3EDE4392-A449-4A5A-B299-B727C225F6E3}" type="presOf" srcId="{CF23DE37-5AF2-4ECF-A8A4-A83933FA39D0}" destId="{3B9F5790-9455-4F41-8333-C95F6262772E}" srcOrd="0" destOrd="3" presId="urn:microsoft.com/office/officeart/2005/8/layout/hList1"/>
    <dgm:cxn modelId="{08D16299-7A60-4558-A365-1E84E2765B97}" type="presOf" srcId="{54CF9A70-EAC8-46A1-8BED-CC36DED73B45}" destId="{BE474E1B-6EFE-4A74-81C6-17E44841F3D6}" srcOrd="0" destOrd="2" presId="urn:microsoft.com/office/officeart/2005/8/layout/hList1"/>
    <dgm:cxn modelId="{FCBEDD9A-A53B-4C6E-8410-A006C3CD00CD}" type="presOf" srcId="{705EBA78-5112-4159-B9EB-57F1074F675C}" destId="{6E998D1F-2550-4175-9DCA-FCCB04D7BE42}" srcOrd="0" destOrd="0" presId="urn:microsoft.com/office/officeart/2005/8/layout/hList1"/>
    <dgm:cxn modelId="{A98A51AB-5C30-4590-82AA-80D6B4088366}" srcId="{8EA9E17B-D4D7-4AF6-8995-16B710BC1B91}" destId="{1E55CB54-262B-4F0C-94F8-97D12C102C7E}" srcOrd="4" destOrd="0" parTransId="{90D997D8-4FDE-4F85-B87C-951B109892B9}" sibTransId="{EC590861-9793-4EB1-95FF-7802245D2667}"/>
    <dgm:cxn modelId="{BE628FB1-0661-49EC-B062-FBFB364E3F82}" type="presOf" srcId="{0829E3A8-E0E6-4799-ADA9-783F74E8F13D}" destId="{3B9F5790-9455-4F41-8333-C95F6262772E}" srcOrd="0" destOrd="6" presId="urn:microsoft.com/office/officeart/2005/8/layout/hList1"/>
    <dgm:cxn modelId="{A06DB3B2-2246-4E87-970B-FAAAA6DD471F}" srcId="{5E3FD756-3335-4673-8590-602F86FAC2E2}" destId="{1F705BBB-8805-4C7D-8DFD-40594BE46EE7}" srcOrd="1" destOrd="0" parTransId="{DE8ADAC9-1AF5-4ABA-9CCE-2BCBC84633AD}" sibTransId="{7EA29273-4857-4071-BFA6-0752EBEEBF22}"/>
    <dgm:cxn modelId="{C705BBB2-AE04-4C81-8550-CA09C40BF531}" srcId="{8EA9E17B-D4D7-4AF6-8995-16B710BC1B91}" destId="{A6FE18A7-473F-46F4-AB79-F2E0AF176EF0}" srcOrd="5" destOrd="0" parTransId="{42D4BCD3-FF7E-4593-8712-7247735C720A}" sibTransId="{56B6461C-D373-47E3-8F2D-BD2304C19C9E}"/>
    <dgm:cxn modelId="{18439EB5-4000-464F-8DBC-49959C85152F}" srcId="{8EA9E17B-D4D7-4AF6-8995-16B710BC1B91}" destId="{0829E3A8-E0E6-4799-ADA9-783F74E8F13D}" srcOrd="6" destOrd="0" parTransId="{D7793296-F2D5-4EC8-98BE-1CA55369C3BC}" sibTransId="{1CDC2854-382F-4658-B4A7-93DB102EFDEC}"/>
    <dgm:cxn modelId="{DC984CB7-7203-4236-87D4-E73B6E065967}" type="presOf" srcId="{A6FE18A7-473F-46F4-AB79-F2E0AF176EF0}" destId="{3B9F5790-9455-4F41-8333-C95F6262772E}" srcOrd="0" destOrd="5" presId="urn:microsoft.com/office/officeart/2005/8/layout/hList1"/>
    <dgm:cxn modelId="{DC7DA9B9-97B7-4B2F-A781-774AE189F3ED}" srcId="{5E3FD756-3335-4673-8590-602F86FAC2E2}" destId="{A0D93A45-D75A-41FE-A556-34B9774C68E2}" srcOrd="5" destOrd="0" parTransId="{98BB3BA7-7572-4173-B6A7-4DED41DDB2F6}" sibTransId="{6EBF57FF-6C5A-4373-AA87-20D160CB6904}"/>
    <dgm:cxn modelId="{2F91E1C3-D9B3-4293-88D1-502F30C6BF29}" type="presOf" srcId="{C2D4C508-60EC-4578-A70B-13CA05C117E0}" destId="{F28BF73E-3363-4538-B340-BFE9FC8AF393}" srcOrd="0" destOrd="0" presId="urn:microsoft.com/office/officeart/2005/8/layout/hList1"/>
    <dgm:cxn modelId="{5326FAC5-5B80-4B45-AD6F-C10845709958}" srcId="{5E3FD756-3335-4673-8590-602F86FAC2E2}" destId="{208EF4D1-986E-446C-8FE1-1DEC2227F5BF}" srcOrd="6" destOrd="0" parTransId="{9C1B3F5B-F1F4-4024-A4B6-B2AE834956F0}" sibTransId="{E130E47B-BED9-4535-A3A3-28DB382BD06D}"/>
    <dgm:cxn modelId="{FC96B4CA-636E-4FFC-B01D-CEA3EC2B9CF8}" srcId="{5E3FD756-3335-4673-8590-602F86FAC2E2}" destId="{6B9CEF04-B05E-48F9-BB1F-872B50E9D81D}" srcOrd="2" destOrd="0" parTransId="{94245382-20F0-46E0-8E79-4517C1F51BDD}" sibTransId="{C4D360E2-8431-4632-A5AD-86F89DC49838}"/>
    <dgm:cxn modelId="{E48392CE-151F-40E9-8ABB-F3BD391015B9}" srcId="{5E3FD756-3335-4673-8590-602F86FAC2E2}" destId="{2E87F7BB-85C9-4A8A-BE75-93F80B68D4A4}" srcOrd="4" destOrd="0" parTransId="{5A6CA3F4-DDFF-4172-BCE6-2AFF5462CFDC}" sibTransId="{DE0A59E4-EBF7-4DC9-864F-32CB4D07955F}"/>
    <dgm:cxn modelId="{B0F5FFD3-AD02-4271-A4DF-4856701F17B1}" srcId="{906B5DC7-644D-4E7D-96B3-2E8B0FA16F7D}" destId="{BB6F50B3-5F61-4D52-9E8D-B3142421C95D}" srcOrd="4" destOrd="0" parTransId="{179CDB27-C760-4D39-AE66-177F55660D82}" sibTransId="{6B1A5E05-8C33-4BB8-A5CC-16A52CB62847}"/>
    <dgm:cxn modelId="{673216D6-2579-432B-B828-C9B9DCEEF126}" srcId="{8EA9E17B-D4D7-4AF6-8995-16B710BC1B91}" destId="{065B1062-8A77-4D43-88D2-D191BD68F45C}" srcOrd="0" destOrd="0" parTransId="{6CEA763C-860C-4532-94EF-6635FDDBC319}" sibTransId="{2B035E15-AC72-4B11-85BA-6FE48B6D7BB0}"/>
    <dgm:cxn modelId="{A637BFE1-359F-479A-BA7F-E6BC1FF16FBF}" type="presOf" srcId="{208EF4D1-986E-446C-8FE1-1DEC2227F5BF}" destId="{6E998D1F-2550-4175-9DCA-FCCB04D7BE42}" srcOrd="0" destOrd="6" presId="urn:microsoft.com/office/officeart/2005/8/layout/hList1"/>
    <dgm:cxn modelId="{92D000E7-A0C4-4F58-8DAB-2C3F614DAC89}" type="presOf" srcId="{8EA9E17B-D4D7-4AF6-8995-16B710BC1B91}" destId="{9ED19492-E5CC-494F-8129-1B555DA0C60B}" srcOrd="0" destOrd="0" presId="urn:microsoft.com/office/officeart/2005/8/layout/hList1"/>
    <dgm:cxn modelId="{7D8990E9-3D20-4A14-8C59-40A77C9EE42F}" type="presOf" srcId="{8D189ED4-5B4B-4CED-AEE1-671D53DAB845}" destId="{3B9F5790-9455-4F41-8333-C95F6262772E}" srcOrd="0" destOrd="1" presId="urn:microsoft.com/office/officeart/2005/8/layout/hList1"/>
    <dgm:cxn modelId="{DF2791E9-CBC5-42EC-8EFA-9A7926C070FA}" srcId="{906B5DC7-644D-4E7D-96B3-2E8B0FA16F7D}" destId="{E566A7D7-7B6B-4422-A61D-F4C4928E389F}" srcOrd="5" destOrd="0" parTransId="{5F748F4F-A3D5-4E10-A761-4A5AD41947E1}" sibTransId="{F6110803-B938-4E20-8FCC-B572614F9A39}"/>
    <dgm:cxn modelId="{A6E695F5-015C-450B-83E1-C8C59FF8C6FD}" srcId="{906B5DC7-644D-4E7D-96B3-2E8B0FA16F7D}" destId="{54CF9A70-EAC8-46A1-8BED-CC36DED73B45}" srcOrd="2" destOrd="0" parTransId="{59E3C3F5-1BFD-4767-97C9-FC74B583C1B1}" sibTransId="{2D55C2D3-4739-468A-97D9-F8B07428747D}"/>
    <dgm:cxn modelId="{CA9DB8F6-4B8D-4535-B371-8330301993F6}" srcId="{906B5DC7-644D-4E7D-96B3-2E8B0FA16F7D}" destId="{46C3E143-E0A2-4CED-AC65-0CC340C6685C}" srcOrd="3" destOrd="0" parTransId="{BEDA499D-D442-4BDF-AF30-117F13E448E2}" sibTransId="{01A01AEA-2A9D-41B4-9E65-D19CC1A61816}"/>
    <dgm:cxn modelId="{4A2F3CF8-9A15-4966-8611-2908B5F3F516}" srcId="{906B5DC7-644D-4E7D-96B3-2E8B0FA16F7D}" destId="{1666928E-BF09-44D8-9901-337BCCFE4344}" srcOrd="6" destOrd="0" parTransId="{A2B59E9E-B7BA-45C1-B34D-617251722830}" sibTransId="{EDF51F18-2075-4981-B2BF-38CBA64624A5}"/>
    <dgm:cxn modelId="{786693FF-FC53-48B4-8E55-79CD2200593D}" type="presOf" srcId="{BB6F50B3-5F61-4D52-9E8D-B3142421C95D}" destId="{BE474E1B-6EFE-4A74-81C6-17E44841F3D6}" srcOrd="0" destOrd="4" presId="urn:microsoft.com/office/officeart/2005/8/layout/hList1"/>
    <dgm:cxn modelId="{5BF0FB5E-81EE-43B6-A24E-64FECD773CE5}" type="presParOf" srcId="{F28BF73E-3363-4538-B340-BFE9FC8AF393}" destId="{1701000E-996C-445A-8F48-D15360F8FCC5}" srcOrd="0" destOrd="0" presId="urn:microsoft.com/office/officeart/2005/8/layout/hList1"/>
    <dgm:cxn modelId="{92ABBF97-AEAD-4499-8CBE-2D08BA1F7484}" type="presParOf" srcId="{1701000E-996C-445A-8F48-D15360F8FCC5}" destId="{D632C224-4E29-4DE5-9C38-574D4682627A}" srcOrd="0" destOrd="0" presId="urn:microsoft.com/office/officeart/2005/8/layout/hList1"/>
    <dgm:cxn modelId="{5C7E3B88-AEAF-42D8-9550-D32C309397EE}" type="presParOf" srcId="{1701000E-996C-445A-8F48-D15360F8FCC5}" destId="{6E998D1F-2550-4175-9DCA-FCCB04D7BE42}" srcOrd="1" destOrd="0" presId="urn:microsoft.com/office/officeart/2005/8/layout/hList1"/>
    <dgm:cxn modelId="{EB74FADF-3B64-41BF-B443-27642A2F1791}" type="presParOf" srcId="{F28BF73E-3363-4538-B340-BFE9FC8AF393}" destId="{F7B8A0FC-AEB3-4E47-BE62-255D06F8EB14}" srcOrd="1" destOrd="0" presId="urn:microsoft.com/office/officeart/2005/8/layout/hList1"/>
    <dgm:cxn modelId="{3C8A790B-C6B5-44E8-8BDB-F35963B2A02D}" type="presParOf" srcId="{F28BF73E-3363-4538-B340-BFE9FC8AF393}" destId="{04E08F12-339F-41EC-B1A0-B1322B7D5AC2}" srcOrd="2" destOrd="0" presId="urn:microsoft.com/office/officeart/2005/8/layout/hList1"/>
    <dgm:cxn modelId="{4879F9FA-F5BA-4CA1-9683-CE6E99079FBC}" type="presParOf" srcId="{04E08F12-339F-41EC-B1A0-B1322B7D5AC2}" destId="{9ED19492-E5CC-494F-8129-1B555DA0C60B}" srcOrd="0" destOrd="0" presId="urn:microsoft.com/office/officeart/2005/8/layout/hList1"/>
    <dgm:cxn modelId="{3178A360-ABD7-4083-BB5C-2CCA2018F8FF}" type="presParOf" srcId="{04E08F12-339F-41EC-B1A0-B1322B7D5AC2}" destId="{3B9F5790-9455-4F41-8333-C95F6262772E}" srcOrd="1" destOrd="0" presId="urn:microsoft.com/office/officeart/2005/8/layout/hList1"/>
    <dgm:cxn modelId="{2EB2FF72-ADED-482E-8E94-941F71CF53B0}" type="presParOf" srcId="{F28BF73E-3363-4538-B340-BFE9FC8AF393}" destId="{6F1B8276-37E5-4CA4-8E37-13C31F531FED}" srcOrd="3" destOrd="0" presId="urn:microsoft.com/office/officeart/2005/8/layout/hList1"/>
    <dgm:cxn modelId="{F3B9D816-8578-48A4-84CF-BCE207ED9C50}" type="presParOf" srcId="{F28BF73E-3363-4538-B340-BFE9FC8AF393}" destId="{2F99031A-72A9-4AEB-8356-5C9D5AAAAEEF}" srcOrd="4" destOrd="0" presId="urn:microsoft.com/office/officeart/2005/8/layout/hList1"/>
    <dgm:cxn modelId="{0BF71096-ABC8-413F-91B9-1FD37FEA74EF}" type="presParOf" srcId="{2F99031A-72A9-4AEB-8356-5C9D5AAAAEEF}" destId="{8B2260B8-D27B-46F8-B5ED-4FAF34913834}" srcOrd="0" destOrd="0" presId="urn:microsoft.com/office/officeart/2005/8/layout/hList1"/>
    <dgm:cxn modelId="{589E14A0-4A50-48B4-8BE0-F67637A3011F}" type="presParOf" srcId="{2F99031A-72A9-4AEB-8356-5C9D5AAAAEEF}" destId="{BE474E1B-6EFE-4A74-81C6-17E44841F3D6}"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32C224-4E29-4DE5-9C38-574D4682627A}">
      <dsp:nvSpPr>
        <dsp:cNvPr id="0" name=""/>
        <dsp:cNvSpPr/>
      </dsp:nvSpPr>
      <dsp:spPr>
        <a:xfrm>
          <a:off x="1905" y="182680"/>
          <a:ext cx="1857374" cy="316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dirty="0"/>
            <a:t>Machine Learning</a:t>
          </a:r>
          <a:endParaRPr lang="el-GR" sz="1100" kern="1200" dirty="0"/>
        </a:p>
      </dsp:txBody>
      <dsp:txXfrm>
        <a:off x="1905" y="182680"/>
        <a:ext cx="1857374" cy="316800"/>
      </dsp:txXfrm>
    </dsp:sp>
    <dsp:sp modelId="{6E998D1F-2550-4175-9DCA-FCCB04D7BE42}">
      <dsp:nvSpPr>
        <dsp:cNvPr id="0" name=""/>
        <dsp:cNvSpPr/>
      </dsp:nvSpPr>
      <dsp:spPr>
        <a:xfrm>
          <a:off x="1905" y="499480"/>
          <a:ext cx="1857374" cy="33818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b="1" kern="1200" dirty="0">
              <a:latin typeface="Arial" panose="020B0604020202020204" pitchFamily="34" charset="0"/>
              <a:cs typeface="Arial" panose="020B0604020202020204" pitchFamily="34" charset="0"/>
            </a:rPr>
            <a:t>Perez-Rosas et al. (2018) </a:t>
          </a:r>
          <a:r>
            <a:rPr lang="en-US" sz="1100" b="0" kern="1200" dirty="0">
              <a:latin typeface="Arial" panose="020B0604020202020204" pitchFamily="34" charset="0"/>
              <a:cs typeface="Arial" panose="020B0604020202020204" pitchFamily="34" charset="0"/>
            </a:rPr>
            <a:t>– Uses handcrafted linguistic features (n-grams, LIWC, readability) with SVM to classify fake news</a:t>
          </a:r>
          <a:endParaRPr lang="el-GR" sz="1100" kern="1200" dirty="0"/>
        </a:p>
        <a:p>
          <a:pPr marL="57150" lvl="1" indent="-57150" algn="l" defTabSz="488950">
            <a:lnSpc>
              <a:spcPct val="90000"/>
            </a:lnSpc>
            <a:spcBef>
              <a:spcPct val="0"/>
            </a:spcBef>
            <a:spcAft>
              <a:spcPct val="15000"/>
            </a:spcAft>
            <a:buChar char="•"/>
          </a:pPr>
          <a:endParaRPr lang="el-GR" sz="1100" b="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endParaRPr lang="el-GR" sz="1100" b="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r>
            <a:rPr lang="en-US" sz="1100" b="1" kern="1200" dirty="0" err="1">
              <a:latin typeface="Arial" panose="020B0604020202020204" pitchFamily="34" charset="0"/>
              <a:cs typeface="Arial" panose="020B0604020202020204" pitchFamily="34" charset="0"/>
            </a:rPr>
            <a:t>Tacchini</a:t>
          </a:r>
          <a:r>
            <a:rPr lang="en-US" sz="1100" b="1" kern="1200" dirty="0">
              <a:latin typeface="Arial" panose="020B0604020202020204" pitchFamily="34" charset="0"/>
              <a:cs typeface="Arial" panose="020B0604020202020204" pitchFamily="34" charset="0"/>
            </a:rPr>
            <a:t> et al. (2017)</a:t>
          </a:r>
          <a:r>
            <a:rPr lang="en-US" sz="1100" kern="1200" dirty="0">
              <a:latin typeface="Arial" panose="020B0604020202020204" pitchFamily="34" charset="0"/>
              <a:cs typeface="Arial" panose="020B0604020202020204" pitchFamily="34" charset="0"/>
            </a:rPr>
            <a:t>– Applies logistic regression and graph-based label propagation using Facebook user interactions.</a:t>
          </a:r>
          <a:endParaRPr lang="el-GR" sz="110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endParaRPr lang="el-GR" sz="110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endParaRPr lang="el-GR" sz="110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r>
            <a:rPr lang="en-US" sz="1100" b="1" kern="1200" dirty="0">
              <a:latin typeface="Arial" panose="020B0604020202020204" pitchFamily="34" charset="0"/>
              <a:cs typeface="Arial" panose="020B0604020202020204" pitchFamily="34" charset="0"/>
            </a:rPr>
            <a:t>Wang (2017)</a:t>
          </a:r>
          <a:r>
            <a:rPr lang="en-US" sz="1100" kern="1200" dirty="0">
              <a:latin typeface="Arial" panose="020B0604020202020204" pitchFamily="34" charset="0"/>
              <a:cs typeface="Arial" panose="020B0604020202020204" pitchFamily="34" charset="0"/>
            </a:rPr>
            <a:t>– Uses TF-IDF and metadata with Logistic Regression and SVM for short statement classification.</a:t>
          </a:r>
          <a:endParaRPr lang="el-GR" sz="1100" kern="1200" dirty="0">
            <a:latin typeface="Arial" panose="020B0604020202020204" pitchFamily="34" charset="0"/>
            <a:cs typeface="Arial" panose="020B0604020202020204" pitchFamily="34" charset="0"/>
          </a:endParaRPr>
        </a:p>
      </dsp:txBody>
      <dsp:txXfrm>
        <a:off x="1905" y="499480"/>
        <a:ext cx="1857374" cy="3381840"/>
      </dsp:txXfrm>
    </dsp:sp>
    <dsp:sp modelId="{9ED19492-E5CC-494F-8129-1B555DA0C60B}">
      <dsp:nvSpPr>
        <dsp:cNvPr id="0" name=""/>
        <dsp:cNvSpPr/>
      </dsp:nvSpPr>
      <dsp:spPr>
        <a:xfrm>
          <a:off x="2119312" y="182680"/>
          <a:ext cx="1857374" cy="316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dirty="0"/>
            <a:t>Deep Learning</a:t>
          </a:r>
          <a:endParaRPr lang="el-GR" sz="1100" kern="1200" dirty="0"/>
        </a:p>
      </dsp:txBody>
      <dsp:txXfrm>
        <a:off x="2119312" y="182680"/>
        <a:ext cx="1857374" cy="316800"/>
      </dsp:txXfrm>
    </dsp:sp>
    <dsp:sp modelId="{3B9F5790-9455-4F41-8333-C95F6262772E}">
      <dsp:nvSpPr>
        <dsp:cNvPr id="0" name=""/>
        <dsp:cNvSpPr/>
      </dsp:nvSpPr>
      <dsp:spPr>
        <a:xfrm>
          <a:off x="2119312" y="509185"/>
          <a:ext cx="1857374" cy="33818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0" algn="l" defTabSz="488950">
            <a:lnSpc>
              <a:spcPct val="90000"/>
            </a:lnSpc>
            <a:spcBef>
              <a:spcPct val="0"/>
            </a:spcBef>
            <a:spcAft>
              <a:spcPct val="15000"/>
            </a:spcAft>
            <a:buClrTx/>
            <a:buSzTx/>
            <a:buFont typeface="Arial" panose="020B0604020202020204" pitchFamily="34" charset="0"/>
            <a:buChar char="•"/>
          </a:pPr>
          <a:r>
            <a:rPr lang="en-US" sz="1100" b="1" kern="1200" dirty="0">
              <a:latin typeface="Arial" panose="020B0604020202020204" pitchFamily="34" charset="0"/>
              <a:cs typeface="Arial" panose="020B0604020202020204" pitchFamily="34" charset="0"/>
            </a:rPr>
            <a:t>Monti et al. (2019) </a:t>
          </a:r>
          <a:r>
            <a:rPr lang="en-US" sz="1100" b="0" kern="1200" dirty="0">
              <a:latin typeface="Arial" panose="020B0604020202020204" pitchFamily="34" charset="0"/>
              <a:cs typeface="Arial" panose="020B0604020202020204" pitchFamily="34" charset="0"/>
            </a:rPr>
            <a:t>– Introduces a GCN model to detect fake news using Twitter propagation patterns (cascade structure).</a:t>
          </a:r>
          <a:endParaRPr lang="el-GR" sz="1100" kern="1200" dirty="0"/>
        </a:p>
        <a:p>
          <a:pPr marL="57150" lvl="1" indent="0" algn="l" defTabSz="488950">
            <a:lnSpc>
              <a:spcPct val="90000"/>
            </a:lnSpc>
            <a:spcBef>
              <a:spcPct val="0"/>
            </a:spcBef>
            <a:spcAft>
              <a:spcPct val="15000"/>
            </a:spcAft>
            <a:buFont typeface="Arial" panose="020B0604020202020204" pitchFamily="34" charset="0"/>
            <a:buChar char="•"/>
          </a:pPr>
          <a:endParaRPr lang="el-GR" sz="1100" kern="1200" dirty="0"/>
        </a:p>
        <a:p>
          <a:pPr marL="57150" lvl="1" indent="0" algn="l" defTabSz="488950">
            <a:lnSpc>
              <a:spcPct val="90000"/>
            </a:lnSpc>
            <a:spcBef>
              <a:spcPct val="0"/>
            </a:spcBef>
            <a:spcAft>
              <a:spcPct val="15000"/>
            </a:spcAft>
            <a:buFont typeface="Arial" panose="020B0604020202020204" pitchFamily="34" charset="0"/>
            <a:buChar char="•"/>
          </a:pPr>
          <a:endParaRPr lang="el-GR" sz="1100" kern="1200" dirty="0"/>
        </a:p>
        <a:p>
          <a:pPr marL="57150" lvl="1" indent="0" algn="l" defTabSz="488950">
            <a:lnSpc>
              <a:spcPct val="90000"/>
            </a:lnSpc>
            <a:spcBef>
              <a:spcPct val="0"/>
            </a:spcBef>
            <a:spcAft>
              <a:spcPct val="15000"/>
            </a:spcAft>
            <a:buFont typeface="Arial" panose="020B0604020202020204" pitchFamily="34" charset="0"/>
            <a:buChar char="•"/>
          </a:pPr>
          <a:r>
            <a:rPr lang="en-US" sz="1100" b="1" kern="1200" dirty="0">
              <a:latin typeface="Arial" panose="020B0604020202020204" pitchFamily="34" charset="0"/>
              <a:cs typeface="Arial" panose="020B0604020202020204" pitchFamily="34" charset="0"/>
            </a:rPr>
            <a:t>Wang (2017) </a:t>
          </a:r>
          <a:r>
            <a:rPr lang="en-US" sz="1100" b="0" kern="1200" dirty="0">
              <a:latin typeface="Arial" panose="020B0604020202020204" pitchFamily="34" charset="0"/>
              <a:cs typeface="Arial" panose="020B0604020202020204" pitchFamily="34" charset="0"/>
            </a:rPr>
            <a:t>– Proposes CNN model using metadata and text for fake news detection on the LIAR dataset.</a:t>
          </a:r>
          <a:endParaRPr lang="el-GR" sz="1100" kern="1200" dirty="0"/>
        </a:p>
        <a:p>
          <a:pPr marL="57150" lvl="1" indent="0" algn="l" defTabSz="488950">
            <a:lnSpc>
              <a:spcPct val="90000"/>
            </a:lnSpc>
            <a:spcBef>
              <a:spcPct val="0"/>
            </a:spcBef>
            <a:spcAft>
              <a:spcPct val="15000"/>
            </a:spcAft>
            <a:buFont typeface="Arial" panose="020B0604020202020204" pitchFamily="34" charset="0"/>
            <a:buChar char="•"/>
          </a:pPr>
          <a:endParaRPr lang="el-GR" sz="1100" kern="1200" dirty="0"/>
        </a:p>
        <a:p>
          <a:pPr marL="57150" lvl="1" indent="0" algn="l" defTabSz="488950">
            <a:lnSpc>
              <a:spcPct val="90000"/>
            </a:lnSpc>
            <a:spcBef>
              <a:spcPct val="0"/>
            </a:spcBef>
            <a:spcAft>
              <a:spcPct val="15000"/>
            </a:spcAft>
            <a:buFont typeface="Arial" panose="020B0604020202020204" pitchFamily="34" charset="0"/>
            <a:buChar char="•"/>
          </a:pPr>
          <a:endParaRPr lang="el-GR" sz="1100" kern="1200" dirty="0"/>
        </a:p>
        <a:p>
          <a:pPr marL="57150" lvl="1" indent="0" algn="l" defTabSz="488950">
            <a:lnSpc>
              <a:spcPct val="90000"/>
            </a:lnSpc>
            <a:spcBef>
              <a:spcPct val="0"/>
            </a:spcBef>
            <a:spcAft>
              <a:spcPct val="15000"/>
            </a:spcAft>
            <a:buFont typeface="Arial" panose="020B0604020202020204" pitchFamily="34" charset="0"/>
            <a:buChar char="•"/>
          </a:pPr>
          <a:r>
            <a:rPr lang="en-US" sz="1100" b="1" kern="1200" dirty="0">
              <a:latin typeface="Arial" panose="020B0604020202020204" pitchFamily="34" charset="0"/>
              <a:cs typeface="Arial" panose="020B0604020202020204" pitchFamily="34" charset="0"/>
            </a:rPr>
            <a:t>Qi et al. (2019) – </a:t>
          </a:r>
          <a:r>
            <a:rPr lang="en-US" sz="1100" b="0" kern="1200" dirty="0">
              <a:latin typeface="Arial" panose="020B0604020202020204" pitchFamily="34" charset="0"/>
              <a:cs typeface="Arial" panose="020B0604020202020204" pitchFamily="34" charset="0"/>
            </a:rPr>
            <a:t>Uses visual features with multi-domain CNN for detecting image-based misinformation.</a:t>
          </a:r>
          <a:endParaRPr lang="el-GR" sz="1100" b="0" kern="1200" dirty="0">
            <a:latin typeface="Arial" panose="020B0604020202020204" pitchFamily="34" charset="0"/>
            <a:cs typeface="Arial" panose="020B0604020202020204" pitchFamily="34" charset="0"/>
          </a:endParaRPr>
        </a:p>
      </dsp:txBody>
      <dsp:txXfrm>
        <a:off x="2119312" y="509185"/>
        <a:ext cx="1857374" cy="3381840"/>
      </dsp:txXfrm>
    </dsp:sp>
    <dsp:sp modelId="{8B2260B8-D27B-46F8-B5ED-4FAF34913834}">
      <dsp:nvSpPr>
        <dsp:cNvPr id="0" name=""/>
        <dsp:cNvSpPr/>
      </dsp:nvSpPr>
      <dsp:spPr>
        <a:xfrm>
          <a:off x="4236719" y="182680"/>
          <a:ext cx="1857374" cy="316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dirty="0"/>
            <a:t>Hybrid</a:t>
          </a:r>
          <a:endParaRPr lang="el-GR" sz="1100" kern="1200" dirty="0"/>
        </a:p>
      </dsp:txBody>
      <dsp:txXfrm>
        <a:off x="4236719" y="182680"/>
        <a:ext cx="1857374" cy="316800"/>
      </dsp:txXfrm>
    </dsp:sp>
    <dsp:sp modelId="{BE474E1B-6EFE-4A74-81C6-17E44841F3D6}">
      <dsp:nvSpPr>
        <dsp:cNvPr id="0" name=""/>
        <dsp:cNvSpPr/>
      </dsp:nvSpPr>
      <dsp:spPr>
        <a:xfrm>
          <a:off x="4236719" y="499480"/>
          <a:ext cx="1857374" cy="33818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b="1" kern="1200" dirty="0" err="1">
              <a:latin typeface="Arial" panose="020B0604020202020204" pitchFamily="34" charset="0"/>
              <a:cs typeface="Arial" panose="020B0604020202020204" pitchFamily="34" charset="0"/>
            </a:rPr>
            <a:t>Ruchansky</a:t>
          </a:r>
          <a:r>
            <a:rPr lang="en-US" sz="1100" b="1" kern="1200" dirty="0">
              <a:latin typeface="Arial" panose="020B0604020202020204" pitchFamily="34" charset="0"/>
              <a:cs typeface="Arial" panose="020B0604020202020204" pitchFamily="34" charset="0"/>
            </a:rPr>
            <a:t> et al. (2017) </a:t>
          </a:r>
          <a:r>
            <a:rPr lang="en-US" sz="1100" b="0" kern="1200" dirty="0">
              <a:latin typeface="Arial" panose="020B0604020202020204" pitchFamily="34" charset="0"/>
              <a:cs typeface="Arial" panose="020B0604020202020204" pitchFamily="34" charset="0"/>
            </a:rPr>
            <a:t>– CSI model combining content (LSTM), user behavior scoring, and integration for classification.</a:t>
          </a:r>
          <a:endParaRPr lang="el-GR" sz="1100" kern="1200" dirty="0"/>
        </a:p>
        <a:p>
          <a:pPr marL="57150" lvl="1" indent="-57150" algn="l" defTabSz="488950">
            <a:lnSpc>
              <a:spcPct val="90000"/>
            </a:lnSpc>
            <a:spcBef>
              <a:spcPct val="0"/>
            </a:spcBef>
            <a:spcAft>
              <a:spcPct val="15000"/>
            </a:spcAft>
            <a:buChar char="•"/>
          </a:pPr>
          <a:endParaRPr lang="el-GR" sz="1100" b="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endParaRPr lang="el-GR" sz="1100" b="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r>
            <a:rPr lang="en-US" sz="1100" b="1" kern="1200" dirty="0">
              <a:latin typeface="Arial" panose="020B0604020202020204" pitchFamily="34" charset="0"/>
              <a:cs typeface="Arial" panose="020B0604020202020204" pitchFamily="34" charset="0"/>
            </a:rPr>
            <a:t>Shu et al. (2019) </a:t>
          </a:r>
          <a:r>
            <a:rPr lang="en-US" sz="1100" b="0" kern="1200" dirty="0">
              <a:latin typeface="Arial" panose="020B0604020202020204" pitchFamily="34" charset="0"/>
              <a:cs typeface="Arial" panose="020B0604020202020204" pitchFamily="34" charset="0"/>
            </a:rPr>
            <a:t>– </a:t>
          </a:r>
          <a:r>
            <a:rPr lang="en-US" sz="1100" b="0" kern="1200" dirty="0" err="1">
              <a:latin typeface="Arial" panose="020B0604020202020204" pitchFamily="34" charset="0"/>
              <a:cs typeface="Arial" panose="020B0604020202020204" pitchFamily="34" charset="0"/>
            </a:rPr>
            <a:t>TriFN</a:t>
          </a:r>
          <a:r>
            <a:rPr lang="en-US" sz="1100" b="0" kern="1200" dirty="0">
              <a:latin typeface="Arial" panose="020B0604020202020204" pitchFamily="34" charset="0"/>
              <a:cs typeface="Arial" panose="020B0604020202020204" pitchFamily="34" charset="0"/>
            </a:rPr>
            <a:t> uses embeddings for content, user interactions, and publisher bias in a unified model.</a:t>
          </a:r>
          <a:endParaRPr lang="el-GR" sz="1100" b="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endParaRPr lang="el-GR" sz="110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endParaRPr lang="el-GR" sz="1100" kern="1200" dirty="0">
            <a:latin typeface="Arial" panose="020B0604020202020204" pitchFamily="34" charset="0"/>
            <a:cs typeface="Arial" panose="020B0604020202020204" pitchFamily="34" charset="0"/>
          </a:endParaRPr>
        </a:p>
        <a:p>
          <a:pPr marL="57150" lvl="1" indent="-57150" algn="l" defTabSz="488950">
            <a:lnSpc>
              <a:spcPct val="90000"/>
            </a:lnSpc>
            <a:spcBef>
              <a:spcPct val="0"/>
            </a:spcBef>
            <a:spcAft>
              <a:spcPct val="15000"/>
            </a:spcAft>
            <a:buChar char="•"/>
          </a:pPr>
          <a:r>
            <a:rPr lang="en-US" sz="1100" b="1" kern="1200" dirty="0">
              <a:latin typeface="Arial" panose="020B0604020202020204" pitchFamily="34" charset="0"/>
              <a:cs typeface="Arial" panose="020B0604020202020204" pitchFamily="34" charset="0"/>
            </a:rPr>
            <a:t>Wu et al. (2019) </a:t>
          </a:r>
          <a:r>
            <a:rPr lang="en-US" sz="1100" kern="1200" dirty="0">
              <a:latin typeface="Arial" panose="020B0604020202020204" pitchFamily="34" charset="0"/>
              <a:cs typeface="Arial" panose="020B0604020202020204" pitchFamily="34" charset="0"/>
            </a:rPr>
            <a:t>– Combines RCNN for semantics and Bi-LSTM for emotional features in multi-class fake news detection.</a:t>
          </a:r>
          <a:endParaRPr lang="el-GR" sz="1100" kern="1200" dirty="0">
            <a:latin typeface="Arial" panose="020B0604020202020204" pitchFamily="34" charset="0"/>
            <a:cs typeface="Arial" panose="020B0604020202020204" pitchFamily="34" charset="0"/>
          </a:endParaRPr>
        </a:p>
      </dsp:txBody>
      <dsp:txXfrm>
        <a:off x="4236719" y="499480"/>
        <a:ext cx="1857374" cy="338184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55.01433" units="1/cm"/>
          <inkml:channelProperty channel="Y" name="resolution" value="27.48092" units="1/cm"/>
          <inkml:channelProperty channel="T" name="resolution" value="1" units="1/dev"/>
        </inkml:channelProperties>
      </inkml:inkSource>
      <inkml:timestamp xml:id="ts0" timeString="2025-09-29T07:23:44.847"/>
    </inkml:context>
    <inkml:brush xml:id="br0">
      <inkml:brushProperty name="width" value="0.05292" units="cm"/>
      <inkml:brushProperty name="height" value="0.05292" units="cm"/>
      <inkml:brushProperty name="color" value="#92D050"/>
    </inkml:brush>
  </inkml:definitions>
  <inkml:trace contextRef="#ctx0" brushRef="#br0">9031 11906 0,'-35'0'78,"17"0"-62,1 0-16,-1 0 15,0-17 1,-17 17 15,17 0-15,-35 0-1,18 0 1,-53 0 15,70 0-15,1 0-16,-36 53 31,17-18-15,1 18-1,18 17 1,-19-17 0,1 18-1,35-18 1,-35 35-1,-36 106 17,36-106-17,35-35-15,-71 159 32,54-142-17,-1 18 1,0-35-1,18-17 1,0 34 0,-17 1-1,-1-1 1,18-17-16,0-35 16,0 35-16,-17 17 15,17 1 1,0-18-1,0 0 1,0 17 0,0-34-1,17 16 1,1 19 0,-1-36-1,19 53 1,-1-17-1,-17-53 1,17 52 0,-35-52-16,70 70 31,-70-53-15,36 1-1,-19-19 1,19 19-1,-1-1 17,18 18-17,-36-36 1,54 54 0,-36-36-1,18 0 1,88 107-1,-105-125 1,34 36 0,-52-35-1,-1 17 1,54 0 0,17 18 15,0 0-16,-52-35 1,105 52 0,-88-34-1,17-19 1,-17 19-16,124 34 16,-107-35-1,107 1 1,-1-1-1,-106-17 1,125 35 0,-72-36-1,142 18 1,-124-35 0,0 18-16,0-18 15,0 0-15,0 0 16,-17 0-1,-1 0-15,18 0 16,141 0 0,-123 0-1,176 0 1,-194 0 0,177 0-1,-18-18 1,-36 1-1,-123-1 1,142 1 0,-142 17-1,353-18 1,-106 18 15,0 0-15,0-18-1,-212 18 1,159 0 0,-17 0-1,-142 0 1,142 0 0,70 0-1,-35 0 16,-212 0-31,88 0 16,-17 0 0,-1 0-1,19-17 1,-1-1 0,-106 0-1,107 1 1,-19-1-1,-87 0 1,105 18 0,-105 0-16,-1 0 15,177-17 17,-141-19-17,-1-16 1,1 16-1,0-17 1,-36 0 0,-52 18-1,0-18 1,-36 0 0,18 18-1,17-53 1,-52 70-16,35-35 15,-35 18-15,52-71 16,-35 53 0,18-105 15,-17 52-15,-36 0-1,17 0 1,-34-106-1,-36 54 1,-36 16 0,37 19-1,16 70 1,-34-35 0,17 17-1,-18 1 1,-176-124-1,-158-71 1,193 124 0,88 71-1,19 17 1,-37 0 0,72 0-1,-142 0 1,53-35-16,-70 17 15,-71-17-15,106 35 16,0-18-16,106 54 16,-282-36-1,158 35 1,18 1 0,0-1-1,-53-17 1,-71-1-1,-105-16 1,70 34 0,142 18-1,105 0 1,0 0 0,53 0-16,-35 0 15,-18 18 1,-158-18-1,122 0 1,-140 0 0,18 0-1,105 0 1,71 0 0,-53 17-1,35-17 1,-141 0-1,-53-17 1,88 17-16,142 0 16,-160-18-16,160 18 15,-71 0-15,-36 0 16,89 0 0,-35 0-1,-54 0 1,-140-35-1,35 35 1,-1-18 0,54 18-1,176-18-15,-88 18 32,70-17-32,1 17 15,-124-36 1,0 19-1,-35-1 1,35 0 0,70 18-1,-52 0 1,35 0 0,70 0-1,0 18 1,-52 17-1,17-35 1,18 36 0,35-36-16,18 17 15,-36 1-15,54 0 16,-19-1 0,1 1-1,0 0 1,-1-18-1,1 17 1,-18 1 0,36-18-1,-19 17-15,19-17 16,-19 0-16,1 18 16,-53 17-1,70-35 1,1 18-16,-19-18 15,1 0 1,-18 18 15,18-1-15,0-17 15,17 18-15</inkml:trace>
  <inkml:trace contextRef="#ctx0" brushRef="#br0" timeOffset="6614.83">11448 12718 0,'0'17'94</inkml:trace>
  <inkml:trace contextRef="#ctx0" brushRef="#br0" timeOffset="6764.79">11448 12753 0</inkml:trace>
  <inkml:trace contextRef="#ctx0" brushRef="#br0" timeOffset="7733.34">11448 12841 0,'0'0'0,"35"18"109,53-1-93,124 54 0,229 0-1,176-1 16,-458-70-15,-124 0-16,-17 0 16,17 0 15,-17 0-15,35-18-1,-18 1 1,0 17-1,0-18 17,-17 18-17,35-17 1,0-1 0,-35 18-16,-1 0 15,18-18-15,18 1 16,0 17-1,18-18 1,-36 18 0,36-18-1,-36 18 1,0 0 0,18-17-1,-18 17 1,-35-18-16,53 18 15,-35 0 17,17 0-17,1 0 17,34 0-17,-35 0 1,-17 0 15</inkml:trace>
  <inkml:trace contextRef="#ctx0" brushRef="#br0" timeOffset="9622">14605 12771 0,'18'0'15,"17"0"95,71 0-95,-36 0 1,54 0-1,-1 0-15,1 0 16,-71 0-16,35 0 16,-35 0-16,-18 0 15,71 0-15,53 0 16,-106 0 0,35 0-1,-35 0 1,35 0-1,-53 0 1,0 0 0,-17-18-1,17 18 1,-17-18-16,0 18 47,-1 0-16,1 0 0,35 0-15,-18 0 0,0 0-1,-17 0-15,88 0 16,-18 0-1,-53 0 1,1 18 0,-19-18-1,1 0 17,-1 0-17,1 0 1</inkml:trace>
</inkml:ink>
</file>

<file path=ppt/ink/ink2.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55.01433" units="1/cm"/>
          <inkml:channelProperty channel="Y" name="resolution" value="27.48092" units="1/cm"/>
          <inkml:channelProperty channel="T" name="resolution" value="1" units="1/dev"/>
        </inkml:channelProperties>
      </inkml:inkSource>
      <inkml:timestamp xml:id="ts0" timeString="2025-09-29T07:25:06.415"/>
    </inkml:context>
    <inkml:brush xml:id="br0">
      <inkml:brushProperty name="width" value="0.05292" units="cm"/>
      <inkml:brushProperty name="height" value="0.05292" units="cm"/>
      <inkml:brushProperty name="color" value="#92D050"/>
    </inkml:brush>
  </inkml:definitions>
  <inkml:trace contextRef="#ctx0" brushRef="#br0">8608 7973 0,'-18'0'62,"0"0"-30,1 0-17,-1 35 1,1-35 0,-1 18-1,18-1 1,-35 19-1,17-19 1,18 1 0,-18 17-1,1 0 1,-1 1 0,0 34-1,18-17 1,0-18-16,-17-17 15,17 17 1,0 1 0,0-19-1,0 36 1,0 0 0,0 18-1,0-1 1,0 1-1,0-18 1,0 0 0,0-36-1,0 19 1,0-1 0,0 0-1,0 36 1,0-1-1,0 18 1,-18-35 0,18 36-1,0-72-15,0 36 16,0-18 15,0 1-15,0 17-1,0-1 1,0 19 0,0-18-1,0 0 1,0 0 0,0-36-16,0 1 15,0 0 1,0-1-16,0 1 109,18-18-93,-1 18-1,1-18 17,-18 17-17,18 1 1,-1-18-16,1 18 16,0-18-16,-1 17 15,19 1-15,-1 17 16,71-17-1,-53-1 1,-53 1 0,17-18-1,1 0 1,17 0 0,-17 0-16,35 18 31,-18-18-16,-17 0-15,17 0 16,-17 0-16,17 0 16,35 0-1,-17 0 1,0 0 15,18 0-15,17 0-1,35 0 1,-17 0 0,-53 0-1,53 0 1,-53 0 0,-18 0-16,0 0 15,18 0-15,0 0 16,88 0-1,-52 0 1,69 0 0,-87 0-1,0 0 1,70 0 0,-53 0-16,0 0 15,106 0 1,-88 0-1,0 0 1,52 0 0,-69 17-1,-1-17 1,0 0 0,-17 0-1,70 0 1,-35 0-16,-1 0 15,1 0-15,-18 0 16,36 0-16,140 0 31,-105 0-15,-53 0 0,123 18-1,36-18 1,-142 0-1,160 0 1,-178 0-16,-34 0 16,-18-18-16,0 18 15,70-17 1,-34 17 0,-1 0-1,18 0 1,17 0-1,-70 0 1,70 0 0,-17 0-1,-53 0 1,71 0 0,-54 0-1,71 0 1,-35 0-16,-18 0 15,-17 0-15,35 0 16,158 0 0,-193 0-1,-1 0 1,107 0 0,-1 0-1,-35 0 1,-70-18-1,88 18 1,-89 0 0,54 0-1,-71-18 1,-1 18-16,-16 0 16,70-17-1,-1-1 16,1 0-15,-35 18 0,88 0-1,-89-17 1,36-1 0,106-17-1,-1 17 1,-105 1-1,123-19 1,-140 36 0,16-17-16,-34 17 15,88 0 1,-89 0 0,54 0-1,-71 0 1,70 0-1,-70 0 1,0 0 0,0 0-16,0 0 15,88 17 17,-18 1-17,71-18 1,-105 0-1,122 0 1,-105 0 0,-18 0-1,159 0 1,-17 0 0,-89 0-16,88 0 31,-141-18-31,18 1 15,-53-1-15,-18 0 16,89-17 0,-89 0-1,18 17 1,35 1 0,-17-36-1,-54 53 1,107-71-1,-71 36 1,-18-18 0,0 0-1,-35 18-15,18-1 16,-1-16 0,1-37-1,-18 72 1,0-160-1,0 142 1,-53-71 0,18 36-1,-18 34 1,18-34 0,-18 35-1,18-1 1,17 1-1,-17 17 1,17 18-16,-123-70 31,35 34-15,-123-16 15,141 34-15,-18-17-1,-18 17 1,-17-17 0,71 17-1,-19-17 1,1 17-16,-18 1 16,36 17-16,-124-36 15,88 36 1,-106-17-1,89-1 1,-142 0 0,18 1-1,36 17 1,-1-18 0,159 18-16,-88 0 31,-106 0-16,159 0-15,-18-18 16,35 18-16,-211 0 16,123 0-1,-123 0 1,123 0 0,18 0-1,0 0 1,-141-17-1,123 17 1,18 0 0,0 0-1,70 0-15,-105 0 16,-18 0 0,-18 0-1,-140 0 1,193 0-1,-88 0 1,123 0 0,19 0-1,-72 0 1,36 0 0,-53 0-1,-35 0 1,17 0-1,36 0 1,105 0-16,-88 0 16,36 0-1,105 0 1,-211-18 0,123 18-1,36-17 1,-36-1-1,-18 0 1,18 18 0,54 0-1,-1-17 1,0-1 15,-18 0-15,18 18-1,-53-35 1,36 35 0,-18 0-1,-18-18 1,53 18 0,-53-35-1,18 18 1,-124-1-1,53 0 1,1-17-16,87 35 16,18 0-16,-123-18 15,105 1 1,-35-1 0,36 18-1,52 0 1,-88 0-1,-158-18 1,176 18 0,-1 0-1,19 0 1,-1-17 0,54 17-16,-54 0 15,-17 0 1,35 0-1,-35 0 1,-159 0 15,106 0-15,88 0-16,0 0 16,-18 17-1,18-17 1,1 0-1,-54 0 1,-18 18 0,89 0-1,-18-18 1,18 17 0,17-17-1,0 0 16,1 18 1,-1-18 61</inkml:trace>
</inkml:ink>
</file>

<file path=ppt/ink/ink3.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55.01433" units="1/cm"/>
          <inkml:channelProperty channel="Y" name="resolution" value="27.48092" units="1/cm"/>
          <inkml:channelProperty channel="T" name="resolution" value="1" units="1/dev"/>
        </inkml:channelProperties>
      </inkml:inkSource>
      <inkml:timestamp xml:id="ts0" timeString="2025-09-29T07:41:39.271"/>
    </inkml:context>
    <inkml:brush xml:id="br0">
      <inkml:brushProperty name="width" value="0.05292" units="cm"/>
      <inkml:brushProperty name="height" value="0.05292" units="cm"/>
      <inkml:brushProperty name="color" value="#92D050"/>
    </inkml:brush>
  </inkml:definitions>
  <inkml:trace contextRef="#ctx0" brushRef="#br0">20902 229 0</inkml:trace>
  <inkml:trace contextRef="#ctx0" brushRef="#br0">20902 229 0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EEC75F-11B9-4927-B64B-92AE70A19E34}" type="datetimeFigureOut">
              <a:rPr lang="el-GR" smtClean="0"/>
              <a:t>28/9/2025</a:t>
            </a:fld>
            <a:endParaRPr lang="el-GR"/>
          </a:p>
        </p:txBody>
      </p:sp>
      <p:sp>
        <p:nvSpPr>
          <p:cNvPr id="4" name="Θέση εικόνας διαφάνειας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FDEF5F-167B-4793-A29A-759A5686BF11}" type="slidenum">
              <a:rPr lang="el-GR" smtClean="0"/>
              <a:t>‹#›</a:t>
            </a:fld>
            <a:endParaRPr lang="el-GR"/>
          </a:p>
        </p:txBody>
      </p:sp>
    </p:spTree>
    <p:extLst>
      <p:ext uri="{BB962C8B-B14F-4D97-AF65-F5344CB8AC3E}">
        <p14:creationId xmlns:p14="http://schemas.microsoft.com/office/powerpoint/2010/main" val="1101434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Καλησπέρα σας είμαι ο </a:t>
            </a:r>
            <a:r>
              <a:rPr lang="el-GR" dirty="0" err="1"/>
              <a:t>χρηστοσ</a:t>
            </a:r>
            <a:r>
              <a:rPr lang="el-GR" dirty="0"/>
              <a:t> </a:t>
            </a:r>
            <a:r>
              <a:rPr lang="el-GR" dirty="0" err="1"/>
              <a:t>τζωρασ</a:t>
            </a:r>
            <a:r>
              <a:rPr lang="el-GR" dirty="0"/>
              <a:t> </a:t>
            </a:r>
            <a:r>
              <a:rPr lang="el-GR" dirty="0" err="1"/>
              <a:t>μεταπτυχιακος</a:t>
            </a:r>
            <a:r>
              <a:rPr lang="el-GR" dirty="0"/>
              <a:t> </a:t>
            </a:r>
            <a:r>
              <a:rPr lang="el-GR" dirty="0" err="1"/>
              <a:t>φοιτητησ</a:t>
            </a:r>
            <a:r>
              <a:rPr lang="el-GR" dirty="0"/>
              <a:t> στο </a:t>
            </a:r>
            <a:r>
              <a:rPr lang="el-GR" dirty="0" err="1"/>
              <a:t>πανεπιστημιο</a:t>
            </a:r>
            <a:r>
              <a:rPr lang="el-GR" dirty="0"/>
              <a:t> </a:t>
            </a:r>
            <a:r>
              <a:rPr lang="el-GR" dirty="0" err="1"/>
              <a:t>πειραια</a:t>
            </a:r>
            <a:r>
              <a:rPr lang="el-GR" dirty="0"/>
              <a:t> στο </a:t>
            </a:r>
            <a:r>
              <a:rPr lang="el-GR" dirty="0" err="1"/>
              <a:t>μεταπτυχιακο</a:t>
            </a:r>
            <a:r>
              <a:rPr lang="el-GR" dirty="0"/>
              <a:t> </a:t>
            </a:r>
            <a:r>
              <a:rPr lang="el-GR" dirty="0" err="1"/>
              <a:t>προγραμμα</a:t>
            </a:r>
            <a:r>
              <a:rPr lang="el-GR" dirty="0"/>
              <a:t> </a:t>
            </a:r>
            <a:r>
              <a:rPr lang="el-GR" dirty="0" err="1"/>
              <a:t>εφαρμοσμενη</a:t>
            </a:r>
            <a:r>
              <a:rPr lang="el-GR" dirty="0"/>
              <a:t> </a:t>
            </a:r>
            <a:r>
              <a:rPr lang="el-GR" dirty="0" err="1"/>
              <a:t>στατιστικη</a:t>
            </a:r>
            <a:r>
              <a:rPr lang="el-GR" dirty="0"/>
              <a:t> και </a:t>
            </a:r>
            <a:r>
              <a:rPr lang="en-US" dirty="0"/>
              <a:t>associate data scientist and ai engineer </a:t>
            </a:r>
            <a:r>
              <a:rPr lang="el-GR" dirty="0"/>
              <a:t>στη </a:t>
            </a:r>
            <a:r>
              <a:rPr lang="en-US" dirty="0" err="1"/>
              <a:t>pwc</a:t>
            </a:r>
            <a:r>
              <a:rPr lang="en-US" dirty="0"/>
              <a:t> </a:t>
            </a:r>
            <a:r>
              <a:rPr lang="el-GR" dirty="0"/>
              <a:t>στο τμήμα </a:t>
            </a:r>
            <a:r>
              <a:rPr lang="en-US" dirty="0"/>
              <a:t>AI &amp; Advanced analytics. </a:t>
            </a:r>
            <a:r>
              <a:rPr lang="el-GR" dirty="0"/>
              <a:t>Σήμερα θα σας παρουσιάσω τη δική μου διπλωματική εργασία σε συνεργασία με το </a:t>
            </a:r>
            <a:r>
              <a:rPr lang="el-GR" dirty="0" err="1"/>
              <a:t>κυριο</a:t>
            </a:r>
            <a:r>
              <a:rPr lang="el-GR" dirty="0"/>
              <a:t> </a:t>
            </a:r>
            <a:r>
              <a:rPr lang="el-GR" dirty="0" err="1"/>
              <a:t>Πελεκη</a:t>
            </a:r>
            <a:r>
              <a:rPr lang="el-GR" dirty="0"/>
              <a:t> Νικόλαο πάνω στα </a:t>
            </a:r>
            <a:r>
              <a:rPr lang="en-US" dirty="0"/>
              <a:t>fake news detection On Social Media.</a:t>
            </a:r>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a:t>
            </a:fld>
            <a:endParaRPr lang="el-GR"/>
          </a:p>
        </p:txBody>
      </p:sp>
    </p:spTree>
    <p:extLst>
      <p:ext uri="{BB962C8B-B14F-4D97-AF65-F5344CB8AC3E}">
        <p14:creationId xmlns:p14="http://schemas.microsoft.com/office/powerpoint/2010/main" val="107503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Σε μια </a:t>
            </a:r>
            <a:r>
              <a:rPr lang="el-GR" dirty="0" err="1"/>
              <a:t>μικρη</a:t>
            </a:r>
            <a:r>
              <a:rPr lang="el-GR" dirty="0"/>
              <a:t> εισαγωγή θα αναφερθούμε στο σκοπό της </a:t>
            </a:r>
            <a:r>
              <a:rPr lang="el-GR" dirty="0" err="1"/>
              <a:t>συγκεγκεκριμένης</a:t>
            </a:r>
            <a:r>
              <a:rPr lang="el-GR" dirty="0"/>
              <a:t> εργασίας και έρευνας που έγινε από τη πλευρά μας.</a:t>
            </a:r>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a:t>
            </a:fld>
            <a:endParaRPr lang="el-GR"/>
          </a:p>
        </p:txBody>
      </p:sp>
    </p:spTree>
    <p:extLst>
      <p:ext uri="{BB962C8B-B14F-4D97-AF65-F5344CB8AC3E}">
        <p14:creationId xmlns:p14="http://schemas.microsoft.com/office/powerpoint/2010/main" val="1610967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lvl="1"/>
            <a:r>
              <a:rPr lang="el-GR" dirty="0"/>
              <a:t>Έπειτα από έντονο </a:t>
            </a:r>
            <a:r>
              <a:rPr lang="en-US" dirty="0"/>
              <a:t>research </a:t>
            </a:r>
            <a:r>
              <a:rPr lang="el-GR" dirty="0" err="1"/>
              <a:t>παρατηρησαμε</a:t>
            </a:r>
            <a:r>
              <a:rPr lang="el-GR" dirty="0"/>
              <a:t> ότι οι </a:t>
            </a:r>
            <a:r>
              <a:rPr lang="el-GR" dirty="0" err="1"/>
              <a:t>προσεγγισεις</a:t>
            </a:r>
            <a:r>
              <a:rPr lang="el-GR" dirty="0"/>
              <a:t> </a:t>
            </a:r>
            <a:r>
              <a:rPr lang="el-GR" dirty="0" err="1"/>
              <a:t>γυρω</a:t>
            </a:r>
            <a:r>
              <a:rPr lang="el-GR" dirty="0"/>
              <a:t> από το </a:t>
            </a:r>
            <a:r>
              <a:rPr lang="el-GR" dirty="0" err="1"/>
              <a:t>συγκεκριμενο</a:t>
            </a:r>
            <a:r>
              <a:rPr lang="el-GR" dirty="0"/>
              <a:t> </a:t>
            </a:r>
            <a:r>
              <a:rPr lang="el-GR" dirty="0" err="1"/>
              <a:t>ζητημα</a:t>
            </a:r>
            <a:r>
              <a:rPr lang="el-GR" dirty="0"/>
              <a:t> </a:t>
            </a:r>
            <a:r>
              <a:rPr lang="el-GR" dirty="0" err="1"/>
              <a:t>βασιζοντια</a:t>
            </a:r>
            <a:r>
              <a:rPr lang="el-GR" dirty="0"/>
              <a:t> σε </a:t>
            </a:r>
            <a:r>
              <a:rPr lang="el-GR" dirty="0" err="1"/>
              <a:t>τεχνικες</a:t>
            </a:r>
            <a:r>
              <a:rPr lang="el-GR" dirty="0"/>
              <a:t> </a:t>
            </a:r>
            <a:r>
              <a:rPr lang="en-US" dirty="0"/>
              <a:t>machine and deep </a:t>
            </a:r>
            <a:r>
              <a:rPr lang="en-US" dirty="0" err="1"/>
              <a:t>learing</a:t>
            </a:r>
            <a:r>
              <a:rPr lang="en-US" dirty="0"/>
              <a:t>.</a:t>
            </a:r>
            <a:r>
              <a:rPr lang="el-GR" dirty="0"/>
              <a:t>Θέλαμε αρχικά να </a:t>
            </a:r>
            <a:r>
              <a:rPr lang="el-GR" dirty="0" err="1"/>
              <a:t>δημιουργήσοπυμε</a:t>
            </a:r>
            <a:r>
              <a:rPr lang="el-GR" dirty="0"/>
              <a:t> ένα νέο τρόπο </a:t>
            </a:r>
            <a:r>
              <a:rPr lang="el-GR" dirty="0" err="1"/>
              <a:t>ανιχνευσης</a:t>
            </a:r>
            <a:r>
              <a:rPr lang="el-GR" dirty="0"/>
              <a:t> ψευδών </a:t>
            </a:r>
            <a:r>
              <a:rPr lang="el-GR" dirty="0" err="1"/>
              <a:t>ειδησεων</a:t>
            </a:r>
            <a:r>
              <a:rPr lang="el-GR" dirty="0"/>
              <a:t>, ο οποίος θα ξέφευγε από τους </a:t>
            </a:r>
            <a:r>
              <a:rPr lang="el-GR" dirty="0" err="1"/>
              <a:t>κλασικους</a:t>
            </a:r>
            <a:r>
              <a:rPr lang="el-GR" dirty="0"/>
              <a:t> παραδοσιακούς τρόπους </a:t>
            </a:r>
            <a:r>
              <a:rPr lang="en-US" dirty="0"/>
              <a:t>machine and deep learning </a:t>
            </a:r>
            <a:r>
              <a:rPr lang="el-GR" dirty="0"/>
              <a:t>και θα </a:t>
            </a:r>
            <a:r>
              <a:rPr lang="el-GR" dirty="0" err="1"/>
              <a:t>χρησιμοποιουσε</a:t>
            </a:r>
            <a:r>
              <a:rPr lang="el-GR" dirty="0"/>
              <a:t> </a:t>
            </a:r>
            <a:r>
              <a:rPr lang="el-GR" dirty="0" err="1"/>
              <a:t>μοντερνες</a:t>
            </a:r>
            <a:r>
              <a:rPr lang="el-GR" dirty="0"/>
              <a:t> </a:t>
            </a:r>
            <a:r>
              <a:rPr lang="el-GR" dirty="0" err="1"/>
              <a:t>τεχτικες</a:t>
            </a:r>
            <a:r>
              <a:rPr lang="el-GR" dirty="0"/>
              <a:t> με τη </a:t>
            </a:r>
            <a:r>
              <a:rPr lang="el-GR" dirty="0" err="1"/>
              <a:t>χρλήση</a:t>
            </a:r>
            <a:r>
              <a:rPr lang="el-GR" dirty="0"/>
              <a:t> </a:t>
            </a:r>
            <a:r>
              <a:rPr lang="en-US" dirty="0" err="1"/>
              <a:t>llm</a:t>
            </a:r>
            <a:r>
              <a:rPr lang="en-US" dirty="0"/>
              <a:t>. </a:t>
            </a:r>
            <a:r>
              <a:rPr lang="el-GR" dirty="0"/>
              <a:t>Ο λόγος που επιχειρήσαμε να κάνουμε χρήση των </a:t>
            </a:r>
            <a:r>
              <a:rPr lang="en-US" dirty="0" err="1"/>
              <a:t>llm</a:t>
            </a:r>
            <a:r>
              <a:rPr lang="en-US" dirty="0"/>
              <a:t> </a:t>
            </a:r>
            <a:r>
              <a:rPr lang="el-GR" dirty="0"/>
              <a:t> και να δημιουργήσουμε ένα </a:t>
            </a:r>
            <a:r>
              <a:rPr lang="en-US" dirty="0"/>
              <a:t>pipeline </a:t>
            </a:r>
            <a:r>
              <a:rPr lang="el-GR" dirty="0"/>
              <a:t>από </a:t>
            </a:r>
            <a:r>
              <a:rPr lang="en-US" dirty="0"/>
              <a:t>agents </a:t>
            </a:r>
            <a:r>
              <a:rPr lang="el-GR" dirty="0"/>
              <a:t>είναι </a:t>
            </a:r>
            <a:r>
              <a:rPr lang="el-GR" dirty="0" err="1"/>
              <a:t>γιατι</a:t>
            </a:r>
            <a:r>
              <a:rPr lang="el-GR" dirty="0"/>
              <a:t> </a:t>
            </a:r>
            <a:r>
              <a:rPr lang="el-GR" dirty="0" err="1"/>
              <a:t>θε΄λαμε</a:t>
            </a:r>
            <a:r>
              <a:rPr lang="el-GR" dirty="0"/>
              <a:t> να </a:t>
            </a:r>
            <a:r>
              <a:rPr lang="el-GR" dirty="0" err="1"/>
              <a:t>προσεγγίσουεμ</a:t>
            </a:r>
            <a:r>
              <a:rPr lang="el-GR" dirty="0"/>
              <a:t> το </a:t>
            </a:r>
            <a:r>
              <a:rPr lang="el-GR" dirty="0" err="1"/>
              <a:t>συγκερκιμενο</a:t>
            </a:r>
            <a:r>
              <a:rPr lang="el-GR" dirty="0"/>
              <a:t> πρόβλημα από την πλευρά του χρήστη και του μέσου ανθρώπου που θέλει να μάθεις την </a:t>
            </a:r>
            <a:r>
              <a:rPr lang="el-GR" dirty="0" err="1"/>
              <a:t>αληθεια</a:t>
            </a:r>
            <a:r>
              <a:rPr lang="el-GR" dirty="0"/>
              <a:t> </a:t>
            </a:r>
            <a:r>
              <a:rPr lang="el-GR" dirty="0" err="1"/>
              <a:t>γυρω</a:t>
            </a:r>
            <a:r>
              <a:rPr lang="el-GR" dirty="0"/>
              <a:t> από ένα </a:t>
            </a:r>
            <a:r>
              <a:rPr lang="el-GR" dirty="0" err="1"/>
              <a:t>συγκεκριμενο</a:t>
            </a:r>
            <a:r>
              <a:rPr lang="el-GR" dirty="0"/>
              <a:t> </a:t>
            </a:r>
            <a:r>
              <a:rPr lang="el-GR" dirty="0" err="1"/>
              <a:t>αρθρο</a:t>
            </a:r>
            <a:r>
              <a:rPr lang="el-GR" dirty="0"/>
              <a:t>, η μια </a:t>
            </a:r>
            <a:r>
              <a:rPr lang="el-GR" dirty="0" err="1"/>
              <a:t>δημοσιευση</a:t>
            </a:r>
            <a:r>
              <a:rPr lang="el-GR" dirty="0"/>
              <a:t> η </a:t>
            </a:r>
            <a:r>
              <a:rPr lang="el-GR" dirty="0" err="1"/>
              <a:t>καποιο</a:t>
            </a:r>
            <a:r>
              <a:rPr lang="el-GR" dirty="0"/>
              <a:t> </a:t>
            </a:r>
            <a:r>
              <a:rPr lang="el-GR" dirty="0" err="1"/>
              <a:t>ποστ</a:t>
            </a:r>
            <a:r>
              <a:rPr lang="el-GR" dirty="0"/>
              <a:t> σε </a:t>
            </a:r>
            <a:r>
              <a:rPr lang="el-GR" dirty="0" err="1"/>
              <a:t>καποιο</a:t>
            </a:r>
            <a:r>
              <a:rPr lang="el-GR" dirty="0"/>
              <a:t> </a:t>
            </a:r>
            <a:r>
              <a:rPr lang="en-US" dirty="0"/>
              <a:t>social media. </a:t>
            </a:r>
            <a:r>
              <a:rPr lang="el-GR" dirty="0"/>
              <a:t>Μέχρι στιγμής οι εργασίες γύρω από </a:t>
            </a:r>
            <a:r>
              <a:rPr lang="el-GR" dirty="0" err="1"/>
              <a:t>τυος</a:t>
            </a:r>
            <a:r>
              <a:rPr lang="el-GR" dirty="0"/>
              <a:t> </a:t>
            </a:r>
            <a:r>
              <a:rPr lang="en-US" dirty="0"/>
              <a:t>fake news detection algorithms </a:t>
            </a:r>
            <a:r>
              <a:rPr lang="el-GR" dirty="0"/>
              <a:t>ήταν </a:t>
            </a:r>
            <a:r>
              <a:rPr lang="el-GR" dirty="0" err="1"/>
              <a:t>απλα</a:t>
            </a:r>
            <a:r>
              <a:rPr lang="el-GR" dirty="0"/>
              <a:t> μια </a:t>
            </a:r>
            <a:r>
              <a:rPr lang="el-GR" dirty="0" err="1"/>
              <a:t>ευκαιρια</a:t>
            </a:r>
            <a:r>
              <a:rPr lang="el-GR" dirty="0"/>
              <a:t> για νέους </a:t>
            </a:r>
            <a:r>
              <a:rPr lang="en-US" dirty="0"/>
              <a:t>developers</a:t>
            </a:r>
            <a:r>
              <a:rPr lang="el-GR" dirty="0"/>
              <a:t> που </a:t>
            </a:r>
            <a:r>
              <a:rPr lang="el-GR" dirty="0" err="1"/>
              <a:t>ηθελαν</a:t>
            </a:r>
            <a:r>
              <a:rPr lang="el-GR" dirty="0"/>
              <a:t> να </a:t>
            </a:r>
            <a:r>
              <a:rPr lang="el-GR" dirty="0" err="1"/>
              <a:t>εξασκίσουν</a:t>
            </a:r>
            <a:r>
              <a:rPr lang="el-GR" dirty="0"/>
              <a:t> τις τεχνικές του γύρω από το </a:t>
            </a:r>
            <a:r>
              <a:rPr lang="en-US" dirty="0"/>
              <a:t>machine &amp; deep learning. </a:t>
            </a:r>
            <a:r>
              <a:rPr lang="el-GR" dirty="0"/>
              <a:t>Θεωρήσαμε όμως ότι αυτό απέχει αρκετά από το απαραίτητο </a:t>
            </a:r>
            <a:r>
              <a:rPr lang="en-US" dirty="0"/>
              <a:t>user story </a:t>
            </a:r>
            <a:r>
              <a:rPr lang="el-GR" dirty="0"/>
              <a:t>που κρύβεται πίσω από το </a:t>
            </a:r>
            <a:r>
              <a:rPr lang="en-US" dirty="0"/>
              <a:t>fake news detection. </a:t>
            </a:r>
            <a:r>
              <a:rPr lang="el-GR" dirty="0" err="1"/>
              <a:t>Καπου</a:t>
            </a:r>
            <a:r>
              <a:rPr lang="el-GR" dirty="0"/>
              <a:t> εδώ θα </a:t>
            </a:r>
            <a:r>
              <a:rPr lang="el-GR" dirty="0" err="1"/>
              <a:t>ηθελα</a:t>
            </a:r>
            <a:r>
              <a:rPr lang="el-GR" dirty="0"/>
              <a:t> </a:t>
            </a:r>
            <a:r>
              <a:rPr lang="el-GR" dirty="0" err="1"/>
              <a:t>νακανετε</a:t>
            </a:r>
            <a:r>
              <a:rPr lang="el-GR" dirty="0"/>
              <a:t> </a:t>
            </a:r>
            <a:r>
              <a:rPr lang="el-GR" dirty="0" err="1"/>
              <a:t>εικονα</a:t>
            </a:r>
            <a:r>
              <a:rPr lang="el-GR" dirty="0"/>
              <a:t> το </a:t>
            </a:r>
            <a:r>
              <a:rPr lang="el-GR" dirty="0" err="1"/>
              <a:t>εαυτο</a:t>
            </a:r>
            <a:r>
              <a:rPr lang="el-GR" dirty="0"/>
              <a:t> σας να </a:t>
            </a:r>
            <a:r>
              <a:rPr lang="el-GR" dirty="0" err="1"/>
              <a:t>πετυχαινει</a:t>
            </a:r>
            <a:r>
              <a:rPr lang="el-GR" dirty="0"/>
              <a:t> ένα </a:t>
            </a:r>
            <a:r>
              <a:rPr lang="el-GR" dirty="0" err="1"/>
              <a:t>ποστ</a:t>
            </a:r>
            <a:r>
              <a:rPr lang="el-GR" dirty="0"/>
              <a:t> στο </a:t>
            </a:r>
            <a:r>
              <a:rPr lang="el-GR" dirty="0" err="1"/>
              <a:t>φβ</a:t>
            </a:r>
            <a:r>
              <a:rPr lang="el-GR" dirty="0"/>
              <a:t> </a:t>
            </a:r>
            <a:r>
              <a:rPr lang="el-GR" dirty="0" err="1"/>
              <a:t>καθως</a:t>
            </a:r>
            <a:r>
              <a:rPr lang="el-GR" dirty="0"/>
              <a:t> </a:t>
            </a:r>
            <a:r>
              <a:rPr lang="el-GR" dirty="0" err="1"/>
              <a:t>κανει</a:t>
            </a:r>
            <a:r>
              <a:rPr lang="el-GR" dirty="0"/>
              <a:t> </a:t>
            </a:r>
            <a:r>
              <a:rPr lang="en-US" dirty="0"/>
              <a:t>scroll, </a:t>
            </a:r>
            <a:r>
              <a:rPr lang="el-GR" dirty="0"/>
              <a:t>αν </a:t>
            </a:r>
            <a:r>
              <a:rPr lang="el-GR" dirty="0" err="1"/>
              <a:t>ρωταγατε</a:t>
            </a:r>
            <a:r>
              <a:rPr lang="el-GR" dirty="0"/>
              <a:t> ένα </a:t>
            </a:r>
            <a:r>
              <a:rPr lang="el-GR" dirty="0" err="1"/>
              <a:t>φιλο</a:t>
            </a:r>
            <a:r>
              <a:rPr lang="el-GR" dirty="0"/>
              <a:t> σας ο </a:t>
            </a:r>
            <a:r>
              <a:rPr lang="el-GR" dirty="0" err="1"/>
              <a:t>οποιος</a:t>
            </a:r>
            <a:r>
              <a:rPr lang="el-GR" dirty="0"/>
              <a:t> </a:t>
            </a:r>
            <a:r>
              <a:rPr lang="el-GR" dirty="0" err="1"/>
              <a:t>καθοτνα</a:t>
            </a:r>
            <a:r>
              <a:rPr lang="el-GR" dirty="0"/>
              <a:t> </a:t>
            </a:r>
            <a:r>
              <a:rPr lang="el-GR" dirty="0" err="1"/>
              <a:t>διπλα</a:t>
            </a:r>
            <a:r>
              <a:rPr lang="el-GR" dirty="0"/>
              <a:t> σας αν </a:t>
            </a:r>
            <a:r>
              <a:rPr lang="el-GR" dirty="0" err="1"/>
              <a:t>εινα</a:t>
            </a:r>
            <a:r>
              <a:rPr lang="el-GR" dirty="0"/>
              <a:t> αυτό είναι </a:t>
            </a:r>
            <a:r>
              <a:rPr lang="el-GR" dirty="0" err="1"/>
              <a:t>αληθεια</a:t>
            </a:r>
            <a:r>
              <a:rPr lang="el-GR" dirty="0"/>
              <a:t> η </a:t>
            </a:r>
            <a:r>
              <a:rPr lang="el-GR" dirty="0" err="1"/>
              <a:t>ψεμα</a:t>
            </a:r>
            <a:r>
              <a:rPr lang="el-GR" dirty="0"/>
              <a:t> και σας </a:t>
            </a:r>
            <a:r>
              <a:rPr lang="el-GR" dirty="0" err="1"/>
              <a:t>ελεγε</a:t>
            </a:r>
            <a:r>
              <a:rPr lang="el-GR" dirty="0"/>
              <a:t> ότι είναι </a:t>
            </a:r>
            <a:r>
              <a:rPr lang="el-GR" dirty="0" err="1"/>
              <a:t>ψευδες</a:t>
            </a:r>
            <a:r>
              <a:rPr lang="el-GR" dirty="0"/>
              <a:t>  κατά 99% </a:t>
            </a:r>
            <a:r>
              <a:rPr lang="el-GR" dirty="0" err="1"/>
              <a:t>σιγουρια</a:t>
            </a:r>
            <a:r>
              <a:rPr lang="el-GR" dirty="0"/>
              <a:t> </a:t>
            </a:r>
            <a:r>
              <a:rPr lang="el-GR" dirty="0" err="1"/>
              <a:t>χωρις</a:t>
            </a:r>
            <a:r>
              <a:rPr lang="el-GR" dirty="0"/>
              <a:t> να σας </a:t>
            </a:r>
            <a:r>
              <a:rPr lang="el-GR" dirty="0" err="1"/>
              <a:t>δωσει</a:t>
            </a:r>
            <a:r>
              <a:rPr lang="el-GR" dirty="0"/>
              <a:t> </a:t>
            </a:r>
            <a:r>
              <a:rPr lang="el-GR" dirty="0" err="1"/>
              <a:t>καποια</a:t>
            </a:r>
            <a:r>
              <a:rPr lang="el-GR" dirty="0"/>
              <a:t> άλλη </a:t>
            </a:r>
            <a:r>
              <a:rPr lang="el-GR" dirty="0" err="1"/>
              <a:t>πληροφορια</a:t>
            </a:r>
            <a:r>
              <a:rPr lang="el-GR" dirty="0"/>
              <a:t>, κατά </a:t>
            </a:r>
            <a:r>
              <a:rPr lang="el-GR" dirty="0" err="1"/>
              <a:t>ποσο</a:t>
            </a:r>
            <a:r>
              <a:rPr lang="el-GR" dirty="0"/>
              <a:t> θα ήσασταν σίγουροι ότι είναι </a:t>
            </a:r>
            <a:r>
              <a:rPr lang="el-GR" dirty="0" err="1"/>
              <a:t>ψευδες</a:t>
            </a:r>
            <a:r>
              <a:rPr lang="el-GR" dirty="0"/>
              <a:t>. Μόλις σας έκανα ένα </a:t>
            </a:r>
            <a:r>
              <a:rPr lang="el-GR" dirty="0" err="1"/>
              <a:t>παραλληλισμο</a:t>
            </a:r>
            <a:r>
              <a:rPr lang="el-GR" dirty="0"/>
              <a:t> με μια </a:t>
            </a:r>
            <a:r>
              <a:rPr lang="el-GR" dirty="0" err="1"/>
              <a:t>παραδοσιακη</a:t>
            </a:r>
            <a:r>
              <a:rPr lang="el-GR" dirty="0"/>
              <a:t> </a:t>
            </a:r>
            <a:r>
              <a:rPr lang="el-GR" dirty="0" err="1"/>
              <a:t>τεχικη</a:t>
            </a:r>
            <a:r>
              <a:rPr lang="el-GR" dirty="0"/>
              <a:t> </a:t>
            </a:r>
            <a:r>
              <a:rPr lang="en-US" dirty="0"/>
              <a:t>ml or dl.</a:t>
            </a:r>
            <a:r>
              <a:rPr lang="el-GR" dirty="0"/>
              <a:t> </a:t>
            </a:r>
            <a:r>
              <a:rPr lang="el-GR" dirty="0" err="1"/>
              <a:t>Δυστυχως</a:t>
            </a:r>
            <a:r>
              <a:rPr lang="el-GR" dirty="0"/>
              <a:t> από </a:t>
            </a:r>
            <a:r>
              <a:rPr lang="el-GR" dirty="0" err="1"/>
              <a:t>μονοι</a:t>
            </a:r>
            <a:r>
              <a:rPr lang="el-GR" dirty="0"/>
              <a:t> τους </a:t>
            </a:r>
            <a:r>
              <a:rPr lang="el-GR" dirty="0" err="1"/>
              <a:t>τετοια</a:t>
            </a:r>
            <a:r>
              <a:rPr lang="el-GR" dirty="0"/>
              <a:t> </a:t>
            </a:r>
            <a:r>
              <a:rPr lang="el-GR" dirty="0" err="1"/>
              <a:t>αλγοριτθμοι</a:t>
            </a:r>
            <a:r>
              <a:rPr lang="el-GR" dirty="0"/>
              <a:t> </a:t>
            </a:r>
            <a:r>
              <a:rPr lang="el-GR" dirty="0" err="1"/>
              <a:t>μπορουν</a:t>
            </a:r>
            <a:r>
              <a:rPr lang="el-GR" dirty="0"/>
              <a:t> </a:t>
            </a:r>
            <a:r>
              <a:rPr lang="el-GR" dirty="0" err="1"/>
              <a:t>μονο</a:t>
            </a:r>
            <a:r>
              <a:rPr lang="el-GR" dirty="0"/>
              <a:t> να </a:t>
            </a:r>
            <a:r>
              <a:rPr lang="el-GR" dirty="0" err="1"/>
              <a:t>παρουσιασουν</a:t>
            </a:r>
            <a:r>
              <a:rPr lang="el-GR" dirty="0"/>
              <a:t> το </a:t>
            </a:r>
            <a:r>
              <a:rPr lang="el-GR" dirty="0" err="1"/>
              <a:t>αποτελεσμα</a:t>
            </a:r>
            <a:r>
              <a:rPr lang="el-GR" dirty="0"/>
              <a:t> και με </a:t>
            </a:r>
            <a:r>
              <a:rPr lang="el-GR" dirty="0" err="1"/>
              <a:t>ποσο</a:t>
            </a:r>
            <a:r>
              <a:rPr lang="el-GR" dirty="0"/>
              <a:t> τις 100 </a:t>
            </a:r>
            <a:r>
              <a:rPr lang="el-GR" dirty="0" err="1"/>
              <a:t>ακριβεια</a:t>
            </a:r>
            <a:r>
              <a:rPr lang="el-GR" dirty="0"/>
              <a:t> το </a:t>
            </a:r>
            <a:r>
              <a:rPr lang="el-GR" dirty="0" err="1"/>
              <a:t>πετυχαν</a:t>
            </a:r>
            <a:r>
              <a:rPr lang="el-GR" dirty="0"/>
              <a:t>. </a:t>
            </a:r>
            <a:r>
              <a:rPr lang="el-GR" dirty="0" err="1"/>
              <a:t>Ενας</a:t>
            </a:r>
            <a:r>
              <a:rPr lang="el-GR" dirty="0"/>
              <a:t> </a:t>
            </a:r>
            <a:r>
              <a:rPr lang="en-US" dirty="0"/>
              <a:t>user </a:t>
            </a:r>
            <a:r>
              <a:rPr lang="el-GR" dirty="0"/>
              <a:t>όμως στην </a:t>
            </a:r>
            <a:r>
              <a:rPr lang="el-GR" dirty="0" err="1"/>
              <a:t>δεδομενη</a:t>
            </a:r>
            <a:r>
              <a:rPr lang="el-GR" dirty="0"/>
              <a:t> </a:t>
            </a:r>
            <a:r>
              <a:rPr lang="el-GR" dirty="0" err="1"/>
              <a:t>κατασταση</a:t>
            </a:r>
            <a:r>
              <a:rPr lang="el-GR" dirty="0"/>
              <a:t> δεν </a:t>
            </a:r>
            <a:r>
              <a:rPr lang="el-GR" dirty="0" err="1"/>
              <a:t>θελει</a:t>
            </a:r>
            <a:r>
              <a:rPr lang="el-GR" dirty="0"/>
              <a:t> να </a:t>
            </a:r>
            <a:r>
              <a:rPr lang="el-GR" dirty="0" err="1"/>
              <a:t>ακουσει</a:t>
            </a:r>
            <a:r>
              <a:rPr lang="el-GR" dirty="0"/>
              <a:t> </a:t>
            </a:r>
            <a:r>
              <a:rPr lang="el-GR" dirty="0" err="1"/>
              <a:t>μονο</a:t>
            </a:r>
            <a:r>
              <a:rPr lang="el-GR" dirty="0"/>
              <a:t> αυτό </a:t>
            </a:r>
            <a:r>
              <a:rPr lang="el-GR" dirty="0" err="1"/>
              <a:t>αλλα</a:t>
            </a:r>
            <a:r>
              <a:rPr lang="el-GR" dirty="0"/>
              <a:t> και </a:t>
            </a:r>
            <a:r>
              <a:rPr lang="el-GR" dirty="0" err="1"/>
              <a:t>γιατι</a:t>
            </a:r>
            <a:r>
              <a:rPr lang="el-GR" dirty="0"/>
              <a:t> </a:t>
            </a:r>
            <a:r>
              <a:rPr lang="el-GR" dirty="0" err="1"/>
              <a:t>εινια</a:t>
            </a:r>
            <a:r>
              <a:rPr lang="el-GR" dirty="0"/>
              <a:t> </a:t>
            </a:r>
            <a:r>
              <a:rPr lang="el-GR" dirty="0" err="1"/>
              <a:t>λαθος</a:t>
            </a:r>
            <a:r>
              <a:rPr lang="el-GR" dirty="0"/>
              <a:t> , </a:t>
            </a:r>
            <a:r>
              <a:rPr lang="el-GR" dirty="0" err="1"/>
              <a:t>δηαλδη</a:t>
            </a:r>
            <a:r>
              <a:rPr lang="el-GR" dirty="0"/>
              <a:t> μια </a:t>
            </a:r>
            <a:r>
              <a:rPr lang="el-GR" dirty="0" err="1"/>
              <a:t>τεκμηριθωμενη</a:t>
            </a:r>
            <a:r>
              <a:rPr lang="el-GR" dirty="0"/>
              <a:t> </a:t>
            </a:r>
            <a:r>
              <a:rPr lang="el-GR" dirty="0" err="1"/>
              <a:t>απανταση</a:t>
            </a:r>
            <a:r>
              <a:rPr lang="el-GR" dirty="0"/>
              <a:t> </a:t>
            </a:r>
            <a:r>
              <a:rPr lang="el-GR" dirty="0" err="1"/>
              <a:t>γυρω</a:t>
            </a:r>
            <a:r>
              <a:rPr lang="el-GR" dirty="0"/>
              <a:t> από το </a:t>
            </a:r>
            <a:r>
              <a:rPr lang="el-GR" dirty="0" err="1"/>
              <a:t>αποτελεσμα</a:t>
            </a:r>
            <a:r>
              <a:rPr lang="el-GR" dirty="0"/>
              <a:t> για το που </a:t>
            </a:r>
            <a:r>
              <a:rPr lang="el-GR" dirty="0" err="1"/>
              <a:t>βασιζετια</a:t>
            </a:r>
            <a:r>
              <a:rPr lang="el-GR" dirty="0"/>
              <a:t> η </a:t>
            </a:r>
            <a:r>
              <a:rPr lang="el-GR" dirty="0" err="1"/>
              <a:t>συγκεκριμενη</a:t>
            </a:r>
            <a:r>
              <a:rPr lang="el-GR" dirty="0"/>
              <a:t> </a:t>
            </a:r>
            <a:r>
              <a:rPr lang="el-GR" dirty="0" err="1"/>
              <a:t>αποψη</a:t>
            </a:r>
            <a:r>
              <a:rPr lang="el-GR" dirty="0"/>
              <a:t>. </a:t>
            </a:r>
            <a:r>
              <a:rPr lang="el-GR" dirty="0" err="1"/>
              <a:t>Εμεις</a:t>
            </a:r>
            <a:r>
              <a:rPr lang="el-GR" dirty="0"/>
              <a:t> </a:t>
            </a:r>
            <a:r>
              <a:rPr lang="el-GR" dirty="0" err="1"/>
              <a:t>επιχειρησαμε</a:t>
            </a:r>
            <a:r>
              <a:rPr lang="el-GR" dirty="0"/>
              <a:t> να το </a:t>
            </a:r>
            <a:r>
              <a:rPr lang="el-GR" dirty="0" err="1"/>
              <a:t>επιτυχουμε</a:t>
            </a:r>
            <a:r>
              <a:rPr lang="el-GR" dirty="0"/>
              <a:t> αυτό με μια </a:t>
            </a:r>
            <a:r>
              <a:rPr lang="el-GR" dirty="0" err="1"/>
              <a:t>τεχνολογια</a:t>
            </a:r>
            <a:r>
              <a:rPr lang="el-GR" dirty="0"/>
              <a:t> πολύ </a:t>
            </a:r>
            <a:r>
              <a:rPr lang="el-GR" dirty="0" err="1"/>
              <a:t>προσφατη</a:t>
            </a:r>
            <a:r>
              <a:rPr lang="el-GR" dirty="0"/>
              <a:t> στο </a:t>
            </a:r>
            <a:r>
              <a:rPr lang="el-GR" dirty="0" err="1"/>
              <a:t>κοσμο</a:t>
            </a:r>
            <a:r>
              <a:rPr lang="el-GR" dirty="0"/>
              <a:t> των </a:t>
            </a:r>
            <a:r>
              <a:rPr lang="en-US" dirty="0"/>
              <a:t>developers </a:t>
            </a:r>
            <a:r>
              <a:rPr lang="el-GR" dirty="0"/>
              <a:t>το </a:t>
            </a:r>
            <a:r>
              <a:rPr lang="en-US" dirty="0"/>
              <a:t>agentic ai ,</a:t>
            </a:r>
            <a:r>
              <a:rPr lang="el-GR" dirty="0"/>
              <a:t> το </a:t>
            </a:r>
            <a:r>
              <a:rPr lang="el-GR" dirty="0" err="1"/>
              <a:t>οποιο</a:t>
            </a:r>
            <a:r>
              <a:rPr lang="el-GR" dirty="0"/>
              <a:t> μας </a:t>
            </a:r>
            <a:r>
              <a:rPr lang="el-GR" dirty="0" err="1"/>
              <a:t>δινει</a:t>
            </a:r>
            <a:r>
              <a:rPr lang="el-GR" dirty="0"/>
              <a:t> την </a:t>
            </a:r>
            <a:r>
              <a:rPr lang="el-GR" dirty="0" err="1"/>
              <a:t>δυαντοτηα</a:t>
            </a:r>
            <a:r>
              <a:rPr lang="el-GR" dirty="0"/>
              <a:t> να </a:t>
            </a:r>
            <a:r>
              <a:rPr lang="el-GR" dirty="0" err="1"/>
              <a:t>κανουμε</a:t>
            </a:r>
            <a:r>
              <a:rPr lang="el-GR" dirty="0"/>
              <a:t> </a:t>
            </a:r>
            <a:r>
              <a:rPr lang="el-GR" dirty="0" err="1"/>
              <a:t>χρηση</a:t>
            </a:r>
            <a:r>
              <a:rPr lang="el-GR" dirty="0"/>
              <a:t> </a:t>
            </a:r>
            <a:r>
              <a:rPr lang="en-US" dirty="0" err="1"/>
              <a:t>llm</a:t>
            </a:r>
            <a:r>
              <a:rPr lang="en-US" dirty="0"/>
              <a:t> </a:t>
            </a:r>
            <a:r>
              <a:rPr lang="el-GR" dirty="0"/>
              <a:t>σε </a:t>
            </a:r>
            <a:r>
              <a:rPr lang="el-GR" dirty="0" err="1"/>
              <a:t>συνδιασμο</a:t>
            </a:r>
            <a:r>
              <a:rPr lang="el-GR" dirty="0"/>
              <a:t> με </a:t>
            </a:r>
            <a:r>
              <a:rPr lang="en-US" dirty="0"/>
              <a:t>external </a:t>
            </a:r>
            <a:r>
              <a:rPr lang="en-US" dirty="0" err="1"/>
              <a:t>apis</a:t>
            </a:r>
            <a:r>
              <a:rPr lang="en-US" dirty="0"/>
              <a:t> kai </a:t>
            </a:r>
            <a:r>
              <a:rPr lang="el-GR" dirty="0" err="1"/>
              <a:t>εξελιγμενο</a:t>
            </a:r>
            <a:r>
              <a:rPr lang="el-GR" dirty="0"/>
              <a:t> </a:t>
            </a:r>
            <a:r>
              <a:rPr lang="en-US" dirty="0"/>
              <a:t>prompt engineering, </a:t>
            </a:r>
            <a:r>
              <a:rPr lang="el-GR" dirty="0"/>
              <a:t>έτσι ώστε να </a:t>
            </a:r>
            <a:r>
              <a:rPr lang="el-GR" dirty="0" err="1"/>
              <a:t>πετυχουμε</a:t>
            </a:r>
            <a:r>
              <a:rPr lang="el-GR" dirty="0"/>
              <a:t> ένα </a:t>
            </a:r>
            <a:r>
              <a:rPr lang="el-GR" dirty="0" err="1"/>
              <a:t>αποτελεσμα</a:t>
            </a:r>
            <a:r>
              <a:rPr lang="el-GR" dirty="0"/>
              <a:t> </a:t>
            </a:r>
            <a:r>
              <a:rPr lang="el-GR" dirty="0" err="1"/>
              <a:t>τοσο</a:t>
            </a:r>
            <a:r>
              <a:rPr lang="el-GR" dirty="0"/>
              <a:t> </a:t>
            </a:r>
            <a:r>
              <a:rPr lang="el-GR" dirty="0" err="1"/>
              <a:t>ακριιβες</a:t>
            </a:r>
            <a:r>
              <a:rPr lang="el-GR" dirty="0"/>
              <a:t> </a:t>
            </a:r>
            <a:r>
              <a:rPr lang="el-GR" dirty="0" err="1"/>
              <a:t>αλλα</a:t>
            </a:r>
            <a:r>
              <a:rPr lang="el-GR" dirty="0"/>
              <a:t> και </a:t>
            </a:r>
            <a:r>
              <a:rPr lang="el-GR" dirty="0" err="1"/>
              <a:t>διαφανες</a:t>
            </a:r>
            <a:r>
              <a:rPr lang="el-GR" dirty="0"/>
              <a:t> και </a:t>
            </a:r>
            <a:r>
              <a:rPr lang="el-GR" dirty="0" err="1"/>
              <a:t>καταλληλα</a:t>
            </a:r>
            <a:r>
              <a:rPr lang="el-GR" dirty="0"/>
              <a:t> </a:t>
            </a:r>
            <a:r>
              <a:rPr lang="el-GR" dirty="0" err="1"/>
              <a:t>επεξηγηματικο</a:t>
            </a:r>
            <a:r>
              <a:rPr lang="el-GR" dirty="0"/>
              <a:t> </a:t>
            </a:r>
            <a:r>
              <a:rPr lang="el-GR" dirty="0" err="1"/>
              <a:t>ταυτοχρονα</a:t>
            </a:r>
            <a:r>
              <a:rPr lang="el-GR" dirty="0"/>
              <a:t>.</a:t>
            </a:r>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3</a:t>
            </a:fld>
            <a:endParaRPr lang="el-GR"/>
          </a:p>
        </p:txBody>
      </p:sp>
    </p:spTree>
    <p:extLst>
      <p:ext uri="{BB962C8B-B14F-4D97-AF65-F5344CB8AC3E}">
        <p14:creationId xmlns:p14="http://schemas.microsoft.com/office/powerpoint/2010/main" val="3591920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Πριν </a:t>
            </a:r>
            <a:r>
              <a:rPr lang="el-GR" dirty="0" err="1"/>
              <a:t>προχωρησουμε</a:t>
            </a:r>
            <a:r>
              <a:rPr lang="el-GR" dirty="0"/>
              <a:t> στο </a:t>
            </a:r>
            <a:r>
              <a:rPr lang="el-GR" dirty="0" err="1"/>
              <a:t>συστημα</a:t>
            </a:r>
            <a:r>
              <a:rPr lang="el-GR" dirty="0"/>
              <a:t> το </a:t>
            </a:r>
            <a:r>
              <a:rPr lang="el-GR" dirty="0" err="1"/>
              <a:t>οποιο</a:t>
            </a:r>
            <a:r>
              <a:rPr lang="el-GR" dirty="0"/>
              <a:t> </a:t>
            </a:r>
            <a:r>
              <a:rPr lang="el-GR" dirty="0" err="1"/>
              <a:t>δημιουργησαμε</a:t>
            </a:r>
            <a:r>
              <a:rPr lang="el-GR" dirty="0"/>
              <a:t> , θα </a:t>
            </a:r>
            <a:r>
              <a:rPr lang="el-GR" dirty="0" err="1"/>
              <a:t>ηθελα</a:t>
            </a:r>
            <a:r>
              <a:rPr lang="el-GR" dirty="0"/>
              <a:t> </a:t>
            </a:r>
            <a:r>
              <a:rPr lang="el-GR" dirty="0" err="1"/>
              <a:t>νακανουμεμμια</a:t>
            </a:r>
            <a:r>
              <a:rPr lang="el-GR" dirty="0"/>
              <a:t> </a:t>
            </a:r>
            <a:r>
              <a:rPr lang="el-GR" dirty="0" err="1"/>
              <a:t>αναδορμη</a:t>
            </a:r>
            <a:r>
              <a:rPr lang="el-GR" dirty="0"/>
              <a:t> στη </a:t>
            </a:r>
            <a:r>
              <a:rPr lang="el-GR" dirty="0" err="1"/>
              <a:t>θεωρια</a:t>
            </a:r>
            <a:r>
              <a:rPr lang="el-GR" dirty="0"/>
              <a:t> την </a:t>
            </a:r>
            <a:r>
              <a:rPr lang="el-GR" dirty="0" err="1"/>
              <a:t>οποια</a:t>
            </a:r>
            <a:r>
              <a:rPr lang="el-GR" dirty="0"/>
              <a:t> </a:t>
            </a:r>
            <a:r>
              <a:rPr lang="el-GR" dirty="0" err="1"/>
              <a:t>συνανατησαμε</a:t>
            </a:r>
            <a:r>
              <a:rPr lang="el-GR" dirty="0"/>
              <a:t> κατά της </a:t>
            </a:r>
            <a:r>
              <a:rPr lang="el-GR" dirty="0" err="1"/>
              <a:t>διαρκεια</a:t>
            </a:r>
            <a:r>
              <a:rPr lang="el-GR" dirty="0"/>
              <a:t> της </a:t>
            </a:r>
            <a:r>
              <a:rPr lang="el-GR" dirty="0" err="1"/>
              <a:t>διπλωματικης</a:t>
            </a:r>
            <a:r>
              <a:rPr lang="el-GR" dirty="0"/>
              <a:t> και </a:t>
            </a:r>
            <a:r>
              <a:rPr lang="el-GR" dirty="0" err="1"/>
              <a:t>μερικες</a:t>
            </a:r>
            <a:r>
              <a:rPr lang="el-GR" dirty="0"/>
              <a:t> </a:t>
            </a:r>
            <a:r>
              <a:rPr lang="el-GR" dirty="0" err="1"/>
              <a:t>ενδαφέρουσες</a:t>
            </a:r>
            <a:r>
              <a:rPr lang="el-GR" dirty="0"/>
              <a:t> </a:t>
            </a:r>
            <a:r>
              <a:rPr lang="el-GR" dirty="0" err="1"/>
              <a:t>ερευνες</a:t>
            </a:r>
            <a:r>
              <a:rPr lang="el-GR" dirty="0"/>
              <a:t> που </a:t>
            </a:r>
            <a:r>
              <a:rPr lang="el-GR" dirty="0" err="1"/>
              <a:t>βρεθηκανσ</a:t>
            </a:r>
            <a:r>
              <a:rPr lang="el-GR" dirty="0"/>
              <a:t> το </a:t>
            </a:r>
            <a:r>
              <a:rPr lang="el-GR" dirty="0" err="1"/>
              <a:t>δρομο</a:t>
            </a:r>
            <a:r>
              <a:rPr lang="el-GR" dirty="0"/>
              <a:t> μας και μας </a:t>
            </a:r>
            <a:r>
              <a:rPr lang="el-GR" dirty="0" err="1"/>
              <a:t>βοηθησαν</a:t>
            </a:r>
            <a:r>
              <a:rPr lang="el-GR" dirty="0"/>
              <a:t> να </a:t>
            </a:r>
            <a:r>
              <a:rPr lang="el-GR" dirty="0" err="1"/>
              <a:t>δημιουργησουμε</a:t>
            </a:r>
            <a:r>
              <a:rPr lang="el-GR" dirty="0"/>
              <a:t> ότι </a:t>
            </a:r>
            <a:r>
              <a:rPr lang="el-GR" dirty="0" err="1"/>
              <a:t>δημιουργησαμε</a:t>
            </a:r>
            <a:r>
              <a:rPr lang="el-GR" dirty="0"/>
              <a:t>.</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4</a:t>
            </a:fld>
            <a:endParaRPr lang="el-GR"/>
          </a:p>
        </p:txBody>
      </p:sp>
    </p:spTree>
    <p:extLst>
      <p:ext uri="{BB962C8B-B14F-4D97-AF65-F5344CB8AC3E}">
        <p14:creationId xmlns:p14="http://schemas.microsoft.com/office/powerpoint/2010/main" val="3035200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err="1"/>
              <a:t>Υπαρχουν</a:t>
            </a:r>
            <a:r>
              <a:rPr lang="el-GR" dirty="0"/>
              <a:t> 5 </a:t>
            </a:r>
            <a:r>
              <a:rPr lang="el-GR" dirty="0" err="1"/>
              <a:t>διαφορετικες</a:t>
            </a:r>
            <a:r>
              <a:rPr lang="el-GR" dirty="0"/>
              <a:t> </a:t>
            </a:r>
            <a:r>
              <a:rPr lang="el-GR" dirty="0" err="1"/>
              <a:t>λογιεκες</a:t>
            </a:r>
            <a:r>
              <a:rPr lang="el-GR" dirty="0"/>
              <a:t> </a:t>
            </a:r>
            <a:r>
              <a:rPr lang="el-GR" dirty="0" err="1"/>
              <a:t>προσεγγισεις</a:t>
            </a:r>
            <a:r>
              <a:rPr lang="el-GR" dirty="0"/>
              <a:t> για την </a:t>
            </a:r>
            <a:r>
              <a:rPr lang="el-GR" dirty="0" err="1"/>
              <a:t>προσεγγιση</a:t>
            </a:r>
            <a:r>
              <a:rPr lang="el-GR" dirty="0"/>
              <a:t> της </a:t>
            </a:r>
            <a:r>
              <a:rPr lang="el-GR" dirty="0" err="1"/>
              <a:t>καταστασης</a:t>
            </a:r>
            <a:r>
              <a:rPr lang="el-GR" dirty="0"/>
              <a:t>. Ο </a:t>
            </a:r>
            <a:r>
              <a:rPr lang="el-GR" dirty="0" err="1"/>
              <a:t>πρωτος</a:t>
            </a:r>
            <a:r>
              <a:rPr lang="el-GR" dirty="0"/>
              <a:t> είναι η </a:t>
            </a:r>
            <a:r>
              <a:rPr lang="en-US" dirty="0"/>
              <a:t>content bases analysis </a:t>
            </a:r>
            <a:r>
              <a:rPr lang="el-GR" dirty="0"/>
              <a:t>στη </a:t>
            </a:r>
            <a:r>
              <a:rPr lang="el-GR" dirty="0" err="1"/>
              <a:t>οποιο</a:t>
            </a:r>
            <a:r>
              <a:rPr lang="el-GR" dirty="0"/>
              <a:t> </a:t>
            </a:r>
            <a:r>
              <a:rPr lang="el-GR" dirty="0" err="1"/>
              <a:t>εξεταζει</a:t>
            </a:r>
            <a:r>
              <a:rPr lang="el-GR" dirty="0"/>
              <a:t> και </a:t>
            </a:r>
            <a:r>
              <a:rPr lang="el-GR" dirty="0" err="1"/>
              <a:t>μαθαινει</a:t>
            </a:r>
            <a:r>
              <a:rPr lang="el-GR" dirty="0"/>
              <a:t> ο </a:t>
            </a:r>
            <a:r>
              <a:rPr lang="el-GR" dirty="0" err="1"/>
              <a:t>αλγοριθμοσ</a:t>
            </a:r>
            <a:r>
              <a:rPr lang="el-GR" dirty="0"/>
              <a:t> </a:t>
            </a:r>
            <a:r>
              <a:rPr lang="el-GR" dirty="0" err="1"/>
              <a:t>γυρω</a:t>
            </a:r>
            <a:r>
              <a:rPr lang="el-GR" dirty="0"/>
              <a:t> από </a:t>
            </a:r>
            <a:r>
              <a:rPr lang="el-GR" dirty="0" err="1"/>
              <a:t>στυλιστικες</a:t>
            </a:r>
            <a:r>
              <a:rPr lang="el-GR" dirty="0"/>
              <a:t> και </a:t>
            </a:r>
            <a:r>
              <a:rPr lang="el-GR" dirty="0" err="1"/>
              <a:t>γλωσσικες</a:t>
            </a:r>
            <a:r>
              <a:rPr lang="el-GR" dirty="0"/>
              <a:t> </a:t>
            </a:r>
            <a:r>
              <a:rPr lang="el-GR" dirty="0" err="1"/>
              <a:t>αλληλουχιες</a:t>
            </a:r>
            <a:r>
              <a:rPr lang="el-GR" dirty="0"/>
              <a:t> πχ </a:t>
            </a:r>
            <a:r>
              <a:rPr lang="el-GR" dirty="0" err="1"/>
              <a:t>θαυμαστικα</a:t>
            </a:r>
            <a:r>
              <a:rPr lang="el-GR" dirty="0"/>
              <a:t> </a:t>
            </a:r>
            <a:r>
              <a:rPr lang="el-GR" dirty="0" err="1"/>
              <a:t>πολλα</a:t>
            </a:r>
            <a:r>
              <a:rPr lang="el-GR" dirty="0"/>
              <a:t> , </a:t>
            </a:r>
            <a:r>
              <a:rPr lang="el-GR" dirty="0" err="1"/>
              <a:t>τελιτσες</a:t>
            </a:r>
            <a:r>
              <a:rPr lang="el-GR" dirty="0"/>
              <a:t>. </a:t>
            </a:r>
            <a:r>
              <a:rPr lang="el-GR" dirty="0" err="1"/>
              <a:t>Δευτερον</a:t>
            </a:r>
            <a:r>
              <a:rPr lang="el-GR" dirty="0"/>
              <a:t> είναι η </a:t>
            </a:r>
            <a:r>
              <a:rPr lang="en-US" dirty="0"/>
              <a:t>metadata analysis </a:t>
            </a:r>
            <a:r>
              <a:rPr lang="el-GR" dirty="0"/>
              <a:t>στην </a:t>
            </a:r>
            <a:r>
              <a:rPr lang="el-GR" dirty="0" err="1"/>
              <a:t>οποια</a:t>
            </a:r>
            <a:r>
              <a:rPr lang="el-GR" dirty="0"/>
              <a:t> </a:t>
            </a:r>
            <a:r>
              <a:rPr lang="el-GR" dirty="0" err="1"/>
              <a:t>ελεγχονται</a:t>
            </a:r>
            <a:r>
              <a:rPr lang="el-GR" dirty="0"/>
              <a:t> </a:t>
            </a:r>
            <a:r>
              <a:rPr lang="en-US" dirty="0"/>
              <a:t>metadata </a:t>
            </a:r>
            <a:r>
              <a:rPr lang="el-GR" dirty="0" err="1"/>
              <a:t>πληροφοριεσ</a:t>
            </a:r>
            <a:r>
              <a:rPr lang="el-GR" dirty="0"/>
              <a:t> όπως  </a:t>
            </a:r>
            <a:r>
              <a:rPr lang="el-GR" dirty="0" err="1"/>
              <a:t>συγραφεας</a:t>
            </a:r>
            <a:r>
              <a:rPr lang="el-GR" dirty="0"/>
              <a:t> του </a:t>
            </a:r>
            <a:r>
              <a:rPr lang="el-GR" dirty="0" err="1"/>
              <a:t>αθρου</a:t>
            </a:r>
            <a:r>
              <a:rPr lang="el-GR" dirty="0"/>
              <a:t> η </a:t>
            </a:r>
            <a:r>
              <a:rPr lang="el-GR" dirty="0" err="1"/>
              <a:t>ποστ</a:t>
            </a:r>
            <a:r>
              <a:rPr lang="el-GR" dirty="0"/>
              <a:t> αν είναι </a:t>
            </a:r>
            <a:r>
              <a:rPr lang="el-GR" dirty="0" err="1"/>
              <a:t>εμπιστοσ</a:t>
            </a:r>
            <a:r>
              <a:rPr lang="el-GR" dirty="0"/>
              <a:t> η όχι , αν </a:t>
            </a:r>
            <a:r>
              <a:rPr lang="el-GR" dirty="0" err="1"/>
              <a:t>δηλαδη</a:t>
            </a:r>
            <a:r>
              <a:rPr lang="el-GR" dirty="0"/>
              <a:t> κατά </a:t>
            </a:r>
            <a:r>
              <a:rPr lang="el-GR" dirty="0" err="1"/>
              <a:t>συρροη</a:t>
            </a:r>
            <a:r>
              <a:rPr lang="el-GR" dirty="0"/>
              <a:t> </a:t>
            </a:r>
            <a:r>
              <a:rPr lang="el-GR" dirty="0" err="1"/>
              <a:t>δημοσιευει</a:t>
            </a:r>
            <a:r>
              <a:rPr lang="el-GR" dirty="0"/>
              <a:t> </a:t>
            </a:r>
            <a:r>
              <a:rPr lang="el-GR" dirty="0" err="1"/>
              <a:t>ψυδες</a:t>
            </a:r>
            <a:r>
              <a:rPr lang="el-GR" dirty="0"/>
              <a:t> </a:t>
            </a:r>
            <a:r>
              <a:rPr lang="el-GR" dirty="0" err="1"/>
              <a:t>ειδησεις</a:t>
            </a:r>
            <a:r>
              <a:rPr lang="el-GR" dirty="0"/>
              <a:t> και </a:t>
            </a:r>
            <a:r>
              <a:rPr lang="el-GR" dirty="0" err="1"/>
              <a:t>κατ</a:t>
            </a:r>
            <a:r>
              <a:rPr lang="el-GR" dirty="0"/>
              <a:t> </a:t>
            </a:r>
            <a:r>
              <a:rPr lang="el-GR" dirty="0" err="1"/>
              <a:t>ασυνεπεια</a:t>
            </a:r>
            <a:r>
              <a:rPr lang="el-GR" dirty="0"/>
              <a:t> τα </a:t>
            </a:r>
            <a:r>
              <a:rPr lang="en-US" dirty="0" err="1"/>
              <a:t>url</a:t>
            </a:r>
            <a:r>
              <a:rPr lang="en-US" dirty="0"/>
              <a:t> </a:t>
            </a:r>
            <a:r>
              <a:rPr lang="el-GR" dirty="0"/>
              <a:t>των </a:t>
            </a:r>
            <a:r>
              <a:rPr lang="el-GR" dirty="0" err="1"/>
              <a:t>ιστοσελιδων</a:t>
            </a:r>
            <a:r>
              <a:rPr lang="el-GR" dirty="0"/>
              <a:t>. </a:t>
            </a:r>
            <a:r>
              <a:rPr lang="el-GR" dirty="0" err="1"/>
              <a:t>Τριτο</a:t>
            </a:r>
            <a:r>
              <a:rPr lang="el-GR" dirty="0"/>
              <a:t> είναι η </a:t>
            </a:r>
            <a:r>
              <a:rPr lang="en-US" dirty="0"/>
              <a:t>propagation based analysis </a:t>
            </a:r>
            <a:r>
              <a:rPr lang="el-GR" dirty="0" err="1"/>
              <a:t>οπου</a:t>
            </a:r>
            <a:r>
              <a:rPr lang="el-GR" dirty="0"/>
              <a:t> </a:t>
            </a:r>
            <a:r>
              <a:rPr lang="el-GR" dirty="0" err="1"/>
              <a:t>εξεταζει</a:t>
            </a:r>
            <a:r>
              <a:rPr lang="el-GR" dirty="0"/>
              <a:t> το πως οι </a:t>
            </a:r>
            <a:r>
              <a:rPr lang="el-GR" dirty="0" err="1"/>
              <a:t>δημοσιευσεις</a:t>
            </a:r>
            <a:r>
              <a:rPr lang="el-GR" dirty="0"/>
              <a:t> αυτές </a:t>
            </a:r>
            <a:r>
              <a:rPr lang="el-GR" dirty="0" err="1"/>
              <a:t>κυκλοφορουν</a:t>
            </a:r>
            <a:r>
              <a:rPr lang="el-GR" dirty="0"/>
              <a:t> </a:t>
            </a:r>
            <a:r>
              <a:rPr lang="el-GR" dirty="0" err="1"/>
              <a:t>μεσω</a:t>
            </a:r>
            <a:r>
              <a:rPr lang="el-GR" dirty="0"/>
              <a:t> του </a:t>
            </a:r>
            <a:r>
              <a:rPr lang="el-GR" dirty="0" err="1"/>
              <a:t>διαδικτυου</a:t>
            </a:r>
            <a:r>
              <a:rPr lang="el-GR" dirty="0"/>
              <a:t> όπως τα </a:t>
            </a:r>
            <a:r>
              <a:rPr lang="en-US" dirty="0"/>
              <a:t>reposts</a:t>
            </a:r>
            <a:r>
              <a:rPr lang="el-GR" dirty="0"/>
              <a:t> και </a:t>
            </a:r>
            <a:r>
              <a:rPr lang="en-US" dirty="0"/>
              <a:t>retweets </a:t>
            </a:r>
            <a:r>
              <a:rPr lang="el-GR" dirty="0"/>
              <a:t>. Τέταρτη είναι η </a:t>
            </a:r>
            <a:r>
              <a:rPr lang="en-US" dirty="0"/>
              <a:t>sentiment analysis </a:t>
            </a:r>
            <a:r>
              <a:rPr lang="el-GR" dirty="0"/>
              <a:t>η </a:t>
            </a:r>
            <a:r>
              <a:rPr lang="el-GR" dirty="0" err="1"/>
              <a:t>οποια</a:t>
            </a:r>
            <a:r>
              <a:rPr lang="el-GR" dirty="0"/>
              <a:t> </a:t>
            </a:r>
            <a:r>
              <a:rPr lang="el-GR" dirty="0" err="1"/>
              <a:t>εξεταζει</a:t>
            </a:r>
            <a:r>
              <a:rPr lang="el-GR" dirty="0"/>
              <a:t> τον </a:t>
            </a:r>
            <a:r>
              <a:rPr lang="el-GR" dirty="0" err="1"/>
              <a:t>συναισθηματικο</a:t>
            </a:r>
            <a:r>
              <a:rPr lang="el-GR" dirty="0"/>
              <a:t> </a:t>
            </a:r>
            <a:r>
              <a:rPr lang="el-GR" dirty="0" err="1"/>
              <a:t>τονο</a:t>
            </a:r>
            <a:r>
              <a:rPr lang="el-GR" dirty="0"/>
              <a:t> </a:t>
            </a:r>
            <a:r>
              <a:rPr lang="el-GR" dirty="0" err="1"/>
              <a:t>μεσα</a:t>
            </a:r>
            <a:r>
              <a:rPr lang="el-GR" dirty="0"/>
              <a:t> στις </a:t>
            </a:r>
            <a:r>
              <a:rPr lang="el-GR" dirty="0" err="1"/>
              <a:t>λεξεις</a:t>
            </a:r>
            <a:r>
              <a:rPr lang="el-GR" dirty="0"/>
              <a:t> , </a:t>
            </a:r>
            <a:r>
              <a:rPr lang="el-GR" dirty="0" err="1"/>
              <a:t>δηλαδη</a:t>
            </a:r>
            <a:r>
              <a:rPr lang="el-GR" dirty="0"/>
              <a:t> αν </a:t>
            </a:r>
            <a:r>
              <a:rPr lang="el-GR" dirty="0" err="1"/>
              <a:t>υπ΄λαρχουν</a:t>
            </a:r>
            <a:r>
              <a:rPr lang="el-GR" dirty="0"/>
              <a:t> «</a:t>
            </a:r>
            <a:r>
              <a:rPr lang="el-GR" dirty="0" err="1"/>
              <a:t>βαριες</a:t>
            </a:r>
            <a:r>
              <a:rPr lang="el-GR" dirty="0"/>
              <a:t>» </a:t>
            </a:r>
            <a:r>
              <a:rPr lang="el-GR" dirty="0" err="1"/>
              <a:t>συναισθηαμτικες</a:t>
            </a:r>
            <a:r>
              <a:rPr lang="el-GR" dirty="0"/>
              <a:t> </a:t>
            </a:r>
            <a:r>
              <a:rPr lang="el-GR" dirty="0" err="1"/>
              <a:t>λεξεις</a:t>
            </a:r>
            <a:r>
              <a:rPr lang="el-GR" dirty="0"/>
              <a:t> όπως το </a:t>
            </a:r>
            <a:r>
              <a:rPr lang="el-GR" dirty="0" err="1"/>
              <a:t>αγαπω</a:t>
            </a:r>
            <a:r>
              <a:rPr lang="el-GR" dirty="0"/>
              <a:t> η το </a:t>
            </a:r>
            <a:r>
              <a:rPr lang="el-GR" dirty="0" err="1"/>
              <a:t>μισω</a:t>
            </a:r>
            <a:r>
              <a:rPr lang="el-GR" dirty="0"/>
              <a:t> για να </a:t>
            </a:r>
            <a:r>
              <a:rPr lang="el-GR" dirty="0" err="1"/>
              <a:t>δημιουργησουν</a:t>
            </a:r>
            <a:r>
              <a:rPr lang="el-GR" dirty="0"/>
              <a:t> </a:t>
            </a:r>
            <a:r>
              <a:rPr lang="el-GR" dirty="0" err="1"/>
              <a:t>ακραια</a:t>
            </a:r>
            <a:r>
              <a:rPr lang="el-GR" dirty="0"/>
              <a:t> </a:t>
            </a:r>
            <a:r>
              <a:rPr lang="el-GR" dirty="0" err="1"/>
              <a:t>συναισθηματα</a:t>
            </a:r>
            <a:r>
              <a:rPr lang="el-GR" dirty="0"/>
              <a:t> και να </a:t>
            </a:r>
            <a:r>
              <a:rPr lang="el-GR" dirty="0" err="1"/>
              <a:t>κανουν</a:t>
            </a:r>
            <a:r>
              <a:rPr lang="el-GR" dirty="0"/>
              <a:t> τα </a:t>
            </a:r>
            <a:r>
              <a:rPr lang="el-GR" dirty="0" err="1"/>
              <a:t>αρθρα</a:t>
            </a:r>
            <a:r>
              <a:rPr lang="el-GR" dirty="0"/>
              <a:t> πιο </a:t>
            </a:r>
            <a:r>
              <a:rPr lang="el-GR" dirty="0" err="1"/>
              <a:t>ελκυσιμα</a:t>
            </a:r>
            <a:r>
              <a:rPr lang="el-GR" dirty="0"/>
              <a:t>. </a:t>
            </a:r>
            <a:r>
              <a:rPr lang="el-GR" dirty="0" err="1"/>
              <a:t>Τελος</a:t>
            </a:r>
            <a:r>
              <a:rPr lang="el-GR" dirty="0"/>
              <a:t> </a:t>
            </a:r>
            <a:r>
              <a:rPr lang="el-GR" dirty="0" err="1"/>
              <a:t>υπαρχει</a:t>
            </a:r>
            <a:r>
              <a:rPr lang="el-GR" dirty="0"/>
              <a:t> η </a:t>
            </a:r>
            <a:r>
              <a:rPr lang="en-US" dirty="0"/>
              <a:t>hybrid analysis </a:t>
            </a:r>
            <a:r>
              <a:rPr lang="el-GR" dirty="0"/>
              <a:t>η </a:t>
            </a:r>
            <a:r>
              <a:rPr lang="el-GR" dirty="0" err="1"/>
              <a:t>οποια</a:t>
            </a:r>
            <a:r>
              <a:rPr lang="el-GR" dirty="0"/>
              <a:t> στην </a:t>
            </a:r>
            <a:r>
              <a:rPr lang="el-GR" dirty="0" err="1"/>
              <a:t>ουσια</a:t>
            </a:r>
            <a:r>
              <a:rPr lang="el-GR" dirty="0"/>
              <a:t> </a:t>
            </a:r>
            <a:r>
              <a:rPr lang="el-GR" dirty="0" err="1"/>
              <a:t>συνδιαζει</a:t>
            </a:r>
            <a:r>
              <a:rPr lang="el-GR" dirty="0"/>
              <a:t> </a:t>
            </a:r>
            <a:r>
              <a:rPr lang="el-GR" dirty="0" err="1"/>
              <a:t>τουλαχιστον</a:t>
            </a:r>
            <a:r>
              <a:rPr lang="el-GR" dirty="0"/>
              <a:t> δυο </a:t>
            </a:r>
            <a:r>
              <a:rPr lang="el-GR" dirty="0" err="1"/>
              <a:t>αποτ</a:t>
            </a:r>
            <a:r>
              <a:rPr lang="el-GR" dirty="0"/>
              <a:t> α </a:t>
            </a:r>
            <a:r>
              <a:rPr lang="el-GR" dirty="0" err="1"/>
              <a:t>παραπανω</a:t>
            </a:r>
            <a:r>
              <a:rPr lang="el-GR" dirty="0"/>
              <a:t> </a:t>
            </a:r>
            <a:r>
              <a:rPr lang="en-US" dirty="0"/>
              <a:t>Logistic perspectives </a:t>
            </a:r>
            <a:r>
              <a:rPr lang="el-GR" dirty="0" err="1"/>
              <a:t>ταυτοχρονα</a:t>
            </a:r>
            <a:r>
              <a:rPr lang="el-GR" dirty="0"/>
              <a:t>. Αυτά τα 5 </a:t>
            </a:r>
            <a:r>
              <a:rPr lang="en-US" dirty="0"/>
              <a:t>logistic perspectives </a:t>
            </a:r>
            <a:r>
              <a:rPr lang="el-GR" dirty="0" err="1"/>
              <a:t>μεχρι</a:t>
            </a:r>
            <a:r>
              <a:rPr lang="el-GR" dirty="0"/>
              <a:t> </a:t>
            </a:r>
            <a:r>
              <a:rPr lang="el-GR" dirty="0" err="1"/>
              <a:t>στιγμης</a:t>
            </a:r>
            <a:r>
              <a:rPr lang="el-GR" dirty="0"/>
              <a:t> </a:t>
            </a:r>
            <a:r>
              <a:rPr lang="el-GR" dirty="0" err="1"/>
              <a:t>προσεγγιζοντια</a:t>
            </a:r>
            <a:r>
              <a:rPr lang="el-GR" dirty="0"/>
              <a:t> από τους </a:t>
            </a:r>
            <a:r>
              <a:rPr lang="en-US" dirty="0" err="1"/>
              <a:t>develoeprs</a:t>
            </a:r>
            <a:r>
              <a:rPr lang="en-US" dirty="0"/>
              <a:t> </a:t>
            </a:r>
            <a:r>
              <a:rPr lang="el-GR" dirty="0"/>
              <a:t>από 3 </a:t>
            </a:r>
            <a:r>
              <a:rPr lang="el-GR" dirty="0" err="1"/>
              <a:t>ειδη</a:t>
            </a:r>
            <a:r>
              <a:rPr lang="el-GR" dirty="0"/>
              <a:t> </a:t>
            </a:r>
            <a:r>
              <a:rPr lang="el-GR" dirty="0" err="1"/>
              <a:t>τεχνικων</a:t>
            </a:r>
            <a:r>
              <a:rPr lang="el-GR" dirty="0"/>
              <a:t> το </a:t>
            </a:r>
            <a:r>
              <a:rPr lang="en-US" dirty="0"/>
              <a:t>machine learning </a:t>
            </a:r>
            <a:r>
              <a:rPr lang="el-GR" dirty="0"/>
              <a:t>, το </a:t>
            </a:r>
            <a:r>
              <a:rPr lang="el-GR" dirty="0" err="1"/>
              <a:t>οποιο</a:t>
            </a:r>
            <a:r>
              <a:rPr lang="el-GR" dirty="0"/>
              <a:t> </a:t>
            </a:r>
            <a:r>
              <a:rPr lang="el-GR" dirty="0" err="1"/>
              <a:t>χρησιμοποιη</a:t>
            </a:r>
            <a:r>
              <a:rPr lang="el-GR" dirty="0"/>
              <a:t> </a:t>
            </a:r>
            <a:r>
              <a:rPr lang="el-GR" dirty="0" err="1"/>
              <a:t>χειρογραφα</a:t>
            </a:r>
            <a:r>
              <a:rPr lang="el-GR" dirty="0"/>
              <a:t> </a:t>
            </a:r>
            <a:r>
              <a:rPr lang="en-US" dirty="0"/>
              <a:t>features </a:t>
            </a:r>
            <a:r>
              <a:rPr lang="el-GR" dirty="0"/>
              <a:t> </a:t>
            </a:r>
            <a:r>
              <a:rPr lang="en-US" dirty="0" err="1"/>
              <a:t>modela</a:t>
            </a:r>
            <a:r>
              <a:rPr lang="en-US" dirty="0"/>
              <a:t> </a:t>
            </a:r>
            <a:r>
              <a:rPr lang="el-GR" dirty="0"/>
              <a:t>όπως </a:t>
            </a:r>
            <a:r>
              <a:rPr lang="en-US" dirty="0" err="1"/>
              <a:t>svm</a:t>
            </a:r>
            <a:r>
              <a:rPr lang="en-US" dirty="0"/>
              <a:t> or Logistic regression. </a:t>
            </a:r>
            <a:r>
              <a:rPr lang="el-GR" dirty="0"/>
              <a:t>Το </a:t>
            </a:r>
            <a:r>
              <a:rPr lang="en-US" dirty="0"/>
              <a:t>deep learning </a:t>
            </a:r>
            <a:r>
              <a:rPr lang="el-GR" dirty="0"/>
              <a:t>το </a:t>
            </a:r>
            <a:r>
              <a:rPr lang="el-GR" dirty="0" err="1"/>
              <a:t>οποιο</a:t>
            </a:r>
            <a:r>
              <a:rPr lang="el-GR" dirty="0"/>
              <a:t> </a:t>
            </a:r>
            <a:r>
              <a:rPr lang="el-GR" dirty="0" err="1"/>
              <a:t>εφαρμοζει</a:t>
            </a:r>
            <a:r>
              <a:rPr lang="el-GR" dirty="0"/>
              <a:t> </a:t>
            </a:r>
            <a:r>
              <a:rPr lang="el-GR" dirty="0" err="1"/>
              <a:t>νευρωνικα</a:t>
            </a:r>
            <a:r>
              <a:rPr lang="el-GR" dirty="0"/>
              <a:t> </a:t>
            </a:r>
            <a:r>
              <a:rPr lang="el-GR" dirty="0" err="1"/>
              <a:t>δικτυα</a:t>
            </a:r>
            <a:r>
              <a:rPr lang="el-GR" dirty="0"/>
              <a:t> </a:t>
            </a:r>
            <a:r>
              <a:rPr lang="en-US" dirty="0"/>
              <a:t>like </a:t>
            </a:r>
            <a:r>
              <a:rPr lang="en-US" dirty="0" err="1"/>
              <a:t>rnns</a:t>
            </a:r>
            <a:r>
              <a:rPr lang="en-US" dirty="0"/>
              <a:t> , </a:t>
            </a:r>
            <a:r>
              <a:rPr lang="en-US" dirty="0" err="1"/>
              <a:t>cnns</a:t>
            </a:r>
            <a:r>
              <a:rPr lang="en-US" dirty="0"/>
              <a:t> </a:t>
            </a:r>
            <a:r>
              <a:rPr lang="el-GR" dirty="0"/>
              <a:t>και </a:t>
            </a:r>
            <a:r>
              <a:rPr lang="el-GR" dirty="0" err="1"/>
              <a:t>αυτοματοποιημεναη</a:t>
            </a:r>
            <a:r>
              <a:rPr lang="el-GR" dirty="0"/>
              <a:t> </a:t>
            </a:r>
            <a:r>
              <a:rPr lang="el-GR" dirty="0" err="1"/>
              <a:t>εξαγωγη</a:t>
            </a:r>
            <a:r>
              <a:rPr lang="el-GR" dirty="0"/>
              <a:t> </a:t>
            </a:r>
            <a:r>
              <a:rPr lang="el-GR" dirty="0" err="1"/>
              <a:t>παραγοντνων</a:t>
            </a:r>
            <a:r>
              <a:rPr lang="el-GR" dirty="0"/>
              <a:t>. Και </a:t>
            </a:r>
            <a:r>
              <a:rPr lang="el-GR" dirty="0" err="1"/>
              <a:t>ξανα</a:t>
            </a:r>
            <a:r>
              <a:rPr lang="el-GR" dirty="0"/>
              <a:t> η </a:t>
            </a:r>
            <a:r>
              <a:rPr lang="en-US" dirty="0"/>
              <a:t>hybrid </a:t>
            </a:r>
            <a:r>
              <a:rPr lang="el-GR" dirty="0" err="1"/>
              <a:t>μεθοδοση</a:t>
            </a:r>
            <a:r>
              <a:rPr lang="el-GR" dirty="0"/>
              <a:t> </a:t>
            </a:r>
            <a:r>
              <a:rPr lang="el-GR" dirty="0" err="1"/>
              <a:t>οποιο</a:t>
            </a:r>
            <a:r>
              <a:rPr lang="el-GR" dirty="0"/>
              <a:t> </a:t>
            </a:r>
            <a:r>
              <a:rPr lang="el-GR" dirty="0" err="1"/>
              <a:t>συνδιαζει</a:t>
            </a:r>
            <a:r>
              <a:rPr lang="el-GR" dirty="0"/>
              <a:t> </a:t>
            </a:r>
            <a:r>
              <a:rPr lang="en-US" dirty="0"/>
              <a:t>ml kai dl techniques.</a:t>
            </a:r>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5</a:t>
            </a:fld>
            <a:endParaRPr lang="el-GR"/>
          </a:p>
        </p:txBody>
      </p:sp>
    </p:spTree>
    <p:extLst>
      <p:ext uri="{BB962C8B-B14F-4D97-AF65-F5344CB8AC3E}">
        <p14:creationId xmlns:p14="http://schemas.microsoft.com/office/powerpoint/2010/main" val="2389632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err="1"/>
              <a:t>Γυρω</a:t>
            </a:r>
            <a:r>
              <a:rPr lang="el-GR" dirty="0"/>
              <a:t> </a:t>
            </a:r>
            <a:r>
              <a:rPr lang="en-US" dirty="0"/>
              <a:t> apo ta ml </a:t>
            </a:r>
            <a:r>
              <a:rPr lang="el-GR" dirty="0" err="1"/>
              <a:t>εξερευνησαμε</a:t>
            </a:r>
            <a:r>
              <a:rPr lang="el-GR" dirty="0"/>
              <a:t> το </a:t>
            </a:r>
            <a:r>
              <a:rPr lang="el-GR" dirty="0" err="1"/>
              <a:t>αρθρο</a:t>
            </a:r>
            <a:r>
              <a:rPr lang="el-GR" dirty="0"/>
              <a:t> των </a:t>
            </a:r>
            <a:r>
              <a:rPr lang="en-US" dirty="0" err="1"/>
              <a:t>perez</a:t>
            </a:r>
            <a:r>
              <a:rPr lang="en-US" dirty="0"/>
              <a:t> kai </a:t>
            </a:r>
            <a:r>
              <a:rPr lang="en-US" dirty="0" err="1"/>
              <a:t>rosas</a:t>
            </a:r>
            <a:r>
              <a:rPr lang="en-US" dirty="0"/>
              <a:t> </a:t>
            </a:r>
            <a:r>
              <a:rPr lang="el-GR" dirty="0"/>
              <a:t>που </a:t>
            </a:r>
            <a:r>
              <a:rPr lang="el-GR" dirty="0" err="1"/>
              <a:t>εκαναν</a:t>
            </a:r>
            <a:r>
              <a:rPr lang="el-GR" dirty="0"/>
              <a:t> </a:t>
            </a:r>
            <a:r>
              <a:rPr lang="el-GR" dirty="0" err="1"/>
              <a:t>χρηση</a:t>
            </a:r>
            <a:r>
              <a:rPr lang="el-GR" dirty="0"/>
              <a:t> </a:t>
            </a:r>
            <a:r>
              <a:rPr lang="en-US" dirty="0" err="1"/>
              <a:t>svm</a:t>
            </a:r>
            <a:r>
              <a:rPr lang="en-US" dirty="0"/>
              <a:t> </a:t>
            </a:r>
            <a:r>
              <a:rPr lang="el-GR" dirty="0" err="1"/>
              <a:t>αλγοριθμου</a:t>
            </a:r>
            <a:r>
              <a:rPr lang="el-GR" dirty="0"/>
              <a:t>, </a:t>
            </a:r>
            <a:r>
              <a:rPr lang="en-US" dirty="0" err="1"/>
              <a:t>tacchini</a:t>
            </a:r>
            <a:r>
              <a:rPr lang="en-US" dirty="0"/>
              <a:t> – logistic regression, </a:t>
            </a:r>
            <a:r>
              <a:rPr lang="el-GR" dirty="0"/>
              <a:t>και </a:t>
            </a:r>
            <a:r>
              <a:rPr lang="en-US" dirty="0"/>
              <a:t>wang (2017) combination </a:t>
            </a:r>
            <a:r>
              <a:rPr lang="en-US" dirty="0" err="1"/>
              <a:t>svm</a:t>
            </a:r>
            <a:r>
              <a:rPr lang="en-US" dirty="0"/>
              <a:t> kai </a:t>
            </a:r>
            <a:r>
              <a:rPr lang="en-US" dirty="0" err="1"/>
              <a:t>lr</a:t>
            </a:r>
            <a:r>
              <a:rPr lang="en-US" dirty="0"/>
              <a:t>.</a:t>
            </a:r>
            <a:br>
              <a:rPr lang="en-US" dirty="0"/>
            </a:br>
            <a:r>
              <a:rPr lang="en-US" dirty="0"/>
              <a:t>DL-&gt; </a:t>
            </a:r>
            <a:r>
              <a:rPr lang="en-US" dirty="0" err="1"/>
              <a:t>gcn</a:t>
            </a:r>
            <a:r>
              <a:rPr lang="en-US" dirty="0"/>
              <a:t> model </a:t>
            </a:r>
            <a:r>
              <a:rPr lang="el-GR" dirty="0" err="1"/>
              <a:t>χρησιμοποιοντας</a:t>
            </a:r>
            <a:r>
              <a:rPr lang="el-GR" dirty="0"/>
              <a:t> </a:t>
            </a:r>
            <a:r>
              <a:rPr lang="en-US" dirty="0"/>
              <a:t>propagation twitter patterns, wang (2017) </a:t>
            </a:r>
            <a:r>
              <a:rPr lang="en-US" dirty="0" err="1"/>
              <a:t>cnn</a:t>
            </a:r>
            <a:r>
              <a:rPr lang="en-US" dirty="0"/>
              <a:t> model using metadata, Qi with multi-domain </a:t>
            </a:r>
            <a:r>
              <a:rPr lang="en-US" dirty="0" err="1"/>
              <a:t>cnn</a:t>
            </a:r>
            <a:r>
              <a:rPr lang="en-US" dirty="0"/>
              <a:t> image bases misinformation.</a:t>
            </a:r>
            <a:br>
              <a:rPr lang="en-US" dirty="0"/>
            </a:br>
            <a:r>
              <a:rPr lang="en-US" dirty="0"/>
              <a:t>Hybrid-&gt; CSI model </a:t>
            </a:r>
            <a:r>
              <a:rPr lang="el-GR" dirty="0" err="1"/>
              <a:t>συνδιαζοντας</a:t>
            </a:r>
            <a:r>
              <a:rPr lang="el-GR" dirty="0"/>
              <a:t> </a:t>
            </a:r>
            <a:r>
              <a:rPr lang="en-US" dirty="0"/>
              <a:t>content analysis kai </a:t>
            </a:r>
            <a:r>
              <a:rPr lang="en-US" dirty="0" err="1"/>
              <a:t>metada</a:t>
            </a:r>
            <a:r>
              <a:rPr lang="en-US" dirty="0"/>
              <a:t> behavior scoring, Shu </a:t>
            </a:r>
            <a:r>
              <a:rPr lang="en-US" dirty="0" err="1"/>
              <a:t>TriFN</a:t>
            </a:r>
            <a:r>
              <a:rPr lang="en-US" dirty="0"/>
              <a:t> </a:t>
            </a:r>
            <a:r>
              <a:rPr lang="el-GR" dirty="0" err="1"/>
              <a:t>εκανε</a:t>
            </a:r>
            <a:r>
              <a:rPr lang="el-GR" dirty="0"/>
              <a:t> </a:t>
            </a:r>
            <a:r>
              <a:rPr lang="el-GR" dirty="0" err="1"/>
              <a:t>χρηση</a:t>
            </a:r>
            <a:r>
              <a:rPr lang="el-GR" dirty="0"/>
              <a:t> </a:t>
            </a:r>
            <a:r>
              <a:rPr lang="en-US" dirty="0"/>
              <a:t>embeddings </a:t>
            </a:r>
            <a:r>
              <a:rPr lang="el-GR" dirty="0"/>
              <a:t>για το </a:t>
            </a:r>
            <a:r>
              <a:rPr lang="en-US" dirty="0"/>
              <a:t>content analysis , </a:t>
            </a:r>
            <a:r>
              <a:rPr lang="en-US" dirty="0" err="1"/>
              <a:t>alla</a:t>
            </a:r>
            <a:r>
              <a:rPr lang="en-US" dirty="0"/>
              <a:t> kai metadata</a:t>
            </a:r>
            <a:r>
              <a:rPr lang="el-GR" dirty="0"/>
              <a:t> με </a:t>
            </a:r>
            <a:r>
              <a:rPr lang="en-US" dirty="0"/>
              <a:t>publisher bias, Wu </a:t>
            </a:r>
            <a:r>
              <a:rPr lang="el-GR" dirty="0"/>
              <a:t>που </a:t>
            </a:r>
            <a:r>
              <a:rPr lang="el-GR" dirty="0" err="1"/>
              <a:t>συνδιασε</a:t>
            </a:r>
            <a:r>
              <a:rPr lang="el-GR" dirty="0"/>
              <a:t> </a:t>
            </a:r>
            <a:r>
              <a:rPr lang="en-US" dirty="0"/>
              <a:t>RCNN </a:t>
            </a:r>
            <a:r>
              <a:rPr lang="el-GR" dirty="0"/>
              <a:t>και </a:t>
            </a:r>
            <a:r>
              <a:rPr lang="en-US" dirty="0"/>
              <a:t>Bi-LSTM.</a:t>
            </a:r>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6</a:t>
            </a:fld>
            <a:endParaRPr lang="el-GR"/>
          </a:p>
        </p:txBody>
      </p:sp>
    </p:spTree>
    <p:extLst>
      <p:ext uri="{BB962C8B-B14F-4D97-AF65-F5344CB8AC3E}">
        <p14:creationId xmlns:p14="http://schemas.microsoft.com/office/powerpoint/2010/main" val="117943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Ας </a:t>
            </a:r>
            <a:r>
              <a:rPr lang="el-GR" dirty="0" err="1"/>
              <a:t>προχωρησουμε</a:t>
            </a:r>
            <a:r>
              <a:rPr lang="el-GR" dirty="0"/>
              <a:t> </a:t>
            </a:r>
            <a:r>
              <a:rPr lang="el-GR" dirty="0" err="1"/>
              <a:t>λοιπον</a:t>
            </a:r>
            <a:r>
              <a:rPr lang="el-GR" dirty="0"/>
              <a:t> στην </a:t>
            </a:r>
            <a:r>
              <a:rPr lang="el-GR" dirty="0" err="1"/>
              <a:t>επομενη</a:t>
            </a:r>
            <a:r>
              <a:rPr lang="el-GR" dirty="0"/>
              <a:t> </a:t>
            </a:r>
            <a:r>
              <a:rPr lang="el-GR" dirty="0" err="1"/>
              <a:t>ενοτητα</a:t>
            </a:r>
            <a:r>
              <a:rPr lang="el-GR" dirty="0"/>
              <a:t> που θα </a:t>
            </a:r>
            <a:r>
              <a:rPr lang="el-GR" dirty="0" err="1"/>
              <a:t>δουμε</a:t>
            </a:r>
            <a:r>
              <a:rPr lang="el-GR" dirty="0"/>
              <a:t> πιο </a:t>
            </a:r>
            <a:r>
              <a:rPr lang="el-GR" dirty="0" err="1"/>
              <a:t>αναλυτικα</a:t>
            </a:r>
            <a:r>
              <a:rPr lang="el-GR" dirty="0"/>
              <a:t> την </a:t>
            </a:r>
            <a:r>
              <a:rPr lang="el-GR" dirty="0" err="1"/>
              <a:t>αρχιτεκτονικη</a:t>
            </a:r>
            <a:r>
              <a:rPr lang="el-GR" dirty="0"/>
              <a:t> του </a:t>
            </a:r>
            <a:r>
              <a:rPr lang="el-GR" dirty="0" err="1"/>
              <a:t>συστηματος</a:t>
            </a:r>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7</a:t>
            </a:fld>
            <a:endParaRPr lang="el-GR"/>
          </a:p>
        </p:txBody>
      </p:sp>
    </p:spTree>
    <p:extLst>
      <p:ext uri="{BB962C8B-B14F-4D97-AF65-F5344CB8AC3E}">
        <p14:creationId xmlns:p14="http://schemas.microsoft.com/office/powerpoint/2010/main" val="2420774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lvl="1"/>
            <a:r>
              <a:rPr lang="el-GR" dirty="0"/>
              <a:t>Εδώ θα </a:t>
            </a:r>
            <a:r>
              <a:rPr lang="el-GR" dirty="0" err="1"/>
              <a:t>παρουσιασουμε</a:t>
            </a:r>
            <a:r>
              <a:rPr lang="el-GR" dirty="0"/>
              <a:t> την </a:t>
            </a:r>
            <a:r>
              <a:rPr lang="el-GR" dirty="0" err="1"/>
              <a:t>αρχιτεκτονικη</a:t>
            </a:r>
            <a:r>
              <a:rPr lang="el-GR" dirty="0"/>
              <a:t> μας. </a:t>
            </a:r>
            <a:r>
              <a:rPr lang="el-GR" dirty="0" err="1"/>
              <a:t>Βλεπουμε</a:t>
            </a:r>
            <a:r>
              <a:rPr lang="el-GR" dirty="0"/>
              <a:t> ένα </a:t>
            </a:r>
            <a:r>
              <a:rPr lang="en-US" dirty="0"/>
              <a:t>pipeline </a:t>
            </a:r>
            <a:r>
              <a:rPr lang="el-GR" dirty="0"/>
              <a:t>από 6 </a:t>
            </a:r>
            <a:r>
              <a:rPr lang="el-GR" dirty="0" err="1"/>
              <a:t>διαφορειτκους</a:t>
            </a:r>
            <a:r>
              <a:rPr lang="el-GR" dirty="0"/>
              <a:t> </a:t>
            </a:r>
            <a:r>
              <a:rPr lang="en-US" dirty="0"/>
              <a:t>agent </a:t>
            </a:r>
            <a:r>
              <a:rPr lang="el-GR" dirty="0"/>
              <a:t>οι οποίου κάνουν </a:t>
            </a:r>
            <a:r>
              <a:rPr lang="el-GR" dirty="0" err="1"/>
              <a:t>χρηση</a:t>
            </a:r>
            <a:r>
              <a:rPr lang="el-GR" dirty="0"/>
              <a:t> του </a:t>
            </a:r>
            <a:r>
              <a:rPr lang="en-US" dirty="0" err="1"/>
              <a:t>llm</a:t>
            </a:r>
            <a:r>
              <a:rPr lang="en-US" dirty="0"/>
              <a:t> </a:t>
            </a:r>
            <a:r>
              <a:rPr lang="el-GR" dirty="0"/>
              <a:t>της </a:t>
            </a:r>
            <a:r>
              <a:rPr lang="en-US" dirty="0" err="1"/>
              <a:t>openai</a:t>
            </a:r>
            <a:r>
              <a:rPr lang="en-US" dirty="0"/>
              <a:t> </a:t>
            </a:r>
            <a:r>
              <a:rPr lang="el-GR" dirty="0"/>
              <a:t>το 4</a:t>
            </a:r>
            <a:r>
              <a:rPr lang="el-GR" baseline="30000" dirty="0"/>
              <a:t>ο</a:t>
            </a:r>
            <a:r>
              <a:rPr lang="el-GR" dirty="0"/>
              <a:t>-</a:t>
            </a:r>
            <a:r>
              <a:rPr lang="en-US" dirty="0"/>
              <a:t>mini. </a:t>
            </a:r>
            <a:r>
              <a:rPr lang="el-GR" dirty="0"/>
              <a:t>Το </a:t>
            </a:r>
            <a:r>
              <a:rPr lang="el-GR" dirty="0" err="1"/>
              <a:t>συγκερκιμένο</a:t>
            </a:r>
            <a:r>
              <a:rPr lang="el-GR" dirty="0"/>
              <a:t> </a:t>
            </a:r>
            <a:r>
              <a:rPr lang="en-US" dirty="0" err="1"/>
              <a:t>agentflow</a:t>
            </a:r>
            <a:r>
              <a:rPr lang="en-US" dirty="0"/>
              <a:t> </a:t>
            </a:r>
            <a:r>
              <a:rPr lang="el-GR" dirty="0" err="1"/>
              <a:t>δημιουργηθηκε</a:t>
            </a:r>
            <a:r>
              <a:rPr lang="el-GR" dirty="0"/>
              <a:t> στο </a:t>
            </a:r>
            <a:r>
              <a:rPr lang="en-US" dirty="0" err="1"/>
              <a:t>flowise</a:t>
            </a:r>
            <a:r>
              <a:rPr lang="en-US" dirty="0"/>
              <a:t> , </a:t>
            </a:r>
            <a:r>
              <a:rPr lang="el-GR" dirty="0"/>
              <a:t>μια </a:t>
            </a:r>
            <a:r>
              <a:rPr lang="el-GR" dirty="0" err="1"/>
              <a:t>τεχνολογια</a:t>
            </a:r>
            <a:r>
              <a:rPr lang="el-GR" dirty="0"/>
              <a:t> η οποία σου δίνει τη </a:t>
            </a:r>
            <a:r>
              <a:rPr lang="el-GR" dirty="0" err="1"/>
              <a:t>δυναντοτηα</a:t>
            </a:r>
            <a:r>
              <a:rPr lang="el-GR" dirty="0"/>
              <a:t> να </a:t>
            </a:r>
            <a:r>
              <a:rPr lang="el-GR" dirty="0" err="1"/>
              <a:t>δημιουργσεις</a:t>
            </a:r>
            <a:r>
              <a:rPr lang="el-GR" dirty="0"/>
              <a:t> </a:t>
            </a:r>
            <a:r>
              <a:rPr lang="en-US" dirty="0"/>
              <a:t>agents </a:t>
            </a:r>
            <a:r>
              <a:rPr lang="el-GR" dirty="0"/>
              <a:t>και να </a:t>
            </a:r>
            <a:r>
              <a:rPr lang="el-GR" dirty="0" err="1"/>
              <a:t>κανεις</a:t>
            </a:r>
            <a:r>
              <a:rPr lang="el-GR" dirty="0"/>
              <a:t> χρήση </a:t>
            </a:r>
            <a:r>
              <a:rPr lang="el-GR" dirty="0" err="1"/>
              <a:t>διαφορων</a:t>
            </a:r>
            <a:r>
              <a:rPr lang="el-GR" dirty="0"/>
              <a:t> </a:t>
            </a:r>
            <a:r>
              <a:rPr lang="el-GR" dirty="0" err="1"/>
              <a:t>εργαλεριων</a:t>
            </a:r>
            <a:r>
              <a:rPr lang="el-GR" dirty="0"/>
              <a:t> </a:t>
            </a:r>
            <a:r>
              <a:rPr lang="el-GR" dirty="0" err="1"/>
              <a:t>συνδεδεμενων</a:t>
            </a:r>
            <a:r>
              <a:rPr lang="el-GR" dirty="0"/>
              <a:t> με τους </a:t>
            </a:r>
            <a:r>
              <a:rPr lang="en-US" dirty="0"/>
              <a:t>agents codeless </a:t>
            </a:r>
            <a:r>
              <a:rPr lang="el-GR" dirty="0"/>
              <a:t> η με </a:t>
            </a:r>
            <a:r>
              <a:rPr lang="el-GR" dirty="0" err="1"/>
              <a:t>ελαχιστο</a:t>
            </a:r>
            <a:r>
              <a:rPr lang="el-GR" dirty="0"/>
              <a:t> </a:t>
            </a:r>
            <a:r>
              <a:rPr lang="el-GR" dirty="0" err="1"/>
              <a:t>κωδικα</a:t>
            </a:r>
            <a:r>
              <a:rPr lang="el-GR" dirty="0"/>
              <a:t>.</a:t>
            </a:r>
            <a:r>
              <a:rPr lang="en-US" dirty="0"/>
              <a:t> </a:t>
            </a:r>
            <a:r>
              <a:rPr lang="el-GR" dirty="0" err="1"/>
              <a:t>Αρχικα</a:t>
            </a:r>
            <a:r>
              <a:rPr lang="el-GR" dirty="0"/>
              <a:t> θα </a:t>
            </a:r>
            <a:r>
              <a:rPr lang="el-GR" dirty="0" err="1"/>
              <a:t>αναφερθουμε</a:t>
            </a:r>
            <a:r>
              <a:rPr lang="el-GR" dirty="0"/>
              <a:t> </a:t>
            </a:r>
            <a:r>
              <a:rPr lang="el-GR" dirty="0" err="1"/>
              <a:t>στηνα</a:t>
            </a:r>
            <a:r>
              <a:rPr lang="el-GR" dirty="0"/>
              <a:t> </a:t>
            </a:r>
            <a:r>
              <a:rPr lang="el-GR" dirty="0" err="1"/>
              <a:t>ρχιτεκτονικη</a:t>
            </a:r>
            <a:r>
              <a:rPr lang="el-GR" dirty="0"/>
              <a:t> ως </a:t>
            </a:r>
            <a:r>
              <a:rPr lang="el-GR" dirty="0" err="1"/>
              <a:t>αρχιτεκτονικη</a:t>
            </a:r>
            <a:r>
              <a:rPr lang="el-GR" dirty="0"/>
              <a:t> και πως </a:t>
            </a:r>
            <a:r>
              <a:rPr lang="el-GR" dirty="0" err="1"/>
              <a:t>δουλευει</a:t>
            </a:r>
            <a:r>
              <a:rPr lang="el-GR" dirty="0"/>
              <a:t> και </a:t>
            </a:r>
            <a:r>
              <a:rPr lang="el-GR" dirty="0" err="1"/>
              <a:t>επειτα</a:t>
            </a:r>
            <a:r>
              <a:rPr lang="el-GR" dirty="0"/>
              <a:t> θα </a:t>
            </a:r>
            <a:r>
              <a:rPr lang="el-GR" dirty="0" err="1"/>
              <a:t>κανουμε</a:t>
            </a:r>
            <a:r>
              <a:rPr lang="el-GR" dirty="0"/>
              <a:t> ένα </a:t>
            </a:r>
            <a:r>
              <a:rPr lang="el-GR" dirty="0" err="1"/>
              <a:t>εκτενες</a:t>
            </a:r>
            <a:r>
              <a:rPr lang="el-GR" dirty="0"/>
              <a:t> </a:t>
            </a:r>
            <a:r>
              <a:rPr lang="en-US" dirty="0"/>
              <a:t>deep dive </a:t>
            </a:r>
            <a:r>
              <a:rPr lang="el-GR" dirty="0"/>
              <a:t>στους </a:t>
            </a:r>
            <a:r>
              <a:rPr lang="en-US" dirty="0"/>
              <a:t>agents </a:t>
            </a:r>
            <a:r>
              <a:rPr lang="el-GR" dirty="0"/>
              <a:t>ατομικά. </a:t>
            </a:r>
            <a:r>
              <a:rPr lang="el-GR" dirty="0" err="1"/>
              <a:t>Βλεπουεμ</a:t>
            </a:r>
            <a:r>
              <a:rPr lang="el-GR" dirty="0"/>
              <a:t> όλα αν </a:t>
            </a:r>
            <a:r>
              <a:rPr lang="el-GR" dirty="0" err="1"/>
              <a:t>ξεκιναν</a:t>
            </a:r>
            <a:r>
              <a:rPr lang="el-GR" dirty="0"/>
              <a:t> από το </a:t>
            </a:r>
            <a:r>
              <a:rPr lang="en-US" dirty="0"/>
              <a:t>start </a:t>
            </a:r>
            <a:r>
              <a:rPr lang="el-GR" dirty="0"/>
              <a:t>, στην </a:t>
            </a:r>
            <a:r>
              <a:rPr lang="el-GR" dirty="0" err="1"/>
              <a:t>ουσια</a:t>
            </a:r>
            <a:r>
              <a:rPr lang="el-GR" dirty="0"/>
              <a:t> είναι η </a:t>
            </a:r>
            <a:r>
              <a:rPr lang="el-GR" dirty="0" err="1"/>
              <a:t>στιγμη</a:t>
            </a:r>
            <a:r>
              <a:rPr lang="el-GR" dirty="0"/>
              <a:t> που το </a:t>
            </a:r>
            <a:r>
              <a:rPr lang="el-GR" dirty="0" err="1"/>
              <a:t>συστημα</a:t>
            </a:r>
            <a:r>
              <a:rPr lang="el-GR" dirty="0"/>
              <a:t> </a:t>
            </a:r>
            <a:r>
              <a:rPr lang="el-GR" dirty="0" err="1"/>
              <a:t>δεχεται</a:t>
            </a:r>
            <a:r>
              <a:rPr lang="el-GR" dirty="0"/>
              <a:t> το </a:t>
            </a:r>
            <a:r>
              <a:rPr lang="en-US" dirty="0"/>
              <a:t>input </a:t>
            </a:r>
            <a:r>
              <a:rPr lang="el-GR" dirty="0"/>
              <a:t>από το χρήστη, το </a:t>
            </a:r>
            <a:r>
              <a:rPr lang="el-GR" dirty="0" err="1"/>
              <a:t>κειμενο</a:t>
            </a:r>
            <a:r>
              <a:rPr lang="el-GR" dirty="0"/>
              <a:t>, η το </a:t>
            </a:r>
            <a:r>
              <a:rPr lang="el-GR" dirty="0" err="1"/>
              <a:t>αρθρο</a:t>
            </a:r>
            <a:r>
              <a:rPr lang="el-GR" dirty="0"/>
              <a:t>, η το </a:t>
            </a:r>
            <a:r>
              <a:rPr lang="el-GR" dirty="0" err="1"/>
              <a:t>ποστ</a:t>
            </a:r>
            <a:r>
              <a:rPr lang="el-GR" dirty="0"/>
              <a:t> η ένα </a:t>
            </a:r>
            <a:r>
              <a:rPr lang="el-GR" dirty="0" err="1"/>
              <a:t>ακομα</a:t>
            </a:r>
            <a:r>
              <a:rPr lang="el-GR" dirty="0"/>
              <a:t> και ένα </a:t>
            </a:r>
            <a:r>
              <a:rPr lang="en-US" dirty="0" err="1"/>
              <a:t>url</a:t>
            </a:r>
            <a:r>
              <a:rPr lang="en-US" dirty="0"/>
              <a:t>. </a:t>
            </a:r>
            <a:r>
              <a:rPr lang="el-GR" dirty="0"/>
              <a:t>Το </a:t>
            </a:r>
            <a:r>
              <a:rPr lang="el-GR" dirty="0" err="1"/>
              <a:t>συγκερκιμενο</a:t>
            </a:r>
            <a:r>
              <a:rPr lang="el-GR" dirty="0"/>
              <a:t> </a:t>
            </a:r>
            <a:r>
              <a:rPr lang="en-US" dirty="0"/>
              <a:t>input </a:t>
            </a:r>
            <a:r>
              <a:rPr lang="el-GR" dirty="0" err="1"/>
              <a:t>ταφερεται</a:t>
            </a:r>
            <a:r>
              <a:rPr lang="el-GR" dirty="0"/>
              <a:t> </a:t>
            </a:r>
            <a:r>
              <a:rPr lang="el-GR" dirty="0" err="1"/>
              <a:t>μονο</a:t>
            </a:r>
            <a:r>
              <a:rPr lang="el-GR" dirty="0"/>
              <a:t> στον </a:t>
            </a:r>
            <a:r>
              <a:rPr lang="en-US" dirty="0"/>
              <a:t>1o agent </a:t>
            </a:r>
            <a:r>
              <a:rPr lang="el-GR" dirty="0" err="1"/>
              <a:t>λεγομενο</a:t>
            </a:r>
            <a:r>
              <a:rPr lang="el-GR" dirty="0"/>
              <a:t> </a:t>
            </a:r>
            <a:r>
              <a:rPr lang="en-US" dirty="0"/>
              <a:t>input agent , </a:t>
            </a:r>
            <a:r>
              <a:rPr lang="el-GR" dirty="0" err="1"/>
              <a:t>μετα</a:t>
            </a:r>
            <a:r>
              <a:rPr lang="el-GR" dirty="0"/>
              <a:t> το </a:t>
            </a:r>
            <a:r>
              <a:rPr lang="en-US" dirty="0"/>
              <a:t>preprocessing </a:t>
            </a:r>
            <a:r>
              <a:rPr lang="en-US" dirty="0" err="1"/>
              <a:t>tou</a:t>
            </a:r>
            <a:r>
              <a:rPr lang="en-US" dirty="0"/>
              <a:t> input agent </a:t>
            </a:r>
            <a:r>
              <a:rPr lang="el-GR" dirty="0" err="1"/>
              <a:t>βλεόυμε</a:t>
            </a:r>
            <a:r>
              <a:rPr lang="el-GR" dirty="0"/>
              <a:t> το </a:t>
            </a:r>
            <a:r>
              <a:rPr lang="en-US" dirty="0"/>
              <a:t>output </a:t>
            </a:r>
            <a:r>
              <a:rPr lang="el-GR" dirty="0"/>
              <a:t>του να </a:t>
            </a:r>
            <a:r>
              <a:rPr lang="el-GR" dirty="0" err="1"/>
              <a:t>μεταδιδεται</a:t>
            </a:r>
            <a:r>
              <a:rPr lang="el-GR" dirty="0"/>
              <a:t> σε τρεις </a:t>
            </a:r>
            <a:r>
              <a:rPr lang="el-GR" dirty="0" err="1"/>
              <a:t>δαιφοετικους</a:t>
            </a:r>
            <a:r>
              <a:rPr lang="el-GR" dirty="0"/>
              <a:t> </a:t>
            </a:r>
            <a:r>
              <a:rPr lang="en-US" dirty="0"/>
              <a:t>agent </a:t>
            </a:r>
            <a:r>
              <a:rPr lang="el-GR" dirty="0"/>
              <a:t>τον </a:t>
            </a:r>
            <a:r>
              <a:rPr lang="en-US" dirty="0"/>
              <a:t>Fake news classifier, Second Search agent kai ton Score agent . </a:t>
            </a:r>
            <a:r>
              <a:rPr lang="el-GR" dirty="0"/>
              <a:t>Οι </a:t>
            </a:r>
            <a:r>
              <a:rPr lang="el-GR" dirty="0" err="1"/>
              <a:t>οποιοι</a:t>
            </a:r>
            <a:r>
              <a:rPr lang="el-GR" dirty="0"/>
              <a:t> </a:t>
            </a:r>
            <a:r>
              <a:rPr lang="el-GR" dirty="0" err="1"/>
              <a:t>ωγαζουν</a:t>
            </a:r>
            <a:r>
              <a:rPr lang="el-GR" dirty="0"/>
              <a:t> </a:t>
            </a:r>
            <a:r>
              <a:rPr lang="el-GR" dirty="0" err="1"/>
              <a:t>καια</a:t>
            </a:r>
            <a:r>
              <a:rPr lang="el-GR" dirty="0"/>
              <a:t> </a:t>
            </a:r>
            <a:r>
              <a:rPr lang="el-GR" dirty="0" err="1"/>
              <a:t>υτοι</a:t>
            </a:r>
            <a:r>
              <a:rPr lang="el-GR" dirty="0"/>
              <a:t> τα </a:t>
            </a:r>
            <a:r>
              <a:rPr lang="el-GR" dirty="0" err="1"/>
              <a:t>δικα</a:t>
            </a:r>
            <a:r>
              <a:rPr lang="el-GR" dirty="0"/>
              <a:t> τους 3 </a:t>
            </a:r>
            <a:r>
              <a:rPr lang="en-US" dirty="0"/>
              <a:t>outputs </a:t>
            </a:r>
            <a:r>
              <a:rPr lang="el-GR" dirty="0"/>
              <a:t>. Των δυο </a:t>
            </a:r>
            <a:r>
              <a:rPr lang="en-US" dirty="0"/>
              <a:t>agent fake news classifier kai second search agent </a:t>
            </a:r>
            <a:r>
              <a:rPr lang="el-GR" dirty="0" err="1"/>
              <a:t>περνανε</a:t>
            </a:r>
            <a:r>
              <a:rPr lang="el-GR" dirty="0"/>
              <a:t> σε ένα τέταρτο </a:t>
            </a:r>
            <a:r>
              <a:rPr lang="en-US" dirty="0"/>
              <a:t>agent source </a:t>
            </a:r>
            <a:r>
              <a:rPr lang="en-US" dirty="0" err="1"/>
              <a:t>qualiy</a:t>
            </a:r>
            <a:r>
              <a:rPr lang="en-US" dirty="0"/>
              <a:t> agent </a:t>
            </a:r>
            <a:r>
              <a:rPr lang="el-GR" dirty="0"/>
              <a:t>, </a:t>
            </a:r>
            <a:r>
              <a:rPr lang="el-GR" dirty="0" err="1"/>
              <a:t>οποιοσ</a:t>
            </a:r>
            <a:r>
              <a:rPr lang="el-GR" dirty="0"/>
              <a:t> </a:t>
            </a:r>
            <a:r>
              <a:rPr lang="el-GR" dirty="0" err="1"/>
              <a:t>καια</a:t>
            </a:r>
            <a:r>
              <a:rPr lang="el-GR" dirty="0"/>
              <a:t> </a:t>
            </a:r>
            <a:r>
              <a:rPr lang="el-GR" dirty="0" err="1"/>
              <a:t>υτος</a:t>
            </a:r>
            <a:r>
              <a:rPr lang="el-GR" dirty="0"/>
              <a:t> δημιουργεί το </a:t>
            </a:r>
            <a:r>
              <a:rPr lang="el-GR" dirty="0" err="1"/>
              <a:t>δικο</a:t>
            </a:r>
            <a:r>
              <a:rPr lang="el-GR" dirty="0"/>
              <a:t> του </a:t>
            </a:r>
            <a:r>
              <a:rPr lang="en-US" dirty="0"/>
              <a:t>output. </a:t>
            </a:r>
            <a:r>
              <a:rPr lang="el-GR" dirty="0"/>
              <a:t>Τα 4 αυτά </a:t>
            </a:r>
            <a:r>
              <a:rPr lang="en-US" dirty="0"/>
              <a:t>outputs </a:t>
            </a:r>
            <a:r>
              <a:rPr lang="el-GR" dirty="0" err="1"/>
              <a:t>καταληγουν</a:t>
            </a:r>
            <a:r>
              <a:rPr lang="el-GR" dirty="0"/>
              <a:t> όλα </a:t>
            </a:r>
            <a:r>
              <a:rPr lang="el-GR" dirty="0" err="1"/>
              <a:t>αμζι</a:t>
            </a:r>
            <a:r>
              <a:rPr lang="el-GR" dirty="0"/>
              <a:t> στο </a:t>
            </a:r>
            <a:r>
              <a:rPr lang="el-GR" dirty="0" err="1"/>
              <a:t>τελεταιο</a:t>
            </a:r>
            <a:r>
              <a:rPr lang="el-GR" dirty="0"/>
              <a:t> </a:t>
            </a:r>
            <a:r>
              <a:rPr lang="en-US" dirty="0"/>
              <a:t>agent </a:t>
            </a:r>
            <a:r>
              <a:rPr lang="el-GR" dirty="0"/>
              <a:t>ο </a:t>
            </a:r>
            <a:r>
              <a:rPr lang="el-GR" dirty="0" err="1"/>
              <a:t>οποιος</a:t>
            </a:r>
            <a:r>
              <a:rPr lang="el-GR" dirty="0"/>
              <a:t> </a:t>
            </a:r>
            <a:r>
              <a:rPr lang="el-GR" dirty="0" err="1"/>
              <a:t>ονομαζεται</a:t>
            </a:r>
            <a:r>
              <a:rPr lang="el-GR" dirty="0"/>
              <a:t> </a:t>
            </a:r>
            <a:r>
              <a:rPr lang="en-US" dirty="0"/>
              <a:t>supervisor agent </a:t>
            </a:r>
            <a:r>
              <a:rPr lang="el-GR" dirty="0"/>
              <a:t> και η </a:t>
            </a:r>
            <a:r>
              <a:rPr lang="el-GR" dirty="0" err="1"/>
              <a:t>δουλεια</a:t>
            </a:r>
            <a:r>
              <a:rPr lang="el-GR" dirty="0"/>
              <a:t> του </a:t>
            </a:r>
            <a:r>
              <a:rPr lang="el-GR" dirty="0" err="1"/>
              <a:t>ειναι</a:t>
            </a:r>
            <a:r>
              <a:rPr lang="el-GR" dirty="0"/>
              <a:t> να </a:t>
            </a:r>
            <a:r>
              <a:rPr lang="el-GR" dirty="0" err="1"/>
              <a:t>συλλεξει</a:t>
            </a:r>
            <a:r>
              <a:rPr lang="el-GR" dirty="0"/>
              <a:t> </a:t>
            </a:r>
            <a:r>
              <a:rPr lang="el-GR" dirty="0" err="1"/>
              <a:t>λη</a:t>
            </a:r>
            <a:r>
              <a:rPr lang="el-GR" dirty="0"/>
              <a:t> την </a:t>
            </a:r>
            <a:r>
              <a:rPr lang="el-GR" dirty="0" err="1"/>
              <a:t>πληροφορια</a:t>
            </a:r>
            <a:r>
              <a:rPr lang="el-GR" dirty="0"/>
              <a:t> </a:t>
            </a:r>
            <a:r>
              <a:rPr lang="el-GR" dirty="0" err="1"/>
              <a:t>αποτ</a:t>
            </a:r>
            <a:r>
              <a:rPr lang="el-GR" dirty="0"/>
              <a:t> </a:t>
            </a:r>
            <a:r>
              <a:rPr lang="el-GR" dirty="0" err="1"/>
              <a:t>υος</a:t>
            </a:r>
            <a:r>
              <a:rPr lang="el-GR" dirty="0"/>
              <a:t> </a:t>
            </a:r>
            <a:r>
              <a:rPr lang="el-GR" dirty="0" err="1"/>
              <a:t>προηγουμενους</a:t>
            </a:r>
            <a:r>
              <a:rPr lang="el-GR" dirty="0"/>
              <a:t> και να την </a:t>
            </a:r>
            <a:r>
              <a:rPr lang="el-GR" dirty="0" err="1"/>
              <a:t>μεταφραση</a:t>
            </a:r>
            <a:r>
              <a:rPr lang="el-GR" dirty="0"/>
              <a:t> σε ένα </a:t>
            </a:r>
            <a:r>
              <a:rPr lang="el-GR" dirty="0" err="1"/>
              <a:t>καθαρο</a:t>
            </a:r>
            <a:r>
              <a:rPr lang="el-GR" dirty="0"/>
              <a:t> </a:t>
            </a:r>
            <a:r>
              <a:rPr lang="en-US" dirty="0"/>
              <a:t>output </a:t>
            </a:r>
            <a:r>
              <a:rPr lang="el-GR" dirty="0"/>
              <a:t>που του </a:t>
            </a:r>
            <a:r>
              <a:rPr lang="el-GR" dirty="0" err="1"/>
              <a:t>εχουμε</a:t>
            </a:r>
            <a:r>
              <a:rPr lang="el-GR" dirty="0"/>
              <a:t> </a:t>
            </a:r>
            <a:r>
              <a:rPr lang="el-GR" dirty="0" err="1"/>
              <a:t>ορισει</a:t>
            </a:r>
            <a:r>
              <a:rPr lang="el-GR" dirty="0"/>
              <a:t> και να </a:t>
            </a:r>
            <a:r>
              <a:rPr lang="el-GR" dirty="0" err="1"/>
              <a:t>δωσει</a:t>
            </a:r>
            <a:r>
              <a:rPr lang="el-GR" dirty="0"/>
              <a:t> την </a:t>
            </a:r>
            <a:r>
              <a:rPr lang="el-GR" dirty="0" err="1"/>
              <a:t>τελικη</a:t>
            </a:r>
            <a:r>
              <a:rPr lang="el-GR" dirty="0"/>
              <a:t> </a:t>
            </a:r>
            <a:r>
              <a:rPr lang="el-GR" dirty="0" err="1"/>
              <a:t>προβλεψη</a:t>
            </a:r>
            <a:r>
              <a:rPr lang="el-GR" dirty="0"/>
              <a:t>. </a:t>
            </a:r>
            <a:r>
              <a:rPr lang="el-GR" dirty="0" err="1"/>
              <a:t>Παμε</a:t>
            </a:r>
            <a:r>
              <a:rPr lang="el-GR" dirty="0"/>
              <a:t> αν </a:t>
            </a:r>
            <a:r>
              <a:rPr lang="el-GR" dirty="0" err="1"/>
              <a:t>δουμε</a:t>
            </a:r>
            <a:r>
              <a:rPr lang="el-GR" dirty="0"/>
              <a:t> </a:t>
            </a:r>
            <a:r>
              <a:rPr lang="el-GR" dirty="0" err="1"/>
              <a:t>αναλυτικα</a:t>
            </a:r>
            <a:r>
              <a:rPr lang="el-GR" dirty="0"/>
              <a:t> τι </a:t>
            </a:r>
            <a:r>
              <a:rPr lang="el-GR" dirty="0" err="1"/>
              <a:t>κανει</a:t>
            </a:r>
            <a:r>
              <a:rPr lang="el-GR" dirty="0"/>
              <a:t> ο κάθε ένας </a:t>
            </a:r>
            <a:r>
              <a:rPr lang="en-US" dirty="0"/>
              <a:t>agent.</a:t>
            </a:r>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8</a:t>
            </a:fld>
            <a:endParaRPr lang="el-GR"/>
          </a:p>
        </p:txBody>
      </p:sp>
    </p:spTree>
    <p:extLst>
      <p:ext uri="{BB962C8B-B14F-4D97-AF65-F5344CB8AC3E}">
        <p14:creationId xmlns:p14="http://schemas.microsoft.com/office/powerpoint/2010/main" val="1127034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err="1"/>
              <a:t>Ξεκινηοσυμε</a:t>
            </a:r>
            <a:r>
              <a:rPr lang="el-GR" dirty="0"/>
              <a:t> από τον </a:t>
            </a:r>
            <a:r>
              <a:rPr lang="en-US" dirty="0"/>
              <a:t>input agent , o </a:t>
            </a:r>
            <a:r>
              <a:rPr lang="el-GR" dirty="0"/>
              <a:t>ο </a:t>
            </a:r>
            <a:r>
              <a:rPr lang="el-GR" dirty="0" err="1"/>
              <a:t>συγκεκριμενος</a:t>
            </a:r>
            <a:r>
              <a:rPr lang="el-GR" dirty="0"/>
              <a:t> </a:t>
            </a:r>
            <a:r>
              <a:rPr lang="en-US" dirty="0"/>
              <a:t>agent </a:t>
            </a:r>
            <a:r>
              <a:rPr lang="el-GR" dirty="0" err="1"/>
              <a:t>κανει</a:t>
            </a:r>
            <a:r>
              <a:rPr lang="el-GR" dirty="0"/>
              <a:t> </a:t>
            </a:r>
            <a:r>
              <a:rPr lang="el-GR" dirty="0" err="1"/>
              <a:t>χρηση</a:t>
            </a:r>
            <a:r>
              <a:rPr lang="el-GR" dirty="0"/>
              <a:t> </a:t>
            </a:r>
            <a:r>
              <a:rPr lang="el-GR" dirty="0" err="1"/>
              <a:t>μονο</a:t>
            </a:r>
            <a:r>
              <a:rPr lang="el-GR" dirty="0"/>
              <a:t> του </a:t>
            </a:r>
            <a:r>
              <a:rPr lang="en-US" dirty="0" err="1"/>
              <a:t>llm</a:t>
            </a:r>
            <a:r>
              <a:rPr lang="en-US" dirty="0"/>
              <a:t> </a:t>
            </a:r>
            <a:r>
              <a:rPr lang="el-GR" dirty="0"/>
              <a:t>σαν </a:t>
            </a:r>
            <a:r>
              <a:rPr lang="el-GR" dirty="0" err="1"/>
              <a:t>εργαλειο</a:t>
            </a:r>
            <a:r>
              <a:rPr lang="el-GR" dirty="0"/>
              <a:t>. Ο </a:t>
            </a:r>
            <a:r>
              <a:rPr lang="el-GR" dirty="0" err="1"/>
              <a:t>οποιος</a:t>
            </a:r>
            <a:r>
              <a:rPr lang="el-GR" dirty="0"/>
              <a:t> </a:t>
            </a:r>
            <a:r>
              <a:rPr lang="el-GR" dirty="0" err="1"/>
              <a:t>ανιχνευει</a:t>
            </a:r>
            <a:r>
              <a:rPr lang="el-GR" dirty="0"/>
              <a:t> την </a:t>
            </a:r>
            <a:r>
              <a:rPr lang="el-GR" dirty="0" err="1"/>
              <a:t>μορφη</a:t>
            </a:r>
            <a:r>
              <a:rPr lang="el-GR" dirty="0"/>
              <a:t> του </a:t>
            </a:r>
            <a:r>
              <a:rPr lang="en-US" dirty="0"/>
              <a:t>input </a:t>
            </a:r>
            <a:r>
              <a:rPr lang="el-GR" dirty="0"/>
              <a:t>αν είναι </a:t>
            </a:r>
            <a:r>
              <a:rPr lang="el-GR" dirty="0" err="1"/>
              <a:t>κειμενο</a:t>
            </a:r>
            <a:r>
              <a:rPr lang="el-GR" dirty="0"/>
              <a:t> , </a:t>
            </a:r>
            <a:r>
              <a:rPr lang="el-GR" dirty="0" err="1"/>
              <a:t>αρχειο</a:t>
            </a:r>
            <a:r>
              <a:rPr lang="el-GR" dirty="0"/>
              <a:t> η </a:t>
            </a:r>
            <a:r>
              <a:rPr lang="en-US" dirty="0" err="1"/>
              <a:t>url</a:t>
            </a:r>
            <a:r>
              <a:rPr lang="el-GR" dirty="0"/>
              <a:t>,. Αν το </a:t>
            </a:r>
            <a:r>
              <a:rPr lang="en-US" dirty="0"/>
              <a:t>input </a:t>
            </a:r>
            <a:r>
              <a:rPr lang="el-GR" dirty="0"/>
              <a:t>είναι </a:t>
            </a:r>
            <a:r>
              <a:rPr lang="en-US" dirty="0" err="1"/>
              <a:t>url</a:t>
            </a:r>
            <a:r>
              <a:rPr lang="en-US" dirty="0"/>
              <a:t> or document </a:t>
            </a:r>
            <a:r>
              <a:rPr lang="el-GR" dirty="0"/>
              <a:t>του </a:t>
            </a:r>
            <a:r>
              <a:rPr lang="el-GR" dirty="0" err="1"/>
              <a:t>ζηταμε</a:t>
            </a:r>
            <a:r>
              <a:rPr lang="el-GR" dirty="0"/>
              <a:t> να </a:t>
            </a:r>
            <a:r>
              <a:rPr lang="el-GR" dirty="0" err="1"/>
              <a:t>επσιτρεψει</a:t>
            </a:r>
            <a:r>
              <a:rPr lang="el-GR" dirty="0"/>
              <a:t> </a:t>
            </a:r>
            <a:r>
              <a:rPr lang="el-GR" dirty="0" err="1"/>
              <a:t>απλα</a:t>
            </a:r>
            <a:r>
              <a:rPr lang="el-GR" dirty="0"/>
              <a:t> την </a:t>
            </a:r>
            <a:r>
              <a:rPr lang="el-GR" dirty="0" err="1"/>
              <a:t>διαγνωση</a:t>
            </a:r>
            <a:r>
              <a:rPr lang="el-GR" dirty="0"/>
              <a:t> </a:t>
            </a:r>
            <a:r>
              <a:rPr lang="el-GR" dirty="0" err="1"/>
              <a:t>οτιι</a:t>
            </a:r>
            <a:r>
              <a:rPr lang="el-GR" dirty="0"/>
              <a:t> αυτό είναι </a:t>
            </a:r>
            <a:r>
              <a:rPr lang="en-US" dirty="0" err="1"/>
              <a:t>url</a:t>
            </a:r>
            <a:r>
              <a:rPr lang="en-US" dirty="0"/>
              <a:t> or document </a:t>
            </a:r>
            <a:r>
              <a:rPr lang="el-GR" dirty="0" err="1"/>
              <a:t>καθως</a:t>
            </a:r>
            <a:r>
              <a:rPr lang="el-GR" dirty="0"/>
              <a:t> δεν είναι </a:t>
            </a:r>
            <a:r>
              <a:rPr lang="el-GR" dirty="0" err="1"/>
              <a:t>κατι</a:t>
            </a:r>
            <a:r>
              <a:rPr lang="el-GR" dirty="0"/>
              <a:t> που </a:t>
            </a:r>
            <a:r>
              <a:rPr lang="el-GR" dirty="0" err="1"/>
              <a:t>ζητησαμε</a:t>
            </a:r>
            <a:r>
              <a:rPr lang="el-GR" dirty="0"/>
              <a:t> από το </a:t>
            </a:r>
            <a:r>
              <a:rPr lang="el-GR" dirty="0" err="1"/>
              <a:t>μοντελο</a:t>
            </a:r>
            <a:r>
              <a:rPr lang="el-GR" dirty="0"/>
              <a:t> να </a:t>
            </a:r>
            <a:r>
              <a:rPr lang="el-GR" dirty="0" err="1"/>
              <a:t>ασχοληθει</a:t>
            </a:r>
            <a:r>
              <a:rPr lang="el-GR" dirty="0"/>
              <a:t>. </a:t>
            </a:r>
            <a:r>
              <a:rPr lang="el-GR" dirty="0" err="1"/>
              <a:t>Επειτα</a:t>
            </a:r>
            <a:r>
              <a:rPr lang="el-GR" dirty="0"/>
              <a:t> αν το </a:t>
            </a:r>
            <a:r>
              <a:rPr lang="en-US" dirty="0"/>
              <a:t>input </a:t>
            </a:r>
            <a:r>
              <a:rPr lang="el-GR" dirty="0"/>
              <a:t>είναι </a:t>
            </a:r>
            <a:r>
              <a:rPr lang="en-US" dirty="0"/>
              <a:t>text ,</a:t>
            </a:r>
            <a:r>
              <a:rPr lang="el-GR" dirty="0"/>
              <a:t> αν δεν είναι στα </a:t>
            </a:r>
            <a:r>
              <a:rPr lang="el-GR" dirty="0" err="1"/>
              <a:t>αγγλικα</a:t>
            </a:r>
            <a:r>
              <a:rPr lang="el-GR" dirty="0"/>
              <a:t> και </a:t>
            </a:r>
            <a:r>
              <a:rPr lang="el-GR" dirty="0" err="1"/>
              <a:t>χρειαστει</a:t>
            </a:r>
            <a:r>
              <a:rPr lang="el-GR" dirty="0"/>
              <a:t> να το </a:t>
            </a:r>
            <a:r>
              <a:rPr lang="el-GR" dirty="0" err="1"/>
              <a:t>μεταφραζει</a:t>
            </a:r>
            <a:r>
              <a:rPr lang="el-GR" dirty="0"/>
              <a:t> , το </a:t>
            </a:r>
            <a:r>
              <a:rPr lang="el-GR" dirty="0" err="1"/>
              <a:t>μεταφραζει</a:t>
            </a:r>
            <a:r>
              <a:rPr lang="el-GR" dirty="0"/>
              <a:t> στα </a:t>
            </a:r>
            <a:r>
              <a:rPr lang="el-GR" dirty="0" err="1"/>
              <a:t>αγγλικα</a:t>
            </a:r>
            <a:r>
              <a:rPr lang="el-GR" dirty="0"/>
              <a:t> </a:t>
            </a:r>
            <a:r>
              <a:rPr lang="el-GR" dirty="0" err="1"/>
              <a:t>διοτι</a:t>
            </a:r>
            <a:r>
              <a:rPr lang="el-GR" dirty="0"/>
              <a:t> ως πιο </a:t>
            </a:r>
            <a:r>
              <a:rPr lang="el-GR" dirty="0" err="1"/>
              <a:t>διαδεδομενη</a:t>
            </a:r>
            <a:r>
              <a:rPr lang="el-GR" dirty="0"/>
              <a:t> </a:t>
            </a:r>
            <a:r>
              <a:rPr lang="el-GR" dirty="0" err="1"/>
              <a:t>γλωσσα</a:t>
            </a:r>
            <a:r>
              <a:rPr lang="el-GR" dirty="0"/>
              <a:t> και </a:t>
            </a:r>
            <a:r>
              <a:rPr lang="el-GR" dirty="0" err="1"/>
              <a:t>απιρνωντας</a:t>
            </a:r>
            <a:r>
              <a:rPr lang="el-GR" dirty="0"/>
              <a:t> ως </a:t>
            </a:r>
            <a:r>
              <a:rPr lang="el-GR" dirty="0" err="1"/>
              <a:t>απραμετρο</a:t>
            </a:r>
            <a:r>
              <a:rPr lang="el-GR" dirty="0"/>
              <a:t> ότι όλα τα </a:t>
            </a:r>
            <a:r>
              <a:rPr lang="en-US" dirty="0" err="1"/>
              <a:t>llm</a:t>
            </a:r>
            <a:r>
              <a:rPr lang="en-US" dirty="0"/>
              <a:t> </a:t>
            </a:r>
            <a:r>
              <a:rPr lang="el-GR" dirty="0" err="1"/>
              <a:t>διοτι</a:t>
            </a:r>
            <a:r>
              <a:rPr lang="el-GR" dirty="0"/>
              <a:t> είναι </a:t>
            </a:r>
            <a:r>
              <a:rPr lang="el-GR" dirty="0" err="1"/>
              <a:t>εκπαιδευμενα</a:t>
            </a:r>
            <a:r>
              <a:rPr lang="el-GR" dirty="0"/>
              <a:t> στα </a:t>
            </a:r>
            <a:r>
              <a:rPr lang="el-GR" dirty="0" err="1"/>
              <a:t>γγλικα</a:t>
            </a:r>
            <a:r>
              <a:rPr lang="el-GR" dirty="0"/>
              <a:t> </a:t>
            </a:r>
            <a:r>
              <a:rPr lang="el-GR" dirty="0" err="1"/>
              <a:t>συστημικα</a:t>
            </a:r>
            <a:r>
              <a:rPr lang="el-GR" dirty="0"/>
              <a:t> είναι και πιο </a:t>
            </a:r>
            <a:r>
              <a:rPr lang="el-GR" dirty="0" err="1"/>
              <a:t>ευκολο</a:t>
            </a:r>
            <a:r>
              <a:rPr lang="el-GR" dirty="0"/>
              <a:t> να </a:t>
            </a:r>
            <a:r>
              <a:rPr lang="el-GR" dirty="0" err="1"/>
              <a:t>υλοπιησει</a:t>
            </a:r>
            <a:r>
              <a:rPr lang="el-GR" dirty="0"/>
              <a:t> αυτά που του </a:t>
            </a:r>
            <a:r>
              <a:rPr lang="el-GR" dirty="0" err="1"/>
              <a:t>ζηταμε</a:t>
            </a:r>
            <a:r>
              <a:rPr lang="el-GR" dirty="0"/>
              <a:t>.  </a:t>
            </a:r>
            <a:r>
              <a:rPr lang="el-GR" dirty="0" err="1"/>
              <a:t>Προχωραει</a:t>
            </a:r>
            <a:r>
              <a:rPr lang="el-GR" dirty="0"/>
              <a:t> </a:t>
            </a:r>
            <a:r>
              <a:rPr lang="el-GR" dirty="0" err="1"/>
              <a:t>οιπον</a:t>
            </a:r>
            <a:r>
              <a:rPr lang="el-GR" dirty="0"/>
              <a:t> σε ένα </a:t>
            </a:r>
            <a:r>
              <a:rPr lang="el-GR" dirty="0" err="1"/>
              <a:t>καθαρισμο</a:t>
            </a:r>
            <a:r>
              <a:rPr lang="el-GR" dirty="0"/>
              <a:t> του </a:t>
            </a:r>
            <a:r>
              <a:rPr lang="el-GR" dirty="0" err="1"/>
              <a:t>κειμενου</a:t>
            </a:r>
            <a:r>
              <a:rPr lang="el-GR" dirty="0"/>
              <a:t> </a:t>
            </a:r>
            <a:r>
              <a:rPr lang="el-GR" dirty="0" err="1"/>
              <a:t>ετσι</a:t>
            </a:r>
            <a:r>
              <a:rPr lang="el-GR" dirty="0"/>
              <a:t> ώστε να </a:t>
            </a:r>
            <a:r>
              <a:rPr lang="el-GR" dirty="0" err="1"/>
              <a:t>διευκολυνει</a:t>
            </a:r>
            <a:r>
              <a:rPr lang="el-GR" dirty="0"/>
              <a:t> το </a:t>
            </a:r>
            <a:r>
              <a:rPr lang="en-US" dirty="0" err="1"/>
              <a:t>llm</a:t>
            </a:r>
            <a:r>
              <a:rPr lang="en-US" dirty="0"/>
              <a:t> </a:t>
            </a:r>
            <a:r>
              <a:rPr lang="el-GR" dirty="0"/>
              <a:t>στη </a:t>
            </a:r>
            <a:r>
              <a:rPr lang="el-GR" dirty="0" err="1"/>
              <a:t>δουλεια</a:t>
            </a:r>
            <a:r>
              <a:rPr lang="el-GR" dirty="0"/>
              <a:t> και να </a:t>
            </a:r>
            <a:r>
              <a:rPr lang="el-GR" dirty="0" err="1"/>
              <a:t>αφωσιεωθει</a:t>
            </a:r>
            <a:r>
              <a:rPr lang="el-GR" dirty="0"/>
              <a:t> </a:t>
            </a:r>
            <a:r>
              <a:rPr lang="el-GR" dirty="0" err="1"/>
              <a:t>μονο</a:t>
            </a:r>
            <a:r>
              <a:rPr lang="el-GR" dirty="0"/>
              <a:t> σε αυτό που του </a:t>
            </a:r>
            <a:r>
              <a:rPr lang="el-GR" dirty="0" err="1"/>
              <a:t>ζηταμε</a:t>
            </a:r>
            <a:r>
              <a:rPr lang="el-GR" dirty="0"/>
              <a:t>. </a:t>
            </a:r>
            <a:r>
              <a:rPr lang="el-GR" dirty="0" err="1"/>
              <a:t>Αφαιρωντας</a:t>
            </a:r>
            <a:r>
              <a:rPr lang="el-GR" dirty="0"/>
              <a:t> τα  </a:t>
            </a:r>
            <a:r>
              <a:rPr lang="el-GR" dirty="0" err="1"/>
              <a:t>σημεια</a:t>
            </a:r>
            <a:r>
              <a:rPr lang="el-GR" dirty="0"/>
              <a:t> </a:t>
            </a:r>
            <a:r>
              <a:rPr lang="el-GR" dirty="0" err="1"/>
              <a:t>ταξης</a:t>
            </a:r>
            <a:r>
              <a:rPr lang="el-GR" dirty="0"/>
              <a:t> </a:t>
            </a:r>
            <a:r>
              <a:rPr lang="el-GR" dirty="0" err="1"/>
              <a:t>μετατρεπει</a:t>
            </a:r>
            <a:r>
              <a:rPr lang="el-GR" dirty="0"/>
              <a:t> όλα τα </a:t>
            </a:r>
            <a:r>
              <a:rPr lang="el-GR" dirty="0" err="1"/>
              <a:t>κεφαλαι</a:t>
            </a:r>
            <a:r>
              <a:rPr lang="el-GR" dirty="0"/>
              <a:t> σε </a:t>
            </a:r>
            <a:r>
              <a:rPr lang="el-GR" dirty="0" err="1"/>
              <a:t>μιρκα</a:t>
            </a:r>
            <a:r>
              <a:rPr lang="el-GR" dirty="0"/>
              <a:t> , </a:t>
            </a:r>
            <a:r>
              <a:rPr lang="el-GR" dirty="0" err="1"/>
              <a:t>αφαιρωντας</a:t>
            </a:r>
            <a:r>
              <a:rPr lang="el-GR" dirty="0"/>
              <a:t> και τα </a:t>
            </a:r>
            <a:r>
              <a:rPr lang="el-GR" dirty="0" err="1"/>
              <a:t>πιθωανα</a:t>
            </a:r>
            <a:r>
              <a:rPr lang="el-GR" dirty="0"/>
              <a:t> </a:t>
            </a:r>
            <a:r>
              <a:rPr lang="en-US" dirty="0"/>
              <a:t>emoji, </a:t>
            </a:r>
            <a:r>
              <a:rPr lang="el-GR" dirty="0"/>
              <a:t>και </a:t>
            </a:r>
            <a:r>
              <a:rPr lang="el-GR" dirty="0" err="1"/>
              <a:t>καθαριζει</a:t>
            </a:r>
            <a:r>
              <a:rPr lang="el-GR" dirty="0"/>
              <a:t> </a:t>
            </a:r>
            <a:r>
              <a:rPr lang="el-GR" dirty="0" err="1"/>
              <a:t>περιττα</a:t>
            </a:r>
            <a:r>
              <a:rPr lang="el-GR" dirty="0"/>
              <a:t> </a:t>
            </a:r>
            <a:r>
              <a:rPr lang="en-US" dirty="0"/>
              <a:t>spaces</a:t>
            </a:r>
            <a:r>
              <a:rPr lang="el-GR" dirty="0" err="1"/>
              <a:t>ετσι</a:t>
            </a:r>
            <a:r>
              <a:rPr lang="el-GR" dirty="0"/>
              <a:t> </a:t>
            </a:r>
            <a:r>
              <a:rPr lang="el-GR" dirty="0" err="1"/>
              <a:t>ρκαταει</a:t>
            </a:r>
            <a:r>
              <a:rPr lang="el-GR" dirty="0"/>
              <a:t> </a:t>
            </a:r>
            <a:r>
              <a:rPr lang="el-GR" dirty="0" err="1"/>
              <a:t>ενα</a:t>
            </a:r>
            <a:r>
              <a:rPr lang="el-GR" dirty="0"/>
              <a:t> </a:t>
            </a:r>
            <a:r>
              <a:rPr lang="el-GR" dirty="0" err="1"/>
              <a:t>καθαρο</a:t>
            </a:r>
            <a:r>
              <a:rPr lang="el-GR" dirty="0"/>
              <a:t> </a:t>
            </a:r>
            <a:r>
              <a:rPr lang="el-GR" dirty="0" err="1"/>
              <a:t>κειμενο</a:t>
            </a:r>
            <a:r>
              <a:rPr lang="el-GR" dirty="0"/>
              <a:t> με </a:t>
            </a:r>
            <a:r>
              <a:rPr lang="el-GR" dirty="0" err="1"/>
              <a:t>λεξεις</a:t>
            </a:r>
            <a:r>
              <a:rPr lang="el-GR" dirty="0"/>
              <a:t> </a:t>
            </a:r>
            <a:r>
              <a:rPr lang="el-GR" dirty="0" err="1"/>
              <a:t>χωρις</a:t>
            </a:r>
            <a:r>
              <a:rPr lang="el-GR" dirty="0"/>
              <a:t> </a:t>
            </a:r>
            <a:r>
              <a:rPr lang="el-GR" dirty="0" err="1"/>
              <a:t>επιπλεον</a:t>
            </a:r>
            <a:r>
              <a:rPr lang="el-GR" dirty="0"/>
              <a:t> </a:t>
            </a:r>
            <a:r>
              <a:rPr lang="el-GR" dirty="0" err="1"/>
              <a:t>πληροφοριες</a:t>
            </a:r>
            <a:r>
              <a:rPr lang="el-GR" dirty="0"/>
              <a:t> που </a:t>
            </a:r>
            <a:r>
              <a:rPr lang="el-GR" dirty="0" err="1"/>
              <a:t>μπορουν</a:t>
            </a:r>
            <a:r>
              <a:rPr lang="el-GR" dirty="0"/>
              <a:t> να </a:t>
            </a:r>
            <a:r>
              <a:rPr lang="el-GR" dirty="0" err="1"/>
              <a:t>αποσυντονισουν</a:t>
            </a:r>
            <a:r>
              <a:rPr lang="el-GR" dirty="0"/>
              <a:t> το </a:t>
            </a:r>
            <a:r>
              <a:rPr lang="el-GR" dirty="0" err="1"/>
              <a:t>μοντελο</a:t>
            </a:r>
            <a:r>
              <a:rPr lang="el-GR" dirty="0"/>
              <a:t> και του </a:t>
            </a:r>
            <a:r>
              <a:rPr lang="el-GR" dirty="0" err="1"/>
              <a:t>επιστρεφει</a:t>
            </a:r>
            <a:r>
              <a:rPr lang="el-GR" dirty="0"/>
              <a:t> σε </a:t>
            </a:r>
            <a:r>
              <a:rPr lang="en-US" dirty="0" err="1"/>
              <a:t>json</a:t>
            </a:r>
            <a:r>
              <a:rPr lang="en-US" dirty="0"/>
              <a:t> output. </a:t>
            </a:r>
            <a:r>
              <a:rPr lang="el-GR" dirty="0" err="1"/>
              <a:t>Ζητησαμε</a:t>
            </a:r>
            <a:r>
              <a:rPr lang="el-GR" dirty="0"/>
              <a:t> από </a:t>
            </a:r>
            <a:r>
              <a:rPr lang="el-GR" dirty="0" err="1"/>
              <a:t>ολους</a:t>
            </a:r>
            <a:r>
              <a:rPr lang="el-GR" dirty="0"/>
              <a:t> του </a:t>
            </a:r>
            <a:r>
              <a:rPr lang="en-US" dirty="0"/>
              <a:t>agent </a:t>
            </a:r>
            <a:r>
              <a:rPr lang="el-GR" dirty="0"/>
              <a:t>να </a:t>
            </a:r>
            <a:r>
              <a:rPr lang="el-GR" dirty="0" err="1"/>
              <a:t>επιστρεφουν</a:t>
            </a:r>
            <a:r>
              <a:rPr lang="el-GR" dirty="0"/>
              <a:t> σε </a:t>
            </a:r>
            <a:r>
              <a:rPr lang="en-US" dirty="0" err="1"/>
              <a:t>json</a:t>
            </a:r>
            <a:r>
              <a:rPr lang="en-US" dirty="0"/>
              <a:t> outputs </a:t>
            </a:r>
            <a:r>
              <a:rPr lang="el-GR" dirty="0" err="1"/>
              <a:t>ετσι</a:t>
            </a:r>
            <a:r>
              <a:rPr lang="el-GR" dirty="0"/>
              <a:t> ώστε να </a:t>
            </a:r>
            <a:r>
              <a:rPr lang="el-GR" dirty="0" err="1"/>
              <a:t>διευκολυνεται</a:t>
            </a:r>
            <a:r>
              <a:rPr lang="el-GR" dirty="0"/>
              <a:t> το </a:t>
            </a:r>
            <a:r>
              <a:rPr lang="el-GR" dirty="0" err="1"/>
              <a:t>συστημα</a:t>
            </a:r>
            <a:r>
              <a:rPr lang="el-GR" dirty="0"/>
              <a:t> στην </a:t>
            </a:r>
            <a:r>
              <a:rPr lang="el-GR" dirty="0" err="1"/>
              <a:t>αναγνωση</a:t>
            </a:r>
            <a:r>
              <a:rPr lang="el-GR" dirty="0"/>
              <a:t> των </a:t>
            </a:r>
            <a:r>
              <a:rPr lang="el-GR" dirty="0" err="1"/>
              <a:t>κειμενων</a:t>
            </a:r>
            <a:r>
              <a:rPr lang="el-GR" dirty="0"/>
              <a:t> και να </a:t>
            </a:r>
            <a:r>
              <a:rPr lang="el-GR" dirty="0" err="1"/>
              <a:t>βελτιωει</a:t>
            </a:r>
            <a:r>
              <a:rPr lang="el-GR" dirty="0"/>
              <a:t> η </a:t>
            </a:r>
            <a:r>
              <a:rPr lang="el-GR" dirty="0" err="1"/>
              <a:t>ταχυτητα</a:t>
            </a:r>
            <a:r>
              <a:rPr lang="el-GR" dirty="0"/>
              <a:t> του.</a:t>
            </a:r>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9</a:t>
            </a:fld>
            <a:endParaRPr lang="el-GR" dirty="0"/>
          </a:p>
        </p:txBody>
      </p:sp>
    </p:spTree>
    <p:extLst>
      <p:ext uri="{BB962C8B-B14F-4D97-AF65-F5344CB8AC3E}">
        <p14:creationId xmlns:p14="http://schemas.microsoft.com/office/powerpoint/2010/main" val="830510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Ο δεύτερος </a:t>
            </a:r>
            <a:r>
              <a:rPr lang="el-GR" dirty="0" err="1"/>
              <a:t>agent</a:t>
            </a:r>
            <a:r>
              <a:rPr lang="el-GR" dirty="0"/>
              <a:t> είναι ο </a:t>
            </a:r>
            <a:r>
              <a:rPr lang="el-GR" dirty="0" err="1"/>
              <a:t>Fake</a:t>
            </a:r>
            <a:r>
              <a:rPr lang="el-GR" dirty="0"/>
              <a:t> </a:t>
            </a:r>
            <a:r>
              <a:rPr lang="el-GR" dirty="0" err="1"/>
              <a:t>News</a:t>
            </a:r>
            <a:r>
              <a:rPr lang="el-GR" dirty="0"/>
              <a:t> </a:t>
            </a:r>
            <a:r>
              <a:rPr lang="el-GR" dirty="0" err="1"/>
              <a:t>Classifier</a:t>
            </a:r>
            <a:r>
              <a:rPr lang="el-GR" dirty="0"/>
              <a:t> </a:t>
            </a:r>
            <a:r>
              <a:rPr lang="el-GR" dirty="0" err="1"/>
              <a:t>Agent</a:t>
            </a:r>
            <a:r>
              <a:rPr lang="el-GR" dirty="0"/>
              <a:t>. Είναι ο </a:t>
            </a:r>
            <a:r>
              <a:rPr lang="el-GR" dirty="0" err="1"/>
              <a:t>agent</a:t>
            </a:r>
            <a:r>
              <a:rPr lang="el-GR" dirty="0"/>
              <a:t> το οποίο θα δούμε και το πρώτο εργαλείο το οποίο χρησιμοποιείται πέρα από το LLM που είναι το Open4Mini, το οποίο είναι το </a:t>
            </a:r>
            <a:r>
              <a:rPr lang="el-GR" dirty="0" err="1"/>
              <a:t>Google</a:t>
            </a:r>
            <a:r>
              <a:rPr lang="el-GR" dirty="0"/>
              <a:t> </a:t>
            </a:r>
            <a:r>
              <a:rPr lang="el-GR" dirty="0" err="1"/>
              <a:t>Search</a:t>
            </a:r>
            <a:r>
              <a:rPr lang="el-GR" dirty="0"/>
              <a:t> API, ένα API το οποίο δίνει τη δυνατότητα στο συγκεκριμένο </a:t>
            </a:r>
            <a:r>
              <a:rPr lang="el-GR" dirty="0" err="1"/>
              <a:t>agent</a:t>
            </a:r>
            <a:r>
              <a:rPr lang="el-GR" dirty="0"/>
              <a:t> να ψάξει στο </a:t>
            </a:r>
            <a:r>
              <a:rPr lang="el-GR" dirty="0" err="1"/>
              <a:t>agent</a:t>
            </a:r>
            <a:r>
              <a:rPr lang="el-GR" dirty="0"/>
              <a:t> δικαιωμάτων στο </a:t>
            </a:r>
            <a:r>
              <a:rPr lang="el-GR" dirty="0" err="1"/>
              <a:t>Google</a:t>
            </a:r>
            <a:r>
              <a:rPr lang="el-GR" dirty="0"/>
              <a:t> να βρει πληροφορίες σύμφωνα με αυτό το οποίο έχει πάρει από το </a:t>
            </a:r>
            <a:r>
              <a:rPr lang="el-GR" dirty="0" err="1"/>
              <a:t>input</a:t>
            </a:r>
            <a:r>
              <a:rPr lang="el-GR" dirty="0"/>
              <a:t> του προηγούμενου </a:t>
            </a:r>
            <a:r>
              <a:rPr lang="el-GR" dirty="0" err="1"/>
              <a:t>agent</a:t>
            </a:r>
            <a:r>
              <a:rPr lang="el-GR" dirty="0"/>
              <a:t>, του </a:t>
            </a:r>
            <a:r>
              <a:rPr lang="el-GR" dirty="0" err="1"/>
              <a:t>input</a:t>
            </a:r>
            <a:r>
              <a:rPr lang="el-GR" dirty="0"/>
              <a:t> </a:t>
            </a:r>
            <a:r>
              <a:rPr lang="el-GR" dirty="0" err="1"/>
              <a:t>agent</a:t>
            </a:r>
            <a:r>
              <a:rPr lang="el-GR" dirty="0"/>
              <a:t>, όπως </a:t>
            </a:r>
            <a:r>
              <a:rPr lang="el-GR" dirty="0" err="1"/>
              <a:t>ανέφεραμε</a:t>
            </a:r>
            <a:r>
              <a:rPr lang="el-GR" dirty="0"/>
              <a:t> και στην αρχή, είναι ο </a:t>
            </a:r>
            <a:r>
              <a:rPr lang="el-GR" dirty="0" err="1"/>
              <a:t>agent</a:t>
            </a:r>
            <a:r>
              <a:rPr lang="el-GR" dirty="0"/>
              <a:t> που δίνει το </a:t>
            </a:r>
            <a:r>
              <a:rPr lang="el-GR" dirty="0" err="1"/>
              <a:t>output</a:t>
            </a:r>
            <a:r>
              <a:rPr lang="el-GR" dirty="0"/>
              <a:t> τους σε όλους οι υπόλοιπους. Εδώ βλέπουμε τι </a:t>
            </a:r>
            <a:r>
              <a:rPr lang="el-GR" dirty="0" err="1"/>
              <a:t>output</a:t>
            </a:r>
            <a:r>
              <a:rPr lang="el-GR" dirty="0"/>
              <a:t> μας δίνει ο </a:t>
            </a:r>
            <a:r>
              <a:rPr lang="el-GR" dirty="0" err="1"/>
              <a:t>Fake</a:t>
            </a:r>
            <a:r>
              <a:rPr lang="el-GR" dirty="0"/>
              <a:t> </a:t>
            </a:r>
            <a:r>
              <a:rPr lang="el-GR" dirty="0" err="1"/>
              <a:t>News</a:t>
            </a:r>
            <a:r>
              <a:rPr lang="el-GR" dirty="0"/>
              <a:t> </a:t>
            </a:r>
            <a:r>
              <a:rPr lang="el-GR" dirty="0" err="1"/>
              <a:t>Classifier</a:t>
            </a:r>
            <a:r>
              <a:rPr lang="el-GR" dirty="0"/>
              <a:t>. Μας δίνει ένα </a:t>
            </a:r>
            <a:r>
              <a:rPr lang="el-GR" dirty="0" err="1"/>
              <a:t>verdict</a:t>
            </a:r>
            <a:r>
              <a:rPr lang="el-GR" dirty="0"/>
              <a:t> αν είναι </a:t>
            </a:r>
            <a:r>
              <a:rPr lang="el-GR" dirty="0" err="1"/>
              <a:t>real</a:t>
            </a:r>
            <a:r>
              <a:rPr lang="el-GR" dirty="0"/>
              <a:t>, </a:t>
            </a:r>
            <a:r>
              <a:rPr lang="el-GR" dirty="0" err="1"/>
              <a:t>fake</a:t>
            </a:r>
            <a:r>
              <a:rPr lang="el-GR" dirty="0"/>
              <a:t> ή και </a:t>
            </a:r>
            <a:r>
              <a:rPr lang="el-GR" dirty="0" err="1"/>
              <a:t>suspicious</a:t>
            </a:r>
            <a:r>
              <a:rPr lang="el-GR" dirty="0"/>
              <a:t>. Μας δίνει ένα </a:t>
            </a:r>
            <a:r>
              <a:rPr lang="el-GR" dirty="0" err="1"/>
              <a:t>conflicting</a:t>
            </a:r>
            <a:r>
              <a:rPr lang="el-GR" dirty="0"/>
              <a:t> </a:t>
            </a:r>
            <a:r>
              <a:rPr lang="el-GR" dirty="0" err="1"/>
              <a:t>score</a:t>
            </a:r>
            <a:r>
              <a:rPr lang="el-GR" dirty="0"/>
              <a:t>. Μας δίνει τα </a:t>
            </a:r>
            <a:r>
              <a:rPr lang="el-GR" dirty="0" err="1"/>
              <a:t>sources</a:t>
            </a:r>
            <a:r>
              <a:rPr lang="el-GR" dirty="0"/>
              <a:t> τα οποία έψαξε, είδε και βρήκε, τα οποία είναι </a:t>
            </a:r>
            <a:r>
              <a:rPr lang="el-GR" dirty="0" err="1"/>
              <a:t>supporting</a:t>
            </a:r>
            <a:r>
              <a:rPr lang="el-GR" dirty="0"/>
              <a:t> </a:t>
            </a:r>
            <a:r>
              <a:rPr lang="el-GR" dirty="0" err="1"/>
              <a:t>sources</a:t>
            </a:r>
            <a:r>
              <a:rPr lang="el-GR" dirty="0"/>
              <a:t>, τα οποία βρήκαν πληροφορίες και ένα πολύ μικρό </a:t>
            </a:r>
            <a:r>
              <a:rPr lang="el-GR" dirty="0" err="1"/>
              <a:t>reasoning</a:t>
            </a:r>
            <a:r>
              <a:rPr lang="el-GR" dirty="0"/>
              <a:t> για ποιον λόγο το θεώρησε αυτό </a:t>
            </a:r>
            <a:r>
              <a:rPr lang="el-GR" dirty="0" err="1"/>
              <a:t>real</a:t>
            </a:r>
            <a:r>
              <a:rPr lang="el-GR" dirty="0"/>
              <a:t> ή οτιδήποτε. Παρακάτω, στην επόμενη διαφάνεια...</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10</a:t>
            </a:fld>
            <a:endParaRPr lang="el-GR"/>
          </a:p>
        </p:txBody>
      </p:sp>
    </p:spTree>
    <p:extLst>
      <p:ext uri="{BB962C8B-B14F-4D97-AF65-F5344CB8AC3E}">
        <p14:creationId xmlns:p14="http://schemas.microsoft.com/office/powerpoint/2010/main" val="2765645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Σε αυτή τη διαφάνεια βλέπουμε πώς λειτουργεί ο </a:t>
            </a:r>
            <a:r>
              <a:rPr lang="el-GR" dirty="0" err="1"/>
              <a:t>Fake</a:t>
            </a:r>
            <a:r>
              <a:rPr lang="el-GR" dirty="0"/>
              <a:t> </a:t>
            </a:r>
            <a:r>
              <a:rPr lang="el-GR" dirty="0" err="1"/>
              <a:t>News</a:t>
            </a:r>
            <a:r>
              <a:rPr lang="el-GR" dirty="0"/>
              <a:t> </a:t>
            </a:r>
            <a:r>
              <a:rPr lang="el-GR" dirty="0" err="1"/>
              <a:t>Classifier</a:t>
            </a:r>
            <a:r>
              <a:rPr lang="el-GR" dirty="0"/>
              <a:t> </a:t>
            </a:r>
            <a:r>
              <a:rPr lang="el-GR" dirty="0" err="1"/>
              <a:t>Agent</a:t>
            </a:r>
            <a:r>
              <a:rPr lang="el-GR" dirty="0"/>
              <a:t>. Αργότερα βλέπουμε το πώς δηλώνεται στη </a:t>
            </a:r>
            <a:r>
              <a:rPr lang="el-GR" dirty="0" err="1"/>
              <a:t>Flowwise</a:t>
            </a:r>
            <a:r>
              <a:rPr lang="el-GR" dirty="0"/>
              <a:t>, έτσι λίγο πιο τεχνικά. Πάνω πάνω βλέπουμε το μοντέλο, το οποίο είναι και αυτό που έχουμε αναφέρει ήδη. Από κάτω βλέπουμε το </a:t>
            </a:r>
            <a:r>
              <a:rPr lang="el-GR" dirty="0" err="1"/>
              <a:t>Section</a:t>
            </a:r>
            <a:r>
              <a:rPr lang="el-GR" dirty="0"/>
              <a:t> of </a:t>
            </a:r>
            <a:r>
              <a:rPr lang="el-GR" dirty="0" err="1"/>
              <a:t>Messages</a:t>
            </a:r>
            <a:r>
              <a:rPr lang="el-GR" dirty="0"/>
              <a:t>, το οποίο στην ουσία του δηλώνει το ρόλο που πρέπει να πάρει ο </a:t>
            </a:r>
            <a:r>
              <a:rPr lang="el-GR" dirty="0" err="1"/>
              <a:t>Agent</a:t>
            </a:r>
            <a:r>
              <a:rPr lang="el-GR" dirty="0"/>
              <a:t>. Και το </a:t>
            </a:r>
            <a:r>
              <a:rPr lang="el-GR" dirty="0" err="1"/>
              <a:t>Context</a:t>
            </a:r>
            <a:r>
              <a:rPr lang="el-GR" dirty="0"/>
              <a:t>, το οποίο είναι το </a:t>
            </a:r>
            <a:r>
              <a:rPr lang="el-GR" dirty="0" err="1"/>
              <a:t>Prompt</a:t>
            </a:r>
            <a:r>
              <a:rPr lang="el-GR" dirty="0"/>
              <a:t>, το οποίο είναι η δουλειά που πρέπει να κάνει. Ποιες είναι οι αρμοδιότητες του. Και από κάτω είναι τα </a:t>
            </a:r>
            <a:r>
              <a:rPr lang="el-GR" dirty="0" err="1"/>
              <a:t>Tools</a:t>
            </a:r>
            <a:r>
              <a:rPr lang="el-GR" dirty="0"/>
              <a:t>, τα οποία πρέπει να χρησιμοποιήσει για να διεκπεραιώσει τη δουλειά που του έχεις πει να κάνει. Δεξιά βλέπουμε το </a:t>
            </a:r>
            <a:r>
              <a:rPr lang="el-GR" dirty="0" err="1"/>
              <a:t>Prompt</a:t>
            </a:r>
            <a:r>
              <a:rPr lang="el-GR" dirty="0"/>
              <a:t>, το οποίο του δώσαν, νομίζω πρακτικά, δηλαδή τι θέλουμε να κάνει για εμάς. Και στην ουσία του λέμε ότι ξέρεις κάτι, είσαι ένας </a:t>
            </a:r>
            <a:r>
              <a:rPr lang="el-GR" dirty="0" err="1"/>
              <a:t>Fact</a:t>
            </a:r>
            <a:r>
              <a:rPr lang="el-GR" dirty="0"/>
              <a:t> </a:t>
            </a:r>
            <a:r>
              <a:rPr lang="el-GR" dirty="0" err="1"/>
              <a:t>Checker</a:t>
            </a:r>
            <a:r>
              <a:rPr lang="el-GR" dirty="0"/>
              <a:t>, ένας άνθρωπος, ένας υπάλληλος ο οποίος θέλει να κάνει </a:t>
            </a:r>
            <a:r>
              <a:rPr lang="el-GR" dirty="0" err="1"/>
              <a:t>check</a:t>
            </a:r>
            <a:r>
              <a:rPr lang="el-GR" dirty="0"/>
              <a:t> μερικά </a:t>
            </a:r>
            <a:r>
              <a:rPr lang="el-GR" dirty="0" err="1"/>
              <a:t>facts</a:t>
            </a:r>
            <a:r>
              <a:rPr lang="el-GR" dirty="0"/>
              <a:t>. Και θέλουμε να ελέγξει ψευδείς ειδήσεις μέσω του </a:t>
            </a:r>
            <a:r>
              <a:rPr lang="el-GR" dirty="0" err="1"/>
              <a:t>Google</a:t>
            </a:r>
            <a:r>
              <a:rPr lang="el-GR" dirty="0"/>
              <a:t> </a:t>
            </a:r>
            <a:r>
              <a:rPr lang="el-GR" dirty="0" err="1"/>
              <a:t>Custom</a:t>
            </a:r>
            <a:r>
              <a:rPr lang="el-GR" dirty="0"/>
              <a:t> </a:t>
            </a:r>
            <a:r>
              <a:rPr lang="el-GR" dirty="0" err="1"/>
              <a:t>Search</a:t>
            </a:r>
            <a:r>
              <a:rPr lang="el-GR" dirty="0"/>
              <a:t>. Το </a:t>
            </a:r>
            <a:r>
              <a:rPr lang="el-GR" dirty="0" err="1"/>
              <a:t>workflow</a:t>
            </a:r>
            <a:r>
              <a:rPr lang="el-GR" dirty="0"/>
              <a:t> είναι σχετικά απλό. Πρώτα θα λαμβάνεις μια δήλωση, το </a:t>
            </a:r>
            <a:r>
              <a:rPr lang="el-GR" dirty="0" err="1"/>
              <a:t>Input</a:t>
            </a:r>
            <a:r>
              <a:rPr lang="el-GR" dirty="0"/>
              <a:t> </a:t>
            </a:r>
            <a:r>
              <a:rPr lang="el-GR" dirty="0" err="1"/>
              <a:t>Claim</a:t>
            </a:r>
            <a:r>
              <a:rPr lang="el-GR" dirty="0"/>
              <a:t>, μετά θα κάνεις την αναζήτηση μόνο με βάση αυτή τη δήλωση την οποία έχεις ανάβει και έπειτα θα μας παρουσιάσει ένα </a:t>
            </a:r>
            <a:r>
              <a:rPr lang="el-GR" dirty="0" err="1"/>
              <a:t>Output</a:t>
            </a:r>
            <a:r>
              <a:rPr lang="el-GR" dirty="0"/>
              <a:t> σαν JSON και μόνο JSON για τους λόγους που αναφέραμε και πριν, αυτά που ήταν στην προηγούμενη διαφάνεια. Το JSON περιέχει τέσσερα παιδεία. Το </a:t>
            </a:r>
            <a:r>
              <a:rPr lang="el-GR" dirty="0" err="1"/>
              <a:t>Vertex</a:t>
            </a:r>
            <a:r>
              <a:rPr lang="el-GR" dirty="0"/>
              <a:t>, το </a:t>
            </a:r>
            <a:r>
              <a:rPr lang="el-GR" dirty="0" err="1"/>
              <a:t>Confidence</a:t>
            </a:r>
            <a:r>
              <a:rPr lang="el-GR" dirty="0"/>
              <a:t> </a:t>
            </a:r>
            <a:r>
              <a:rPr lang="el-GR" dirty="0" err="1"/>
              <a:t>Score</a:t>
            </a:r>
            <a:r>
              <a:rPr lang="el-GR" dirty="0"/>
              <a:t> που είδαμε πριν και το </a:t>
            </a:r>
            <a:r>
              <a:rPr lang="el-GR" dirty="0" err="1"/>
              <a:t>Reason</a:t>
            </a:r>
            <a:r>
              <a:rPr lang="el-GR" dirty="0"/>
              <a:t> και τα </a:t>
            </a:r>
            <a:r>
              <a:rPr lang="el-GR" dirty="0" err="1"/>
              <a:t>Supported</a:t>
            </a:r>
            <a:r>
              <a:rPr lang="el-GR" dirty="0"/>
              <a:t> </a:t>
            </a:r>
            <a:r>
              <a:rPr lang="el-GR" dirty="0" err="1"/>
              <a:t>Sources</a:t>
            </a:r>
            <a:r>
              <a:rPr lang="el-GR" dirty="0"/>
              <a:t>. Και γενικότερα για να κάνεις καλύτερο, είναι αυτό που λέμε ότι έχει τεράστιο </a:t>
            </a:r>
            <a:r>
              <a:rPr lang="el-GR" dirty="0" err="1"/>
              <a:t>scalability</a:t>
            </a:r>
            <a:r>
              <a:rPr lang="el-GR" dirty="0"/>
              <a:t>. Ανάλογα με πόσο αναλυτικό θα είναι το </a:t>
            </a:r>
            <a:r>
              <a:rPr lang="el-GR" dirty="0" err="1"/>
              <a:t>problem</a:t>
            </a:r>
            <a:r>
              <a:rPr lang="el-GR" dirty="0"/>
              <a:t>, το JSON καλύτερο θα είναι και ο </a:t>
            </a:r>
            <a:r>
              <a:rPr lang="el-GR" dirty="0" err="1"/>
              <a:t>agent</a:t>
            </a:r>
            <a:r>
              <a:rPr lang="el-GR" dirty="0"/>
              <a:t>. Και όσο πιο αυστηρές οδηγίες του δώσεις, τόσο λιγότερα πράγματα θα έχει να σκεφτεί ο </a:t>
            </a:r>
            <a:r>
              <a:rPr lang="el-GR" dirty="0" err="1"/>
              <a:t>agent</a:t>
            </a:r>
            <a:r>
              <a:rPr lang="el-GR" dirty="0"/>
              <a:t>, τόσο καλύτερη απάντηση θα πάρεις και τόσο καλύτερη δουλειά και τόσο καλύτερο αποτέλεσμα θα έχεις μετά. Εδώ του δώσαμε μερικές αυστηρές οδηγίες οι οποίες θα χρησιμοποιούνται μόνο οι πηγές που βρίσκεις συμφωνήσεις με το </a:t>
            </a:r>
            <a:r>
              <a:rPr lang="el-GR" dirty="0" err="1"/>
              <a:t>tool</a:t>
            </a:r>
            <a:r>
              <a:rPr lang="el-GR" dirty="0"/>
              <a:t>. Να αποφεύγεις κάθε πιθανή εικασία. Να μην μπερδεύεις παρόμοια θέματα μέσα και να </a:t>
            </a:r>
            <a:r>
              <a:rPr lang="el-GR" dirty="0" err="1"/>
              <a:t>ξεκάθαρσαι</a:t>
            </a:r>
            <a:r>
              <a:rPr lang="el-GR" dirty="0"/>
              <a:t> αυτά που </a:t>
            </a:r>
            <a:r>
              <a:rPr lang="el-GR" dirty="0" err="1"/>
              <a:t>διαβάζειςΚαι</a:t>
            </a:r>
            <a:r>
              <a:rPr lang="el-GR" dirty="0"/>
              <a:t> να προσέχει πιθανό </a:t>
            </a:r>
            <a:r>
              <a:rPr lang="el-GR" dirty="0" err="1"/>
              <a:t>click-bait</a:t>
            </a:r>
            <a:r>
              <a:rPr lang="el-GR" dirty="0"/>
              <a:t> στις </a:t>
            </a:r>
            <a:r>
              <a:rPr lang="el-GR" dirty="0" err="1"/>
              <a:t>ενσημαντικές</a:t>
            </a:r>
            <a:r>
              <a:rPr lang="el-GR" dirty="0"/>
              <a:t> </a:t>
            </a:r>
            <a:r>
              <a:rPr lang="el-GR" dirty="0" err="1"/>
              <a:t>υπερβολίες</a:t>
            </a:r>
            <a:r>
              <a:rPr lang="el-GR" dirty="0"/>
              <a:t>.</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11</a:t>
            </a:fld>
            <a:endParaRPr lang="el-GR"/>
          </a:p>
        </p:txBody>
      </p:sp>
    </p:spTree>
    <p:extLst>
      <p:ext uri="{BB962C8B-B14F-4D97-AF65-F5344CB8AC3E}">
        <p14:creationId xmlns:p14="http://schemas.microsoft.com/office/powerpoint/2010/main" val="1685508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Πάμε λοιπόν στο δεύτερο </a:t>
            </a:r>
            <a:r>
              <a:rPr lang="el-GR" dirty="0" err="1"/>
              <a:t>έτζεν</a:t>
            </a:r>
            <a:r>
              <a:rPr lang="el-GR" dirty="0"/>
              <a:t>, το οποίο είναι ο </a:t>
            </a:r>
            <a:r>
              <a:rPr lang="el-GR" dirty="0" err="1"/>
              <a:t>Second</a:t>
            </a:r>
            <a:r>
              <a:rPr lang="el-GR" dirty="0"/>
              <a:t> </a:t>
            </a:r>
            <a:r>
              <a:rPr lang="el-GR" dirty="0" err="1"/>
              <a:t>Search</a:t>
            </a:r>
            <a:r>
              <a:rPr lang="el-GR" dirty="0"/>
              <a:t> </a:t>
            </a:r>
            <a:r>
              <a:rPr lang="el-GR" dirty="0" err="1"/>
              <a:t>Engine</a:t>
            </a:r>
            <a:r>
              <a:rPr lang="el-GR" dirty="0"/>
              <a:t>, και στην ουσία είναι ένας </a:t>
            </a:r>
            <a:r>
              <a:rPr lang="el-GR" dirty="0" err="1"/>
              <a:t>έτζεν</a:t>
            </a:r>
            <a:r>
              <a:rPr lang="el-GR" dirty="0"/>
              <a:t> που λειτουργεί επικουρικά στον πρώτο </a:t>
            </a:r>
            <a:r>
              <a:rPr lang="el-GR" dirty="0" err="1"/>
              <a:t>έτζεν</a:t>
            </a:r>
            <a:r>
              <a:rPr lang="el-GR" dirty="0"/>
              <a:t>, το </a:t>
            </a:r>
            <a:r>
              <a:rPr lang="el-GR" dirty="0" err="1"/>
              <a:t>Fake</a:t>
            </a:r>
            <a:r>
              <a:rPr lang="el-GR" dirty="0"/>
              <a:t> </a:t>
            </a:r>
            <a:r>
              <a:rPr lang="el-GR" dirty="0" err="1"/>
              <a:t>News</a:t>
            </a:r>
            <a:r>
              <a:rPr lang="el-GR" dirty="0"/>
              <a:t> </a:t>
            </a:r>
            <a:r>
              <a:rPr lang="el-GR" dirty="0" err="1"/>
              <a:t>Classifier</a:t>
            </a:r>
            <a:r>
              <a:rPr lang="el-GR" dirty="0"/>
              <a:t> </a:t>
            </a:r>
            <a:r>
              <a:rPr lang="el-GR" dirty="0" err="1"/>
              <a:t>έτζεν</a:t>
            </a:r>
            <a:r>
              <a:rPr lang="el-GR" dirty="0"/>
              <a:t>, ο οποίος πρακτικά είναι για να αποφύγει πιθανά θέματα </a:t>
            </a:r>
            <a:r>
              <a:rPr lang="el-GR" dirty="0" err="1"/>
              <a:t>χαλουσιέσεων</a:t>
            </a:r>
            <a:r>
              <a:rPr lang="el-GR" dirty="0"/>
              <a:t> τα οποία μπορεί να έχει το σύστημα, έτσι ώστε να κάνει </a:t>
            </a:r>
            <a:r>
              <a:rPr lang="el-GR" dirty="0" err="1"/>
              <a:t>cross-verification</a:t>
            </a:r>
            <a:r>
              <a:rPr lang="el-GR" dirty="0"/>
              <a:t> αυτά τα οποία παίρνει και ο ίδιος από τον </a:t>
            </a:r>
            <a:r>
              <a:rPr lang="el-GR" dirty="0" err="1"/>
              <a:t>Input</a:t>
            </a:r>
            <a:r>
              <a:rPr lang="el-GR" dirty="0"/>
              <a:t> </a:t>
            </a:r>
            <a:r>
              <a:rPr lang="el-GR" dirty="0" err="1"/>
              <a:t>Agent</a:t>
            </a:r>
            <a:r>
              <a:rPr lang="el-GR" dirty="0"/>
              <a:t>, αλλά αυτή τη φορά με ένα διαφορετικό εργαλείο, το οποίο είναι το Server API, το οποίο είναι πάλι ένα </a:t>
            </a:r>
            <a:r>
              <a:rPr lang="el-GR" dirty="0" err="1"/>
              <a:t>Search</a:t>
            </a:r>
            <a:r>
              <a:rPr lang="el-GR" dirty="0"/>
              <a:t> </a:t>
            </a:r>
            <a:r>
              <a:rPr lang="el-GR" dirty="0" err="1"/>
              <a:t>Tool</a:t>
            </a:r>
            <a:r>
              <a:rPr lang="el-GR" dirty="0"/>
              <a:t>, πάλι ένα API το οποίο ψάχνει στο ίντερνετ. Από κάτω βλέπουμε πάλι το Ad, που δίνει το συγκεκριμένος </a:t>
            </a:r>
            <a:r>
              <a:rPr lang="el-GR" dirty="0" err="1"/>
              <a:t>έτζεν</a:t>
            </a:r>
            <a:r>
              <a:rPr lang="el-GR" dirty="0"/>
              <a:t>, ο οποίος είναι πάλι ένα </a:t>
            </a:r>
            <a:r>
              <a:rPr lang="el-GR" dirty="0" err="1"/>
              <a:t>verdict</a:t>
            </a:r>
            <a:r>
              <a:rPr lang="el-GR" dirty="0"/>
              <a:t>, ο οποίος αυτή τη φορά είναι </a:t>
            </a:r>
            <a:r>
              <a:rPr lang="el-GR" dirty="0" err="1"/>
              <a:t>likely</a:t>
            </a:r>
            <a:r>
              <a:rPr lang="el-GR" dirty="0"/>
              <a:t> </a:t>
            </a:r>
            <a:r>
              <a:rPr lang="el-GR" dirty="0" err="1"/>
              <a:t>fake</a:t>
            </a:r>
            <a:r>
              <a:rPr lang="el-GR" dirty="0"/>
              <a:t>, </a:t>
            </a:r>
            <a:r>
              <a:rPr lang="el-GR" dirty="0" err="1"/>
              <a:t>likely</a:t>
            </a:r>
            <a:r>
              <a:rPr lang="el-GR" dirty="0"/>
              <a:t> </a:t>
            </a:r>
            <a:r>
              <a:rPr lang="el-GR" dirty="0" err="1"/>
              <a:t>true</a:t>
            </a:r>
            <a:r>
              <a:rPr lang="el-GR" dirty="0"/>
              <a:t>, ή </a:t>
            </a:r>
            <a:r>
              <a:rPr lang="el-GR" dirty="0" err="1"/>
              <a:t>no</a:t>
            </a:r>
            <a:r>
              <a:rPr lang="el-GR" dirty="0"/>
              <a:t> </a:t>
            </a:r>
            <a:r>
              <a:rPr lang="el-GR" dirty="0" err="1"/>
              <a:t>clear</a:t>
            </a:r>
            <a:r>
              <a:rPr lang="el-GR" dirty="0"/>
              <a:t> </a:t>
            </a:r>
            <a:r>
              <a:rPr lang="el-GR" dirty="0" err="1"/>
              <a:t>evidence</a:t>
            </a:r>
            <a:r>
              <a:rPr lang="el-GR" dirty="0"/>
              <a:t>. Δίνει πάλι κάποια </a:t>
            </a:r>
            <a:r>
              <a:rPr lang="el-GR" dirty="0" err="1"/>
              <a:t>supporting</a:t>
            </a:r>
            <a:r>
              <a:rPr lang="el-GR" dirty="0"/>
              <a:t> </a:t>
            </a:r>
            <a:r>
              <a:rPr lang="el-GR" dirty="0" err="1"/>
              <a:t>sources</a:t>
            </a:r>
            <a:r>
              <a:rPr lang="el-GR" dirty="0"/>
              <a:t> και ένα </a:t>
            </a:r>
            <a:r>
              <a:rPr lang="el-GR" dirty="0" err="1"/>
              <a:t>search</a:t>
            </a:r>
            <a:r>
              <a:rPr lang="el-GR" dirty="0"/>
              <a:t> </a:t>
            </a:r>
            <a:r>
              <a:rPr lang="el-GR" dirty="0" err="1"/>
              <a:t>summary</a:t>
            </a:r>
            <a:r>
              <a:rPr lang="el-GR" dirty="0"/>
              <a:t>, ένα </a:t>
            </a:r>
            <a:r>
              <a:rPr lang="el-GR" dirty="0" err="1"/>
              <a:t>reasoning</a:t>
            </a:r>
            <a:r>
              <a:rPr lang="el-GR" dirty="0"/>
              <a:t> πάλι, το οποίο κάνει αυτό, γιατί όπως είπαμε και στην αρχή θέλουμε να υπάρχει το </a:t>
            </a:r>
            <a:r>
              <a:rPr lang="el-GR" dirty="0" err="1"/>
              <a:t>explainability</a:t>
            </a:r>
            <a:r>
              <a:rPr lang="el-GR" dirty="0"/>
              <a:t>, γιατί γίνεται το καθετί.</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12</a:t>
            </a:fld>
            <a:endParaRPr lang="el-GR"/>
          </a:p>
        </p:txBody>
      </p:sp>
    </p:spTree>
    <p:extLst>
      <p:ext uri="{BB962C8B-B14F-4D97-AF65-F5344CB8AC3E}">
        <p14:creationId xmlns:p14="http://schemas.microsoft.com/office/powerpoint/2010/main" val="2291161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err="1"/>
              <a:t>Παλι</a:t>
            </a:r>
            <a:r>
              <a:rPr lang="el-GR" dirty="0"/>
              <a:t> στο </a:t>
            </a:r>
            <a:r>
              <a:rPr lang="el-GR" dirty="0" err="1"/>
              <a:t>ιδιο</a:t>
            </a:r>
            <a:r>
              <a:rPr lang="el-GR" dirty="0"/>
              <a:t> </a:t>
            </a:r>
            <a:r>
              <a:rPr lang="el-GR" dirty="0" err="1"/>
              <a:t>μοτιβο</a:t>
            </a:r>
            <a:r>
              <a:rPr lang="el-GR" dirty="0"/>
              <a:t> </a:t>
            </a:r>
            <a:r>
              <a:rPr lang="el-GR" dirty="0" err="1"/>
              <a:t>παμε</a:t>
            </a:r>
            <a:r>
              <a:rPr lang="el-GR" dirty="0"/>
              <a:t> να </a:t>
            </a:r>
            <a:r>
              <a:rPr lang="el-GR" dirty="0" err="1"/>
              <a:t>δουμε</a:t>
            </a:r>
            <a:r>
              <a:rPr lang="el-GR" dirty="0"/>
              <a:t> τι </a:t>
            </a:r>
            <a:r>
              <a:rPr lang="el-GR" dirty="0" err="1"/>
              <a:t>εχουμε</a:t>
            </a:r>
            <a:r>
              <a:rPr lang="el-GR" dirty="0"/>
              <a:t> </a:t>
            </a:r>
            <a:r>
              <a:rPr lang="el-GR" dirty="0" err="1"/>
              <a:t>δηλωσει</a:t>
            </a:r>
            <a:r>
              <a:rPr lang="el-GR" dirty="0"/>
              <a:t> στον 2</a:t>
            </a:r>
            <a:r>
              <a:rPr lang="el-GR" baseline="30000" dirty="0"/>
              <a:t>ο</a:t>
            </a:r>
            <a:r>
              <a:rPr lang="el-GR" dirty="0"/>
              <a:t> </a:t>
            </a:r>
            <a:r>
              <a:rPr lang="en-US" dirty="0"/>
              <a:t>agent.</a:t>
            </a:r>
            <a:r>
              <a:rPr lang="el-GR" dirty="0"/>
              <a:t> Του λέμε, λοιπόν, ότι είσαι ένας δευτερεύων </a:t>
            </a:r>
            <a:r>
              <a:rPr lang="el-GR" dirty="0" err="1"/>
              <a:t>search</a:t>
            </a:r>
            <a:r>
              <a:rPr lang="el-GR" dirty="0"/>
              <a:t> </a:t>
            </a:r>
            <a:r>
              <a:rPr lang="el-GR" dirty="0" err="1"/>
              <a:t>agent</a:t>
            </a:r>
            <a:r>
              <a:rPr lang="el-GR" dirty="0"/>
              <a:t>, ο οποίος χρειάζεται τη δίκτυα να χρησιμοποιήσει το Server API για να ελέγξεις ψευδές ειδήσεις. Η </a:t>
            </a:r>
            <a:r>
              <a:rPr lang="el-GR" dirty="0" err="1"/>
              <a:t>διδάκρυα</a:t>
            </a:r>
            <a:r>
              <a:rPr lang="el-GR" dirty="0"/>
              <a:t> είναι η ίδια. Θα παίρνεις πάλι μια δήλωση, κάνεις αναζήτηση μόνο με αυτή και επιστρέφεις πάλι έναν JSON με τρία παιδιά. Αυτή τη φορά το </a:t>
            </a:r>
            <a:r>
              <a:rPr lang="el-GR" dirty="0" err="1"/>
              <a:t>search</a:t>
            </a:r>
            <a:r>
              <a:rPr lang="el-GR" dirty="0"/>
              <a:t> άμα δεν είναι </a:t>
            </a:r>
            <a:r>
              <a:rPr lang="el-GR" dirty="0" err="1"/>
              <a:t>προηγουμένος</a:t>
            </a:r>
            <a:r>
              <a:rPr lang="el-GR" dirty="0"/>
              <a:t>, πηγές και την εκτίμηση την οποία έχεις να κάνεις. Η </a:t>
            </a:r>
            <a:r>
              <a:rPr lang="el-GR" dirty="0" err="1"/>
              <a:t>κανόνηση</a:t>
            </a:r>
            <a:r>
              <a:rPr lang="el-GR" dirty="0"/>
              <a:t> είναι πάλι πάρα πολύ, το τονίζουμε ότι η </a:t>
            </a:r>
            <a:r>
              <a:rPr lang="el-GR" dirty="0" err="1"/>
              <a:t>κανόνηση</a:t>
            </a:r>
            <a:r>
              <a:rPr lang="el-GR" dirty="0"/>
              <a:t> είναι </a:t>
            </a:r>
            <a:r>
              <a:rPr lang="el-GR" dirty="0" err="1"/>
              <a:t>αυστηρική</a:t>
            </a:r>
            <a:r>
              <a:rPr lang="el-GR" dirty="0"/>
              <a:t> άμα δεν την χρησιμοποιούμε και έντονες λέξεις, έντονους ύφους, όπως το </a:t>
            </a:r>
            <a:r>
              <a:rPr lang="el-GR" dirty="0" err="1"/>
              <a:t>important</a:t>
            </a:r>
            <a:r>
              <a:rPr lang="el-GR" dirty="0"/>
              <a:t>, η κεφαλαία, όπου χρειάζεται. Να χρησιμοποιείς μόνο τις </a:t>
            </a:r>
            <a:r>
              <a:rPr lang="el-GR" dirty="0" err="1"/>
              <a:t>όπλες</a:t>
            </a:r>
            <a:r>
              <a:rPr lang="el-GR" dirty="0"/>
              <a:t> τις πηγές, καμία εικασία και ποτέ να μην μαρκάρει κάτι, ωστόσο χωρίς </a:t>
            </a:r>
            <a:r>
              <a:rPr lang="el-GR" dirty="0" err="1"/>
              <a:t>κακάθαρη</a:t>
            </a:r>
            <a:r>
              <a:rPr lang="el-GR" dirty="0"/>
              <a:t> </a:t>
            </a:r>
            <a:r>
              <a:rPr lang="el-GR" dirty="0" err="1"/>
              <a:t>επιβεβαιώση</a:t>
            </a:r>
            <a:r>
              <a:rPr lang="el-GR" dirty="0"/>
              <a:t> από πολλές πηγές. Γιατί θέλουμε να, όντως, θέλουμε να αποφύγουμε το γεγονός ότι μια πηγή, η οποία μπορεί να είναι και αυτή </a:t>
            </a:r>
            <a:r>
              <a:rPr lang="el-GR" dirty="0" err="1"/>
              <a:t>fake</a:t>
            </a:r>
            <a:r>
              <a:rPr lang="el-GR" dirty="0"/>
              <a:t>, να το λέει </a:t>
            </a:r>
            <a:r>
              <a:rPr lang="el-GR" dirty="0" err="1"/>
              <a:t>true</a:t>
            </a:r>
            <a:r>
              <a:rPr lang="el-GR" dirty="0"/>
              <a:t> και να υπάρχουν άλλες τρεις, οι οποίες είναι </a:t>
            </a:r>
            <a:r>
              <a:rPr lang="el-GR" dirty="0" err="1"/>
              <a:t>fake</a:t>
            </a:r>
            <a:r>
              <a:rPr lang="el-GR" dirty="0"/>
              <a:t> και να μην τις πάρει της μετρητής. Επίσης, αυτό που βοηθάει πάρα πολύ τα LLM να δουλέψουν καλύτερα είναι να τους δίνεις παραδείγματα. Και αυτό είναι κάτι που έχουμε κάνει και εδώ, το οποίο θέλουμε να τονίσουμε τη διαφορετικότητα ανάμεσα στον τόνο των λέξεων. Και, για παράδειγμα, βλέπουμε ότι είναι διαφορετικό, το «</a:t>
            </a:r>
            <a:r>
              <a:rPr lang="el-GR" dirty="0" err="1"/>
              <a:t>she</a:t>
            </a:r>
            <a:r>
              <a:rPr lang="el-GR" dirty="0"/>
              <a:t> </a:t>
            </a:r>
            <a:r>
              <a:rPr lang="el-GR" dirty="0" err="1"/>
              <a:t>can</a:t>
            </a:r>
            <a:r>
              <a:rPr lang="el-GR" dirty="0"/>
              <a:t> </a:t>
            </a:r>
            <a:r>
              <a:rPr lang="el-GR" dirty="0" err="1"/>
              <a:t>leave</a:t>
            </a:r>
            <a:r>
              <a:rPr lang="el-GR" dirty="0"/>
              <a:t> </a:t>
            </a:r>
            <a:r>
              <a:rPr lang="el-GR" dirty="0" err="1"/>
              <a:t>whenever</a:t>
            </a:r>
            <a:r>
              <a:rPr lang="el-GR" dirty="0"/>
              <a:t> </a:t>
            </a:r>
            <a:r>
              <a:rPr lang="el-GR" dirty="0" err="1"/>
              <a:t>she</a:t>
            </a:r>
            <a:r>
              <a:rPr lang="el-GR" dirty="0"/>
              <a:t> </a:t>
            </a:r>
            <a:r>
              <a:rPr lang="el-GR" dirty="0" err="1"/>
              <a:t>wants</a:t>
            </a:r>
            <a:r>
              <a:rPr lang="el-GR" dirty="0"/>
              <a:t>» με το «</a:t>
            </a:r>
            <a:r>
              <a:rPr lang="el-GR" dirty="0" err="1"/>
              <a:t>they</a:t>
            </a:r>
            <a:r>
              <a:rPr lang="el-GR" dirty="0"/>
              <a:t> </a:t>
            </a:r>
            <a:r>
              <a:rPr lang="el-GR" dirty="0" err="1"/>
              <a:t>said</a:t>
            </a:r>
            <a:r>
              <a:rPr lang="el-GR" dirty="0"/>
              <a:t> </a:t>
            </a:r>
            <a:r>
              <a:rPr lang="el-GR" dirty="0" err="1"/>
              <a:t>get</a:t>
            </a:r>
            <a:r>
              <a:rPr lang="el-GR" dirty="0"/>
              <a:t> </a:t>
            </a:r>
            <a:r>
              <a:rPr lang="el-GR" dirty="0" err="1"/>
              <a:t>out</a:t>
            </a:r>
            <a:r>
              <a:rPr lang="el-GR" dirty="0"/>
              <a:t>, </a:t>
            </a:r>
            <a:r>
              <a:rPr lang="el-GR" dirty="0" err="1"/>
              <a:t>we</a:t>
            </a:r>
            <a:r>
              <a:rPr lang="el-GR" dirty="0"/>
              <a:t> </a:t>
            </a:r>
            <a:r>
              <a:rPr lang="el-GR" dirty="0" err="1"/>
              <a:t>don't</a:t>
            </a:r>
            <a:r>
              <a:rPr lang="el-GR" dirty="0"/>
              <a:t> </a:t>
            </a:r>
            <a:r>
              <a:rPr lang="el-GR" dirty="0" err="1"/>
              <a:t>care</a:t>
            </a:r>
            <a:r>
              <a:rPr lang="el-GR" dirty="0"/>
              <a:t> </a:t>
            </a:r>
            <a:r>
              <a:rPr lang="el-GR" dirty="0" err="1"/>
              <a:t>about</a:t>
            </a:r>
            <a:r>
              <a:rPr lang="el-GR" dirty="0"/>
              <a:t> </a:t>
            </a:r>
            <a:r>
              <a:rPr lang="el-GR" dirty="0" err="1"/>
              <a:t>you</a:t>
            </a:r>
            <a:r>
              <a:rPr lang="el-GR" dirty="0"/>
              <a:t>». Είναι και τα δύο το ίδιο αποτέλεσμα, ότι φεύγει ένας άνθρωπος, αλλά με δύο διαφορετικούς τόνους. Ο ένας είναι αυστηρός, ο ένας είναι πιο ήπιος. Έτσι ώστε να μπορεί να </a:t>
            </a:r>
            <a:r>
              <a:rPr lang="el-GR" dirty="0" err="1"/>
              <a:t>κατακτάρει</a:t>
            </a:r>
            <a:r>
              <a:rPr lang="el-GR" dirty="0"/>
              <a:t> και το τόνο το οποίο διαβάζει.</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13</a:t>
            </a:fld>
            <a:endParaRPr lang="el-GR"/>
          </a:p>
        </p:txBody>
      </p:sp>
    </p:spTree>
    <p:extLst>
      <p:ext uri="{BB962C8B-B14F-4D97-AF65-F5344CB8AC3E}">
        <p14:creationId xmlns:p14="http://schemas.microsoft.com/office/powerpoint/2010/main" val="3287864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Εδώ λοιπόν πάμε στον τρίτο </a:t>
            </a:r>
            <a:r>
              <a:rPr lang="el-GR" dirty="0" err="1"/>
              <a:t>agent</a:t>
            </a:r>
            <a:r>
              <a:rPr lang="el-GR" dirty="0"/>
              <a:t>, ο οποίος κάνει </a:t>
            </a:r>
            <a:r>
              <a:rPr lang="el-GR" dirty="0" err="1"/>
              <a:t>fact-checking</a:t>
            </a:r>
            <a:r>
              <a:rPr lang="el-GR" dirty="0"/>
              <a:t>, είναι ο </a:t>
            </a:r>
            <a:r>
              <a:rPr lang="el-GR" dirty="0" err="1"/>
              <a:t>scoring</a:t>
            </a:r>
            <a:r>
              <a:rPr lang="el-GR" dirty="0"/>
              <a:t> </a:t>
            </a:r>
            <a:r>
              <a:rPr lang="el-GR" dirty="0" err="1"/>
              <a:t>agent</a:t>
            </a:r>
            <a:r>
              <a:rPr lang="el-GR" dirty="0"/>
              <a:t>, ο οποίος, όπως είπαμε και προηγουμένως και στην αρχή, υπάρχουν διάφοροι τρόποι για να προσεγγίσει σε αυτό το θέμα. Εδώ ο </a:t>
            </a:r>
            <a:r>
              <a:rPr lang="el-GR" dirty="0" err="1"/>
              <a:t>scoring</a:t>
            </a:r>
            <a:r>
              <a:rPr lang="el-GR" dirty="0"/>
              <a:t> </a:t>
            </a:r>
            <a:r>
              <a:rPr lang="el-GR" dirty="0" err="1"/>
              <a:t>agent</a:t>
            </a:r>
            <a:r>
              <a:rPr lang="el-GR" dirty="0"/>
              <a:t> αναφέρεται στο </a:t>
            </a:r>
            <a:r>
              <a:rPr lang="el-GR" dirty="0" err="1"/>
              <a:t>gomtel-based</a:t>
            </a:r>
            <a:r>
              <a:rPr lang="el-GR" dirty="0"/>
              <a:t> </a:t>
            </a:r>
            <a:r>
              <a:rPr lang="el-GR" dirty="0" err="1"/>
              <a:t>analysis</a:t>
            </a:r>
            <a:r>
              <a:rPr lang="el-GR" dirty="0"/>
              <a:t> τρόπο, στον οποίο του ζητάμε να βγάζει ένα </a:t>
            </a:r>
            <a:r>
              <a:rPr lang="el-GR" dirty="0" err="1"/>
              <a:t>score</a:t>
            </a:r>
            <a:r>
              <a:rPr lang="el-GR" dirty="0"/>
              <a:t>, έτσι ώστε να μπορούμε να </a:t>
            </a:r>
            <a:r>
              <a:rPr lang="el-GR" dirty="0" err="1"/>
              <a:t>μαθηματικοποιήσουμε</a:t>
            </a:r>
            <a:r>
              <a:rPr lang="el-GR" dirty="0"/>
              <a:t> και λίγο τα αποτελέσματα, το οποίο θα αναλύει τον τόνο, το γλωσσικό τόνο, άμα είναι </a:t>
            </a:r>
            <a:r>
              <a:rPr lang="el-GR" dirty="0" err="1"/>
              <a:t>bias</a:t>
            </a:r>
            <a:r>
              <a:rPr lang="el-GR" dirty="0"/>
              <a:t>, άμα έχει συναισθήματα, την </a:t>
            </a:r>
            <a:r>
              <a:rPr lang="el-GR" dirty="0" err="1"/>
              <a:t>επικαιροποίηση</a:t>
            </a:r>
            <a:r>
              <a:rPr lang="el-GR" dirty="0"/>
              <a:t> του. Επίσης του ζητάμε να κάνει και ένα </a:t>
            </a:r>
            <a:r>
              <a:rPr lang="el-GR" dirty="0" err="1"/>
              <a:t>time-relevant</a:t>
            </a:r>
            <a:r>
              <a:rPr lang="el-GR" dirty="0"/>
              <a:t> </a:t>
            </a:r>
            <a:r>
              <a:rPr lang="el-GR" dirty="0" err="1"/>
              <a:t>score</a:t>
            </a:r>
            <a:r>
              <a:rPr lang="el-GR" dirty="0"/>
              <a:t>, να δούμε δηλαδή πόσο πρόσφατο είναι αυτό που βλέπουμε, έτσι ώστε να δούμε αν υπάρχει </a:t>
            </a:r>
            <a:r>
              <a:rPr lang="el-GR" dirty="0" err="1"/>
              <a:t>real-time</a:t>
            </a:r>
            <a:r>
              <a:rPr lang="el-GR" dirty="0"/>
              <a:t>, αν έχει αλλάξει, αν υπάρχουν ακόμα τα ίδια. Και βλέπουμε, μας δίνει από κάτω στο </a:t>
            </a:r>
            <a:r>
              <a:rPr lang="el-GR" dirty="0" err="1"/>
              <a:t>out</a:t>
            </a:r>
            <a:r>
              <a:rPr lang="el-GR" dirty="0"/>
              <a:t> το τέσσερα </a:t>
            </a:r>
            <a:r>
              <a:rPr lang="el-GR" dirty="0" err="1"/>
              <a:t>score</a:t>
            </a:r>
            <a:r>
              <a:rPr lang="el-GR" dirty="0"/>
              <a:t>, αυτό είναι το </a:t>
            </a:r>
            <a:r>
              <a:rPr lang="el-GR" dirty="0" err="1"/>
              <a:t>bias</a:t>
            </a:r>
            <a:r>
              <a:rPr lang="el-GR" dirty="0"/>
              <a:t> </a:t>
            </a:r>
            <a:r>
              <a:rPr lang="el-GR" dirty="0" err="1"/>
              <a:t>κορτενός</a:t>
            </a:r>
            <a:r>
              <a:rPr lang="el-GR" dirty="0"/>
              <a:t>, το </a:t>
            </a:r>
            <a:r>
              <a:rPr lang="el-GR" dirty="0" err="1"/>
              <a:t>κορτενό</a:t>
            </a:r>
            <a:r>
              <a:rPr lang="el-GR" dirty="0"/>
              <a:t> </a:t>
            </a:r>
            <a:r>
              <a:rPr lang="el-GR" dirty="0" err="1"/>
              <a:t>score</a:t>
            </a:r>
            <a:r>
              <a:rPr lang="el-GR" dirty="0"/>
              <a:t> και το </a:t>
            </a:r>
            <a:r>
              <a:rPr lang="el-GR" dirty="0" err="1"/>
              <a:t>time-relevant</a:t>
            </a:r>
            <a:r>
              <a:rPr lang="el-GR" dirty="0"/>
              <a:t> </a:t>
            </a:r>
            <a:r>
              <a:rPr lang="el-GR" dirty="0" err="1"/>
              <a:t>score</a:t>
            </a:r>
            <a:r>
              <a:rPr lang="el-GR" dirty="0"/>
              <a:t>, να δούμε πόσο πρόσφατο είναι ή όχι, και ένα </a:t>
            </a:r>
            <a:r>
              <a:rPr lang="el-GR" dirty="0" err="1"/>
              <a:t>scoring</a:t>
            </a:r>
            <a:r>
              <a:rPr lang="el-GR" dirty="0"/>
              <a:t> </a:t>
            </a:r>
            <a:r>
              <a:rPr lang="el-GR" dirty="0" err="1"/>
              <a:t>reasoning</a:t>
            </a:r>
            <a:r>
              <a:rPr lang="el-GR" dirty="0"/>
              <a:t>, για ποιον λόγο τα </a:t>
            </a:r>
            <a:r>
              <a:rPr lang="el-GR" dirty="0" err="1"/>
              <a:t>βαθμολόγεις</a:t>
            </a:r>
            <a:r>
              <a:rPr lang="el-GR" dirty="0"/>
              <a:t> έτσι.</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14</a:t>
            </a:fld>
            <a:endParaRPr lang="el-GR"/>
          </a:p>
        </p:txBody>
      </p:sp>
    </p:spTree>
    <p:extLst>
      <p:ext uri="{BB962C8B-B14F-4D97-AF65-F5344CB8AC3E}">
        <p14:creationId xmlns:p14="http://schemas.microsoft.com/office/powerpoint/2010/main" val="1361422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Εδώ πάλι βλέπουμε ότι η </a:t>
            </a:r>
            <a:r>
              <a:rPr lang="el-GR" dirty="0" err="1"/>
              <a:t>γενιότητα</a:t>
            </a:r>
            <a:r>
              <a:rPr lang="el-GR" dirty="0"/>
              <a:t> χρησιμοποιεί πάλι μόνο το LNM χωρίς κάποιο ιδιαίτερο άλλο εργαλείο. Από τη δεξιά βλέπουμε πάλι το </a:t>
            </a:r>
            <a:r>
              <a:rPr lang="el-GR" dirty="0" err="1"/>
              <a:t>Prompt</a:t>
            </a:r>
            <a:r>
              <a:rPr lang="el-GR" dirty="0"/>
              <a:t>, το οποίο είναι πάλι της ίδιας μορφής. Παίρνει πάλι το </a:t>
            </a:r>
            <a:r>
              <a:rPr lang="el-GR" dirty="0" err="1"/>
              <a:t>Input</a:t>
            </a:r>
            <a:r>
              <a:rPr lang="el-GR" dirty="0"/>
              <a:t>, είναι ένα </a:t>
            </a:r>
            <a:r>
              <a:rPr lang="el-GR" dirty="0" err="1"/>
              <a:t>scoring</a:t>
            </a:r>
            <a:r>
              <a:rPr lang="el-GR" dirty="0"/>
              <a:t> </a:t>
            </a:r>
            <a:r>
              <a:rPr lang="el-GR" dirty="0" err="1"/>
              <a:t>agent</a:t>
            </a:r>
            <a:r>
              <a:rPr lang="el-GR" dirty="0"/>
              <a:t>. Θέλουμε να μας επιστρέψει κάποια συγκεκριμένα </a:t>
            </a:r>
            <a:r>
              <a:rPr lang="el-GR" dirty="0" err="1"/>
              <a:t>scores</a:t>
            </a:r>
            <a:r>
              <a:rPr lang="el-GR" dirty="0"/>
              <a:t> και </a:t>
            </a:r>
            <a:r>
              <a:rPr lang="el-GR" dirty="0" err="1"/>
              <a:t>labels</a:t>
            </a:r>
            <a:r>
              <a:rPr lang="el-GR" dirty="0"/>
              <a:t> και για να μπορέσει να επιστρέψει </a:t>
            </a:r>
            <a:r>
              <a:rPr lang="el-GR" dirty="0" err="1"/>
              <a:t>score</a:t>
            </a:r>
            <a:r>
              <a:rPr lang="el-GR" dirty="0"/>
              <a:t> και </a:t>
            </a:r>
            <a:r>
              <a:rPr lang="el-GR" dirty="0" err="1"/>
              <a:t>label</a:t>
            </a:r>
            <a:r>
              <a:rPr lang="el-GR" dirty="0"/>
              <a:t>, του δίνουμε κάποια de facto παιδεία. Για παράδειγμα, στα </a:t>
            </a:r>
            <a:r>
              <a:rPr lang="el-GR" dirty="0" err="1"/>
              <a:t>label</a:t>
            </a:r>
            <a:r>
              <a:rPr lang="el-GR" dirty="0"/>
              <a:t> κάποια </a:t>
            </a:r>
            <a:r>
              <a:rPr lang="el-GR" dirty="0" err="1"/>
              <a:t>thresholds</a:t>
            </a:r>
            <a:r>
              <a:rPr lang="el-GR" dirty="0"/>
              <a:t> προκατασκευασμένα, όπως ότι θα θεωρείς το </a:t>
            </a:r>
            <a:r>
              <a:rPr lang="el-GR" dirty="0" err="1"/>
              <a:t>bias</a:t>
            </a:r>
            <a:r>
              <a:rPr lang="el-GR" dirty="0"/>
              <a:t> </a:t>
            </a:r>
            <a:r>
              <a:rPr lang="el-GR" dirty="0" err="1"/>
              <a:t>low</a:t>
            </a:r>
            <a:r>
              <a:rPr lang="el-GR" dirty="0"/>
              <a:t> αν το χαρακτηρίσεις από 0 έως 30. Αν το χαρακτηρίσεις από 30 έως 70, θα θέλουμε να μας το φέρεις σαν </a:t>
            </a:r>
            <a:r>
              <a:rPr lang="el-GR" dirty="0" err="1"/>
              <a:t>label</a:t>
            </a:r>
            <a:r>
              <a:rPr lang="el-GR" dirty="0"/>
              <a:t> </a:t>
            </a:r>
            <a:r>
              <a:rPr lang="el-GR" dirty="0" err="1"/>
              <a:t>medium</a:t>
            </a:r>
            <a:r>
              <a:rPr lang="el-GR" dirty="0"/>
              <a:t>. Αυτό είναι 0% σαν </a:t>
            </a:r>
            <a:r>
              <a:rPr lang="el-GR" dirty="0" err="1"/>
              <a:t>high</a:t>
            </a:r>
            <a:r>
              <a:rPr lang="el-GR" dirty="0"/>
              <a:t>. Εδώ πρέπει να </a:t>
            </a:r>
            <a:r>
              <a:rPr lang="el-GR" dirty="0" err="1"/>
              <a:t>εξκαθαρίσουμε</a:t>
            </a:r>
            <a:r>
              <a:rPr lang="el-GR" dirty="0"/>
              <a:t> ότι για οποιοδήποτε </a:t>
            </a:r>
            <a:r>
              <a:rPr lang="el-GR" dirty="0" err="1"/>
              <a:t>score</a:t>
            </a:r>
            <a:r>
              <a:rPr lang="el-GR" dirty="0"/>
              <a:t> βλέπουμε στους </a:t>
            </a:r>
            <a:r>
              <a:rPr lang="el-GR" dirty="0" err="1"/>
              <a:t>agents</a:t>
            </a:r>
            <a:r>
              <a:rPr lang="el-GR" dirty="0"/>
              <a:t> δεν χρησιμοποιείται κάποιο σημαντικός τύπος. Παρόλα αυτά χρησιμοποιείται η κρίση του LNM από πίσω.</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15</a:t>
            </a:fld>
            <a:endParaRPr lang="el-GR"/>
          </a:p>
        </p:txBody>
      </p:sp>
    </p:spTree>
    <p:extLst>
      <p:ext uri="{BB962C8B-B14F-4D97-AF65-F5344CB8AC3E}">
        <p14:creationId xmlns:p14="http://schemas.microsoft.com/office/powerpoint/2010/main" val="44744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Έπειτα, περνάμε στο </a:t>
            </a:r>
            <a:r>
              <a:rPr lang="el-GR" dirty="0" err="1"/>
              <a:t>Source</a:t>
            </a:r>
            <a:r>
              <a:rPr lang="el-GR" dirty="0"/>
              <a:t> Quality </a:t>
            </a:r>
            <a:r>
              <a:rPr lang="el-GR" dirty="0" err="1"/>
              <a:t>Checker</a:t>
            </a:r>
            <a:r>
              <a:rPr lang="el-GR" dirty="0"/>
              <a:t>. Ο ρόλος που παίρνει ο </a:t>
            </a:r>
            <a:r>
              <a:rPr lang="el-GR" dirty="0" err="1"/>
              <a:t>Source</a:t>
            </a:r>
            <a:r>
              <a:rPr lang="el-GR" dirty="0"/>
              <a:t> Quality </a:t>
            </a:r>
            <a:r>
              <a:rPr lang="el-GR" dirty="0" err="1"/>
              <a:t>Checker</a:t>
            </a:r>
            <a:r>
              <a:rPr lang="el-GR" dirty="0"/>
              <a:t> είναι ο ρόλος του </a:t>
            </a:r>
            <a:r>
              <a:rPr lang="el-GR" dirty="0" err="1"/>
              <a:t>Metadata</a:t>
            </a:r>
            <a:r>
              <a:rPr lang="el-GR" dirty="0"/>
              <a:t> </a:t>
            </a:r>
            <a:r>
              <a:rPr lang="el-GR" dirty="0" err="1"/>
              <a:t>Based</a:t>
            </a:r>
            <a:r>
              <a:rPr lang="el-GR" dirty="0"/>
              <a:t> </a:t>
            </a:r>
            <a:r>
              <a:rPr lang="el-GR" dirty="0" err="1"/>
              <a:t>Analysis</a:t>
            </a:r>
            <a:r>
              <a:rPr lang="el-GR" dirty="0"/>
              <a:t>. Στην ουσία, έρχεται εδώ για να κάνει </a:t>
            </a:r>
            <a:r>
              <a:rPr lang="el-GR" dirty="0" err="1"/>
              <a:t>evaluate</a:t>
            </a:r>
            <a:r>
              <a:rPr lang="el-GR" dirty="0"/>
              <a:t> την </a:t>
            </a:r>
            <a:r>
              <a:rPr lang="el-GR" dirty="0" err="1"/>
              <a:t>εγγυρωτικότητα</a:t>
            </a:r>
            <a:r>
              <a:rPr lang="el-GR" dirty="0"/>
              <a:t> των </a:t>
            </a:r>
            <a:r>
              <a:rPr lang="el-GR" dirty="0" err="1"/>
              <a:t>supporting</a:t>
            </a:r>
            <a:r>
              <a:rPr lang="el-GR" dirty="0"/>
              <a:t> </a:t>
            </a:r>
            <a:r>
              <a:rPr lang="el-GR" dirty="0" err="1"/>
              <a:t>URLs</a:t>
            </a:r>
            <a:r>
              <a:rPr lang="el-GR" dirty="0"/>
              <a:t>, όπως έχει πάρει για </a:t>
            </a:r>
            <a:r>
              <a:rPr lang="el-GR" dirty="0" err="1"/>
              <a:t>input</a:t>
            </a:r>
            <a:r>
              <a:rPr lang="el-GR" dirty="0"/>
              <a:t> από τους δύο </a:t>
            </a:r>
            <a:r>
              <a:rPr lang="el-GR" dirty="0" err="1"/>
              <a:t>Fact</a:t>
            </a:r>
            <a:r>
              <a:rPr lang="el-GR" dirty="0"/>
              <a:t> </a:t>
            </a:r>
            <a:r>
              <a:rPr lang="el-GR" dirty="0" err="1"/>
              <a:t>Checker</a:t>
            </a:r>
            <a:r>
              <a:rPr lang="el-GR" dirty="0"/>
              <a:t> </a:t>
            </a:r>
            <a:r>
              <a:rPr lang="el-GR" dirty="0" err="1"/>
              <a:t>Agents</a:t>
            </a:r>
            <a:r>
              <a:rPr lang="el-GR" dirty="0"/>
              <a:t>, το </a:t>
            </a:r>
            <a:r>
              <a:rPr lang="en-US" dirty="0" err="1"/>
              <a:t>Serper</a:t>
            </a:r>
            <a:r>
              <a:rPr lang="el-GR" dirty="0"/>
              <a:t> API και το </a:t>
            </a:r>
            <a:r>
              <a:rPr lang="el-GR" dirty="0" err="1"/>
              <a:t>Fake</a:t>
            </a:r>
            <a:r>
              <a:rPr lang="el-GR" dirty="0"/>
              <a:t> </a:t>
            </a:r>
            <a:r>
              <a:rPr lang="el-GR" dirty="0" err="1"/>
              <a:t>News</a:t>
            </a:r>
            <a:r>
              <a:rPr lang="el-GR" dirty="0"/>
              <a:t> </a:t>
            </a:r>
            <a:r>
              <a:rPr lang="el-GR" dirty="0" err="1"/>
              <a:t>Classifier</a:t>
            </a:r>
            <a:r>
              <a:rPr lang="el-GR" dirty="0"/>
              <a:t>. Και από κάτω βλέπουμε στο </a:t>
            </a:r>
            <a:r>
              <a:rPr lang="el-GR" dirty="0" err="1"/>
              <a:t>output</a:t>
            </a:r>
            <a:r>
              <a:rPr lang="el-GR" dirty="0"/>
              <a:t> να παίρνουμε ένα </a:t>
            </a:r>
            <a:r>
              <a:rPr lang="el-GR" dirty="0" err="1"/>
              <a:t>Average</a:t>
            </a:r>
            <a:r>
              <a:rPr lang="el-GR" dirty="0"/>
              <a:t> </a:t>
            </a:r>
            <a:r>
              <a:rPr lang="el-GR" dirty="0" err="1"/>
              <a:t>Source</a:t>
            </a:r>
            <a:r>
              <a:rPr lang="el-GR" dirty="0"/>
              <a:t> </a:t>
            </a:r>
            <a:r>
              <a:rPr lang="el-GR" dirty="0" err="1"/>
              <a:t>Score</a:t>
            </a:r>
            <a:r>
              <a:rPr lang="el-GR" dirty="0"/>
              <a:t>, ένα σκορ το οποίο ας είχε δώσει το TLL για τις πηγές, και </a:t>
            </a:r>
            <a:r>
              <a:rPr lang="el-GR" dirty="0" err="1"/>
              <a:t>Notes</a:t>
            </a:r>
            <a:r>
              <a:rPr lang="el-GR" dirty="0"/>
              <a:t>, ή αλλιώς </a:t>
            </a:r>
            <a:r>
              <a:rPr lang="el-GR" dirty="0" err="1"/>
              <a:t>Reasoning</a:t>
            </a:r>
            <a:r>
              <a:rPr lang="el-GR" dirty="0"/>
              <a:t> θα το έλεγα κανείς, για τις πηγές τις οποίες παραλάβουμε από τους δύο προηγούμενους </a:t>
            </a:r>
            <a:r>
              <a:rPr lang="el-GR" dirty="0" err="1"/>
              <a:t>Agents</a:t>
            </a:r>
            <a:r>
              <a:rPr lang="el-GR" dirty="0"/>
              <a:t>.</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16</a:t>
            </a:fld>
            <a:endParaRPr lang="el-GR"/>
          </a:p>
        </p:txBody>
      </p:sp>
    </p:spTree>
    <p:extLst>
      <p:ext uri="{BB962C8B-B14F-4D97-AF65-F5344CB8AC3E}">
        <p14:creationId xmlns:p14="http://schemas.microsoft.com/office/powerpoint/2010/main" val="1580477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Στο ίδιο </a:t>
            </a:r>
            <a:r>
              <a:rPr lang="el-GR" dirty="0" err="1"/>
              <a:t>μοτήφο</a:t>
            </a:r>
            <a:r>
              <a:rPr lang="el-GR" dirty="0"/>
              <a:t> παρατηρούμε πάλι ότι και αυτός ο </a:t>
            </a:r>
            <a:r>
              <a:rPr lang="el-GR" dirty="0" err="1"/>
              <a:t>agent</a:t>
            </a:r>
            <a:r>
              <a:rPr lang="el-GR" dirty="0"/>
              <a:t> χρησιμοποιεί μάλλον μόνο το LLM σαν εργαλείο, και άμα δούμε δεξιά το </a:t>
            </a:r>
            <a:r>
              <a:rPr lang="el-GR" dirty="0" err="1"/>
              <a:t>output</a:t>
            </a:r>
            <a:r>
              <a:rPr lang="el-GR" dirty="0"/>
              <a:t>, αυτό που </a:t>
            </a:r>
            <a:r>
              <a:rPr lang="el-GR" dirty="0" err="1"/>
              <a:t>διαφορετοποιείται</a:t>
            </a:r>
            <a:r>
              <a:rPr lang="el-GR" dirty="0"/>
              <a:t> από τους προηγούμενους είναι αυτός </a:t>
            </a:r>
            <a:r>
              <a:rPr lang="el-GR" dirty="0" err="1"/>
              <a:t>συγκεκριμένως</a:t>
            </a:r>
            <a:r>
              <a:rPr lang="el-GR" dirty="0"/>
              <a:t> παίρνει σαν </a:t>
            </a:r>
            <a:r>
              <a:rPr lang="el-GR" dirty="0" err="1"/>
              <a:t>input</a:t>
            </a:r>
            <a:r>
              <a:rPr lang="el-GR" dirty="0"/>
              <a:t> τα </a:t>
            </a:r>
            <a:r>
              <a:rPr lang="el-GR" dirty="0" err="1"/>
              <a:t>outputs</a:t>
            </a:r>
            <a:r>
              <a:rPr lang="el-GR" dirty="0"/>
              <a:t> των δύο άλλων </a:t>
            </a:r>
            <a:r>
              <a:rPr lang="el-GR" dirty="0" err="1"/>
              <a:t>agent</a:t>
            </a:r>
            <a:r>
              <a:rPr lang="el-GR" dirty="0"/>
              <a:t>, όπως βλέπουμε εδώ. Και ότι το </a:t>
            </a:r>
            <a:r>
              <a:rPr lang="el-GR" dirty="0" err="1"/>
              <a:t>task</a:t>
            </a:r>
            <a:r>
              <a:rPr lang="el-GR" dirty="0"/>
              <a:t> του είναι να αξιολογήσει το πόσο έμπιστες είναι αυτές οι πηγές και αυτά τα </a:t>
            </a:r>
            <a:r>
              <a:rPr lang="el-GR" dirty="0" err="1"/>
              <a:t>domains</a:t>
            </a:r>
            <a:r>
              <a:rPr lang="el-GR" dirty="0"/>
              <a:t>, το </a:t>
            </a:r>
            <a:r>
              <a:rPr lang="el-GR" dirty="0" err="1"/>
              <a:t>publisher</a:t>
            </a:r>
            <a:r>
              <a:rPr lang="el-GR" dirty="0"/>
              <a:t>, τη φήμη του </a:t>
            </a:r>
            <a:r>
              <a:rPr lang="el-GR" dirty="0" err="1"/>
              <a:t>publisher</a:t>
            </a:r>
            <a:r>
              <a:rPr lang="el-GR" dirty="0"/>
              <a:t> και το </a:t>
            </a:r>
            <a:r>
              <a:rPr lang="el-GR" dirty="0" err="1"/>
              <a:t>credibility</a:t>
            </a:r>
            <a:r>
              <a:rPr lang="el-GR" dirty="0"/>
              <a:t>. Και τους ζητάμε να μας δώσει πάλι ένα </a:t>
            </a:r>
            <a:r>
              <a:rPr lang="el-GR" dirty="0" err="1"/>
              <a:t>score</a:t>
            </a:r>
            <a:r>
              <a:rPr lang="el-GR" dirty="0"/>
              <a:t> με ένα </a:t>
            </a:r>
            <a:r>
              <a:rPr lang="el-GR" dirty="0" err="1"/>
              <a:t>label</a:t>
            </a:r>
            <a:r>
              <a:rPr lang="el-GR" dirty="0"/>
              <a:t>. Και όπως είδαμε και προηγουμένως, για να μπορέσεις να μας δώσεις </a:t>
            </a:r>
            <a:r>
              <a:rPr lang="el-GR" dirty="0" err="1"/>
              <a:t>score</a:t>
            </a:r>
            <a:r>
              <a:rPr lang="el-GR" dirty="0"/>
              <a:t> και </a:t>
            </a:r>
            <a:r>
              <a:rPr lang="el-GR" dirty="0" err="1"/>
              <a:t>label</a:t>
            </a:r>
            <a:r>
              <a:rPr lang="el-GR" dirty="0"/>
              <a:t>, θα πρέπει να δώσουμε κάποιους </a:t>
            </a:r>
            <a:r>
              <a:rPr lang="el-GR" dirty="0" err="1"/>
              <a:t>προκατασκευασμούς</a:t>
            </a:r>
            <a:r>
              <a:rPr lang="el-GR" dirty="0"/>
              <a:t>, ένα παιδεία, κάποιους ορισμούς από πίσω. Και, όπως πάλι </a:t>
            </a:r>
            <a:r>
              <a:rPr lang="el-GR" dirty="0" err="1"/>
              <a:t>ξαναναφερθήκαμε</a:t>
            </a:r>
            <a:r>
              <a:rPr lang="el-GR" dirty="0"/>
              <a:t>, ένα LLM χρησιμοποιείται και δίνει καλύτερα αποτελέσματα όταν του δεις κάποιο παράδειγμα. Οπότε, το εξηγούμε ότι άμα προέρχεται από </a:t>
            </a:r>
            <a:r>
              <a:rPr lang="el-GR" dirty="0" err="1"/>
              <a:t>sources</a:t>
            </a:r>
            <a:r>
              <a:rPr lang="el-GR" dirty="0"/>
              <a:t>, από </a:t>
            </a:r>
            <a:r>
              <a:rPr lang="el-GR" dirty="0" err="1"/>
              <a:t>domains</a:t>
            </a:r>
            <a:r>
              <a:rPr lang="el-GR" dirty="0"/>
              <a:t>, όπως .</a:t>
            </a:r>
            <a:r>
              <a:rPr lang="el-GR" dirty="0" err="1"/>
              <a:t>gov</a:t>
            </a:r>
            <a:r>
              <a:rPr lang="el-GR" dirty="0"/>
              <a:t> ή .</a:t>
            </a:r>
            <a:r>
              <a:rPr lang="el-GR" dirty="0" err="1"/>
              <a:t>edu</a:t>
            </a:r>
            <a:r>
              <a:rPr lang="el-GR" dirty="0"/>
              <a:t>, που ξέρουμε ότι είναι </a:t>
            </a:r>
            <a:r>
              <a:rPr lang="el-GR" dirty="0" err="1"/>
              <a:t>δημοσίεύσεις</a:t>
            </a:r>
            <a:r>
              <a:rPr lang="el-GR" dirty="0"/>
              <a:t> οι οποίες έχουν βάσει και έχουν περάσει έλεγχο, τότε θα έχουμε το κριτικάρισμα 85% έως 100% σαν </a:t>
            </a:r>
            <a:r>
              <a:rPr lang="el-GR" dirty="0" err="1"/>
              <a:t>high</a:t>
            </a:r>
            <a:r>
              <a:rPr lang="el-GR" dirty="0"/>
              <a:t>. Άμα δούμε βέβαια ότι προέρχεται από </a:t>
            </a:r>
            <a:r>
              <a:rPr lang="el-GR" dirty="0" err="1"/>
              <a:t>mainstream</a:t>
            </a:r>
            <a:r>
              <a:rPr lang="el-GR" dirty="0"/>
              <a:t> </a:t>
            </a:r>
            <a:r>
              <a:rPr lang="el-GR" dirty="0" err="1"/>
              <a:t>media</a:t>
            </a:r>
            <a:r>
              <a:rPr lang="el-GR" dirty="0"/>
              <a:t>, όπως το BBC, που πάλι να αξιοποιήσεις πηγές αν είναι </a:t>
            </a:r>
            <a:r>
              <a:rPr lang="el-GR" dirty="0" err="1"/>
              <a:t>media</a:t>
            </a:r>
            <a:r>
              <a:rPr lang="el-GR" dirty="0"/>
              <a:t>, τότε θα βάλεις </a:t>
            </a:r>
            <a:r>
              <a:rPr lang="el-GR" dirty="0" err="1"/>
              <a:t>medium</a:t>
            </a:r>
            <a:r>
              <a:rPr lang="el-GR" dirty="0"/>
              <a:t> </a:t>
            </a:r>
            <a:r>
              <a:rPr lang="el-GR" dirty="0" err="1"/>
              <a:t>high</a:t>
            </a:r>
            <a:r>
              <a:rPr lang="el-GR" dirty="0"/>
              <a:t>. Και ο ίδιος επιστρέφει πάλι ένα JSON, όπως αυτό που είδαμε.</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17</a:t>
            </a:fld>
            <a:endParaRPr lang="el-GR"/>
          </a:p>
        </p:txBody>
      </p:sp>
    </p:spTree>
    <p:extLst>
      <p:ext uri="{BB962C8B-B14F-4D97-AF65-F5344CB8AC3E}">
        <p14:creationId xmlns:p14="http://schemas.microsoft.com/office/powerpoint/2010/main" val="3096660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Και φτάνουμε στον τελευταίο </a:t>
            </a:r>
            <a:r>
              <a:rPr lang="el-GR" dirty="0" err="1"/>
              <a:t>agent</a:t>
            </a:r>
            <a:r>
              <a:rPr lang="el-GR" dirty="0"/>
              <a:t>, το </a:t>
            </a:r>
            <a:r>
              <a:rPr lang="el-GR" dirty="0" err="1"/>
              <a:t>supervisor</a:t>
            </a:r>
            <a:r>
              <a:rPr lang="el-GR" dirty="0"/>
              <a:t> </a:t>
            </a:r>
            <a:r>
              <a:rPr lang="el-GR" dirty="0" err="1"/>
              <a:t>agent</a:t>
            </a:r>
            <a:r>
              <a:rPr lang="el-GR" dirty="0"/>
              <a:t>, ο οποίος πρακτικά συλλέγει όλα τα </a:t>
            </a:r>
            <a:r>
              <a:rPr lang="el-GR" dirty="0" err="1"/>
              <a:t>outputs</a:t>
            </a:r>
            <a:r>
              <a:rPr lang="el-GR" dirty="0"/>
              <a:t> από τους προηγούμενους τέσσερις </a:t>
            </a:r>
            <a:r>
              <a:rPr lang="el-GR" dirty="0" err="1"/>
              <a:t>agents</a:t>
            </a:r>
            <a:r>
              <a:rPr lang="el-GR" dirty="0"/>
              <a:t>, όχι τον </a:t>
            </a:r>
            <a:r>
              <a:rPr lang="el-GR" dirty="0" err="1"/>
              <a:t>input</a:t>
            </a:r>
            <a:r>
              <a:rPr lang="el-GR" dirty="0"/>
              <a:t> </a:t>
            </a:r>
            <a:r>
              <a:rPr lang="el-GR" dirty="0" err="1"/>
              <a:t>agent</a:t>
            </a:r>
            <a:r>
              <a:rPr lang="el-GR" dirty="0"/>
              <a:t>, από το </a:t>
            </a:r>
            <a:r>
              <a:rPr lang="el-GR" dirty="0" err="1"/>
              <a:t>fake</a:t>
            </a:r>
            <a:r>
              <a:rPr lang="el-GR" dirty="0"/>
              <a:t> </a:t>
            </a:r>
            <a:r>
              <a:rPr lang="el-GR" dirty="0" err="1"/>
              <a:t>news</a:t>
            </a:r>
            <a:r>
              <a:rPr lang="el-GR" dirty="0"/>
              <a:t> </a:t>
            </a:r>
            <a:r>
              <a:rPr lang="el-GR" dirty="0" err="1"/>
              <a:t>classifier</a:t>
            </a:r>
            <a:r>
              <a:rPr lang="el-GR" dirty="0"/>
              <a:t>, το </a:t>
            </a:r>
            <a:r>
              <a:rPr lang="el-GR" dirty="0" err="1"/>
              <a:t>second</a:t>
            </a:r>
            <a:r>
              <a:rPr lang="el-GR" dirty="0"/>
              <a:t> </a:t>
            </a:r>
            <a:r>
              <a:rPr lang="el-GR" dirty="0" err="1"/>
              <a:t>search</a:t>
            </a:r>
            <a:r>
              <a:rPr lang="el-GR" dirty="0"/>
              <a:t> </a:t>
            </a:r>
            <a:r>
              <a:rPr lang="el-GR" dirty="0" err="1"/>
              <a:t>agent</a:t>
            </a:r>
            <a:r>
              <a:rPr lang="el-GR" dirty="0"/>
              <a:t>, το </a:t>
            </a:r>
            <a:r>
              <a:rPr lang="el-GR" dirty="0" err="1"/>
              <a:t>scoring</a:t>
            </a:r>
            <a:r>
              <a:rPr lang="el-GR" dirty="0"/>
              <a:t> </a:t>
            </a:r>
            <a:r>
              <a:rPr lang="el-GR" dirty="0" err="1"/>
              <a:t>agent</a:t>
            </a:r>
            <a:r>
              <a:rPr lang="el-GR" dirty="0"/>
              <a:t> και το </a:t>
            </a:r>
            <a:r>
              <a:rPr lang="el-GR" dirty="0" err="1"/>
              <a:t>source</a:t>
            </a:r>
            <a:r>
              <a:rPr lang="el-GR" dirty="0"/>
              <a:t> </a:t>
            </a:r>
            <a:r>
              <a:rPr lang="el-GR" dirty="0" err="1"/>
              <a:t>quality</a:t>
            </a:r>
            <a:r>
              <a:rPr lang="el-GR" dirty="0"/>
              <a:t> </a:t>
            </a:r>
            <a:r>
              <a:rPr lang="el-GR" dirty="0" err="1"/>
              <a:t>agent</a:t>
            </a:r>
            <a:r>
              <a:rPr lang="el-GR" dirty="0"/>
              <a:t>, μαζεύει τα </a:t>
            </a:r>
            <a:r>
              <a:rPr lang="el-GR" dirty="0" err="1"/>
              <a:t>outputs</a:t>
            </a:r>
            <a:r>
              <a:rPr lang="el-GR" dirty="0"/>
              <a:t> τους και βγάζει το τελικό αποτέλεσμα το οποίο είναι ένα </a:t>
            </a:r>
            <a:r>
              <a:rPr lang="el-GR" dirty="0" err="1"/>
              <a:t>final</a:t>
            </a:r>
            <a:r>
              <a:rPr lang="el-GR" dirty="0"/>
              <a:t> </a:t>
            </a:r>
            <a:r>
              <a:rPr lang="el-GR" dirty="0" err="1"/>
              <a:t>decision</a:t>
            </a:r>
            <a:r>
              <a:rPr lang="el-GR" dirty="0"/>
              <a:t>, </a:t>
            </a:r>
            <a:r>
              <a:rPr lang="el-GR" dirty="0" err="1"/>
              <a:t>if</a:t>
            </a:r>
            <a:r>
              <a:rPr lang="el-GR" dirty="0"/>
              <a:t> </a:t>
            </a:r>
            <a:r>
              <a:rPr lang="el-GR" dirty="0" err="1"/>
              <a:t>it</a:t>
            </a:r>
            <a:r>
              <a:rPr lang="el-GR" dirty="0"/>
              <a:t> </a:t>
            </a:r>
            <a:r>
              <a:rPr lang="el-GR" dirty="0" err="1"/>
              <a:t>is</a:t>
            </a:r>
            <a:r>
              <a:rPr lang="el-GR" dirty="0"/>
              <a:t> </a:t>
            </a:r>
            <a:r>
              <a:rPr lang="el-GR" dirty="0" err="1"/>
              <a:t>real</a:t>
            </a:r>
            <a:r>
              <a:rPr lang="el-GR" dirty="0"/>
              <a:t> </a:t>
            </a:r>
            <a:r>
              <a:rPr lang="el-GR" dirty="0" err="1"/>
              <a:t>or</a:t>
            </a:r>
            <a:r>
              <a:rPr lang="el-GR" dirty="0"/>
              <a:t> </a:t>
            </a:r>
            <a:r>
              <a:rPr lang="el-GR" dirty="0" err="1"/>
              <a:t>true</a:t>
            </a:r>
            <a:r>
              <a:rPr lang="el-GR" dirty="0"/>
              <a:t>, ένα </a:t>
            </a:r>
            <a:r>
              <a:rPr lang="el-GR" dirty="0" err="1"/>
              <a:t>confidence</a:t>
            </a:r>
            <a:r>
              <a:rPr lang="el-GR" dirty="0"/>
              <a:t> </a:t>
            </a:r>
            <a:r>
              <a:rPr lang="el-GR" dirty="0" err="1"/>
              <a:t>level</a:t>
            </a:r>
            <a:r>
              <a:rPr lang="el-GR" dirty="0"/>
              <a:t>, με πόσο % </a:t>
            </a:r>
            <a:r>
              <a:rPr lang="el-GR" dirty="0" err="1"/>
              <a:t>confidence</a:t>
            </a:r>
            <a:r>
              <a:rPr lang="el-GR" dirty="0"/>
              <a:t> μας δίνει αυτή την απάντηση και ένα </a:t>
            </a:r>
            <a:r>
              <a:rPr lang="el-GR" dirty="0" err="1"/>
              <a:t>explanation</a:t>
            </a:r>
            <a:r>
              <a:rPr lang="el-GR" dirty="0"/>
              <a:t>, το οποίο είναι γιατί, εφόσον έχει ελέγξει όλα τα προηγούμενα </a:t>
            </a:r>
            <a:r>
              <a:rPr lang="el-GR" dirty="0" err="1"/>
              <a:t>outputs</a:t>
            </a:r>
            <a:r>
              <a:rPr lang="el-GR" dirty="0"/>
              <a:t>, γιατί μας έδωσε αυτό που ήταν να μας δώσει.</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18</a:t>
            </a:fld>
            <a:endParaRPr lang="el-GR"/>
          </a:p>
        </p:txBody>
      </p:sp>
    </p:spTree>
    <p:extLst>
      <p:ext uri="{BB962C8B-B14F-4D97-AF65-F5344CB8AC3E}">
        <p14:creationId xmlns:p14="http://schemas.microsoft.com/office/powerpoint/2010/main" val="771719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Παρακάτω βλέπουμε το πόσο μακροσκελές είναι το πρώτο συγκεκριμένο </a:t>
            </a:r>
            <a:r>
              <a:rPr lang="el-GR" dirty="0" err="1"/>
              <a:t>agent</a:t>
            </a:r>
            <a:r>
              <a:rPr lang="el-GR" dirty="0"/>
              <a:t>, γιατί αυτός είναι πρακτικά που θα δώσει και την τελική απάντηση. Αν το μιλήσαμε με απλούς ανθρώπους, θα λέγαμε ότι θα πάρει το μεγαλύτερο ρίσκο. Αρχικά πρέπει να πάρει σαν </a:t>
            </a:r>
            <a:r>
              <a:rPr lang="el-GR" dirty="0" err="1"/>
              <a:t>inputs</a:t>
            </a:r>
            <a:r>
              <a:rPr lang="el-GR" dirty="0"/>
              <a:t> όλα τα </a:t>
            </a:r>
            <a:r>
              <a:rPr lang="el-GR" dirty="0" err="1"/>
              <a:t>outputs</a:t>
            </a:r>
            <a:r>
              <a:rPr lang="el-GR" dirty="0"/>
              <a:t> τα οποία το δηλώνουμε εδώ από όλους τους προηγούμενους </a:t>
            </a:r>
            <a:r>
              <a:rPr lang="el-GR" dirty="0" err="1"/>
              <a:t>agents</a:t>
            </a:r>
            <a:r>
              <a:rPr lang="el-GR" dirty="0"/>
              <a:t>. Έπειτα, θέλουμε να το δηλώσουμε τι να μας επιστρέψει και πώς να πάρει όλα τα </a:t>
            </a:r>
            <a:r>
              <a:rPr lang="el-GR" dirty="0" err="1"/>
              <a:t>scores</a:t>
            </a:r>
            <a:r>
              <a:rPr lang="el-GR" dirty="0"/>
              <a:t> από το </a:t>
            </a:r>
            <a:r>
              <a:rPr lang="el-GR" dirty="0" err="1"/>
              <a:t>scoring</a:t>
            </a:r>
            <a:r>
              <a:rPr lang="el-GR" dirty="0"/>
              <a:t> </a:t>
            </a:r>
            <a:r>
              <a:rPr lang="el-GR" dirty="0" err="1"/>
              <a:t>gate</a:t>
            </a:r>
            <a:r>
              <a:rPr lang="el-GR" dirty="0"/>
              <a:t>, να πάρει όλα τα </a:t>
            </a:r>
            <a:r>
              <a:rPr lang="el-GR" dirty="0" err="1"/>
              <a:t>inputs</a:t>
            </a:r>
            <a:r>
              <a:rPr lang="el-GR" dirty="0"/>
              <a:t>. Αφού μας δώσει το </a:t>
            </a:r>
            <a:r>
              <a:rPr lang="el-GR" dirty="0" err="1"/>
              <a:t>final</a:t>
            </a:r>
            <a:r>
              <a:rPr lang="el-GR" dirty="0"/>
              <a:t> </a:t>
            </a:r>
            <a:r>
              <a:rPr lang="el-GR" dirty="0" err="1"/>
              <a:t>call</a:t>
            </a:r>
            <a:r>
              <a:rPr lang="el-GR" dirty="0"/>
              <a:t>, πρέπει να το δημιουργήσουμε και το </a:t>
            </a:r>
            <a:r>
              <a:rPr lang="el-GR" dirty="0" err="1"/>
              <a:t>decision</a:t>
            </a:r>
            <a:r>
              <a:rPr lang="el-GR" dirty="0"/>
              <a:t> </a:t>
            </a:r>
            <a:r>
              <a:rPr lang="el-GR" dirty="0" err="1"/>
              <a:t>logic</a:t>
            </a:r>
            <a:r>
              <a:rPr lang="el-GR" dirty="0"/>
              <a:t>, πώς θα πάρει αυτή το </a:t>
            </a:r>
            <a:r>
              <a:rPr lang="el-GR" dirty="0" err="1"/>
              <a:t>decision</a:t>
            </a:r>
            <a:r>
              <a:rPr lang="el-GR" dirty="0"/>
              <a:t>, επειδή αυτή τη στιγμή δεν θέλουμε να μας επιστρέψει κάτι από το προηγούμενο </a:t>
            </a:r>
            <a:r>
              <a:rPr lang="el-GR" dirty="0" err="1"/>
              <a:t>agent</a:t>
            </a:r>
            <a:r>
              <a:rPr lang="el-GR" dirty="0"/>
              <a:t> το οποίο το βρήκε κάπου, αλλά θέλουμε να πάρει μόνο στο ένα </a:t>
            </a:r>
            <a:r>
              <a:rPr lang="el-GR" dirty="0" err="1"/>
              <a:t>decision</a:t>
            </a:r>
            <a:r>
              <a:rPr lang="el-GR" dirty="0"/>
              <a:t>, πρέπει να το φτιάξουμε και τους απαραίτητους παραμέτρους, οι οποίοι αναγράφονται στο </a:t>
            </a:r>
            <a:r>
              <a:rPr lang="el-GR" dirty="0" err="1"/>
              <a:t>call</a:t>
            </a:r>
            <a:r>
              <a:rPr lang="el-GR" dirty="0"/>
              <a:t> δεξιά, οι οποίοι έχουν να κάνουν με συνδυασμούς οι οποίοι δημιουργήθηκαν κατά την πορεία του πραγματισμού και θεωρήσαμε καλό να </a:t>
            </a:r>
            <a:r>
              <a:rPr lang="el-GR" dirty="0" err="1"/>
              <a:t>εξκαθαρίσουμε</a:t>
            </a:r>
            <a:r>
              <a:rPr lang="el-GR" dirty="0"/>
              <a:t>. Όπως, για παράδειγμα, άμα μας βγάλει ότι ένα άρθρο είναι </a:t>
            </a:r>
            <a:r>
              <a:rPr lang="el-GR" dirty="0" err="1"/>
              <a:t>real</a:t>
            </a:r>
            <a:r>
              <a:rPr lang="el-GR" dirty="0"/>
              <a:t>, ο δεύτερος </a:t>
            </a:r>
            <a:r>
              <a:rPr lang="el-GR" dirty="0" err="1"/>
              <a:t>agent</a:t>
            </a:r>
            <a:r>
              <a:rPr lang="el-GR" dirty="0"/>
              <a:t> βγάλει και αυτός ότι είναι </a:t>
            </a:r>
            <a:r>
              <a:rPr lang="el-GR" dirty="0" err="1"/>
              <a:t>likely</a:t>
            </a:r>
            <a:r>
              <a:rPr lang="el-GR" dirty="0"/>
              <a:t> </a:t>
            </a:r>
            <a:r>
              <a:rPr lang="el-GR" dirty="0" err="1"/>
              <a:t>true</a:t>
            </a:r>
            <a:r>
              <a:rPr lang="el-GR" dirty="0"/>
              <a:t>. Το </a:t>
            </a:r>
            <a:r>
              <a:rPr lang="el-GR" dirty="0" err="1"/>
              <a:t>credibility</a:t>
            </a:r>
            <a:r>
              <a:rPr lang="el-GR" dirty="0"/>
              <a:t> </a:t>
            </a:r>
            <a:r>
              <a:rPr lang="el-GR" dirty="0" err="1"/>
              <a:t>score</a:t>
            </a:r>
            <a:r>
              <a:rPr lang="el-GR" dirty="0"/>
              <a:t> είναι μεγαλύτερος από το 70, τότε το </a:t>
            </a:r>
            <a:r>
              <a:rPr lang="el-GR" dirty="0" err="1"/>
              <a:t>final</a:t>
            </a:r>
            <a:r>
              <a:rPr lang="el-GR" dirty="0"/>
              <a:t> </a:t>
            </a:r>
            <a:r>
              <a:rPr lang="el-GR" dirty="0" err="1"/>
              <a:t>decision</a:t>
            </a:r>
            <a:r>
              <a:rPr lang="el-GR" dirty="0"/>
              <a:t> είναι </a:t>
            </a:r>
            <a:r>
              <a:rPr lang="el-GR" dirty="0" err="1"/>
              <a:t>real</a:t>
            </a:r>
            <a:r>
              <a:rPr lang="el-GR" dirty="0"/>
              <a:t>. Άλλως, αν βγάλει ο πρώτος </a:t>
            </a:r>
            <a:r>
              <a:rPr lang="el-GR" dirty="0" err="1"/>
              <a:t>agent</a:t>
            </a:r>
            <a:r>
              <a:rPr lang="el-GR" dirty="0"/>
              <a:t> ότι είναι </a:t>
            </a:r>
            <a:r>
              <a:rPr lang="el-GR" dirty="0" err="1"/>
              <a:t>real</a:t>
            </a:r>
            <a:r>
              <a:rPr lang="el-GR" dirty="0"/>
              <a:t>, ο δεύτερος βγάλει ότι είναι </a:t>
            </a:r>
            <a:r>
              <a:rPr lang="el-GR" dirty="0" err="1"/>
              <a:t>likely</a:t>
            </a:r>
            <a:r>
              <a:rPr lang="el-GR" dirty="0"/>
              <a:t> </a:t>
            </a:r>
            <a:r>
              <a:rPr lang="el-GR" dirty="0" err="1"/>
              <a:t>true</a:t>
            </a:r>
            <a:r>
              <a:rPr lang="el-GR" dirty="0"/>
              <a:t>, παρ' όλα αυτά το </a:t>
            </a:r>
            <a:r>
              <a:rPr lang="el-GR" dirty="0" err="1"/>
              <a:t>credibility</a:t>
            </a:r>
            <a:r>
              <a:rPr lang="el-GR" dirty="0"/>
              <a:t> </a:t>
            </a:r>
            <a:r>
              <a:rPr lang="el-GR" dirty="0" err="1"/>
              <a:t>score</a:t>
            </a:r>
            <a:r>
              <a:rPr lang="el-GR" dirty="0"/>
              <a:t> που μας δίνουν οι </a:t>
            </a:r>
            <a:r>
              <a:rPr lang="el-GR" dirty="0" err="1"/>
              <a:t>διεύθυντες</a:t>
            </a:r>
            <a:r>
              <a:rPr lang="el-GR" dirty="0"/>
              <a:t> είναι κάτω από το 50, ή το </a:t>
            </a:r>
            <a:r>
              <a:rPr lang="el-GR" dirty="0" err="1"/>
              <a:t>source</a:t>
            </a:r>
            <a:r>
              <a:rPr lang="el-GR" dirty="0"/>
              <a:t> </a:t>
            </a:r>
            <a:r>
              <a:rPr lang="el-GR" dirty="0" err="1"/>
              <a:t>calc</a:t>
            </a:r>
            <a:r>
              <a:rPr lang="el-GR" dirty="0"/>
              <a:t> είναι </a:t>
            </a:r>
            <a:r>
              <a:rPr lang="el-GR" dirty="0" err="1"/>
              <a:t>low</a:t>
            </a:r>
            <a:r>
              <a:rPr lang="el-GR" dirty="0"/>
              <a:t> ή </a:t>
            </a:r>
            <a:r>
              <a:rPr lang="el-GR" dirty="0" err="1"/>
              <a:t>very</a:t>
            </a:r>
            <a:r>
              <a:rPr lang="el-GR" dirty="0"/>
              <a:t> </a:t>
            </a:r>
            <a:r>
              <a:rPr lang="el-GR" dirty="0" err="1"/>
              <a:t>low</a:t>
            </a:r>
            <a:r>
              <a:rPr lang="el-GR" dirty="0"/>
              <a:t>, τότε το </a:t>
            </a:r>
            <a:r>
              <a:rPr lang="el-GR" dirty="0" err="1"/>
              <a:t>final</a:t>
            </a:r>
            <a:r>
              <a:rPr lang="el-GR" dirty="0"/>
              <a:t> </a:t>
            </a:r>
            <a:r>
              <a:rPr lang="el-GR" dirty="0" err="1"/>
              <a:t>decision</a:t>
            </a:r>
            <a:r>
              <a:rPr lang="el-GR" dirty="0"/>
              <a:t> που θα θέλουμε να δώσουμε είναι το </a:t>
            </a:r>
            <a:r>
              <a:rPr lang="el-GR" dirty="0" err="1"/>
              <a:t>fake</a:t>
            </a:r>
            <a:r>
              <a:rPr lang="el-GR" dirty="0"/>
              <a:t>. Με αυτή την </a:t>
            </a:r>
            <a:r>
              <a:rPr lang="el-GR" dirty="0" err="1"/>
              <a:t>παράμοντα</a:t>
            </a:r>
            <a:r>
              <a:rPr lang="el-GR" dirty="0"/>
              <a:t> θέλουμε να του δηλώσουμε ότι δώσε μεγαλύτερη έμφαση στο </a:t>
            </a:r>
            <a:r>
              <a:rPr lang="el-GR" dirty="0" err="1"/>
              <a:t>source</a:t>
            </a:r>
            <a:r>
              <a:rPr lang="el-GR" dirty="0"/>
              <a:t> </a:t>
            </a:r>
            <a:r>
              <a:rPr lang="el-GR" dirty="0" err="1"/>
              <a:t>quality</a:t>
            </a:r>
            <a:r>
              <a:rPr lang="el-GR" dirty="0"/>
              <a:t>. Μας ενδιαφέρει να δούμε τις πηγές από πίσω, αν είναι έμπιστες. Μπορεί να βρεθούν </a:t>
            </a:r>
            <a:r>
              <a:rPr lang="el-GR" dirty="0" err="1"/>
              <a:t>εισόδητες</a:t>
            </a:r>
            <a:r>
              <a:rPr lang="el-GR" dirty="0"/>
              <a:t> πέντε πηγές οι οποίες αποδεικνύουν αυτό το οποίο διαβάζουμε, αλλά και πέντε πηγές να μην είναι έμπιστες. Οπότε εδώ τι του λέμε πρακτικά, μπορεί να το βρεις σε πέντε πηγές, οκ, υπάρχουν, αλλά εφόσον δεν είναι έμπιστες, δεν είναι έμπιστες. Αυτά είναι δουλειά, αυτά είναι δουλειά </a:t>
            </a:r>
            <a:r>
              <a:rPr lang="el-GR" dirty="0" err="1"/>
              <a:t>fake</a:t>
            </a:r>
            <a:r>
              <a:rPr lang="el-GR" dirty="0"/>
              <a:t>.</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19</a:t>
            </a:fld>
            <a:endParaRPr lang="el-GR"/>
          </a:p>
        </p:txBody>
      </p:sp>
    </p:spTree>
    <p:extLst>
      <p:ext uri="{BB962C8B-B14F-4D97-AF65-F5344CB8AC3E}">
        <p14:creationId xmlns:p14="http://schemas.microsoft.com/office/powerpoint/2010/main" val="39784172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Παρακάτω θα δούμε ένα </a:t>
            </a:r>
            <a:r>
              <a:rPr lang="el-GR" dirty="0" err="1"/>
              <a:t>end-to-end</a:t>
            </a:r>
            <a:r>
              <a:rPr lang="el-GR" dirty="0"/>
              <a:t> </a:t>
            </a:r>
            <a:r>
              <a:rPr lang="el-GR" dirty="0" err="1"/>
              <a:t>example</a:t>
            </a:r>
            <a:r>
              <a:rPr lang="el-GR" dirty="0"/>
              <a:t>, το οποίο δεν μιλήσαμε για τη συγκεκριμένη παρουσίαση, ώστε να μπορούμε να αναδείξουμε τα πέντε κρίσιμα </a:t>
            </a:r>
            <a:r>
              <a:rPr lang="el-GR" dirty="0" err="1"/>
              <a:t>innovative</a:t>
            </a:r>
            <a:r>
              <a:rPr lang="el-GR" dirty="0"/>
              <a:t> </a:t>
            </a:r>
            <a:r>
              <a:rPr lang="el-GR" dirty="0" err="1"/>
              <a:t>things</a:t>
            </a:r>
            <a:r>
              <a:rPr lang="el-GR" dirty="0"/>
              <a:t> τα οποία έχει το συγκεκριμένο σύστημα. Αρχικά παρατηρούμε ότι λαμβάνει ο χρήστης ένα </a:t>
            </a:r>
            <a:r>
              <a:rPr lang="el-GR" dirty="0" err="1"/>
              <a:t>multi-layered</a:t>
            </a:r>
            <a:r>
              <a:rPr lang="el-GR" dirty="0"/>
              <a:t> </a:t>
            </a:r>
            <a:r>
              <a:rPr lang="el-GR" dirty="0" err="1"/>
              <a:t>analysis</a:t>
            </a:r>
            <a:r>
              <a:rPr lang="el-GR" dirty="0"/>
              <a:t>. Και όταν λέμε </a:t>
            </a:r>
            <a:r>
              <a:rPr lang="el-GR" dirty="0" err="1"/>
              <a:t>multi-layered</a:t>
            </a:r>
            <a:r>
              <a:rPr lang="el-GR" dirty="0"/>
              <a:t> </a:t>
            </a:r>
            <a:r>
              <a:rPr lang="el-GR" dirty="0" err="1"/>
              <a:t>analysis</a:t>
            </a:r>
            <a:r>
              <a:rPr lang="el-GR" dirty="0"/>
              <a:t> εννοούμε μία ανάλυση η οποία, άμα συγκεντρώσουμε όλες τις πληροφορίες, έχει βασιστεί σε </a:t>
            </a:r>
            <a:r>
              <a:rPr lang="el-GR" dirty="0" err="1"/>
              <a:t>content</a:t>
            </a:r>
            <a:r>
              <a:rPr lang="el-GR" dirty="0"/>
              <a:t> </a:t>
            </a:r>
            <a:r>
              <a:rPr lang="el-GR" dirty="0" err="1"/>
              <a:t>analysis</a:t>
            </a:r>
            <a:r>
              <a:rPr lang="el-GR" dirty="0"/>
              <a:t>. Έχει αφαιρέσει </a:t>
            </a:r>
            <a:r>
              <a:rPr lang="el-GR" dirty="0" err="1"/>
              <a:t>υπόθανά</a:t>
            </a:r>
            <a:r>
              <a:rPr lang="el-GR" dirty="0"/>
              <a:t> σημεία, στίξεις, </a:t>
            </a:r>
            <a:r>
              <a:rPr lang="el-GR" dirty="0" err="1"/>
              <a:t>emoji</a:t>
            </a:r>
            <a:r>
              <a:rPr lang="el-GR" dirty="0"/>
              <a:t>, τόνους, κενά. Έχει κάνει μετάφραση. Έχει </a:t>
            </a:r>
            <a:r>
              <a:rPr lang="el-GR" dirty="0" err="1"/>
              <a:t>sentiment</a:t>
            </a:r>
            <a:r>
              <a:rPr lang="el-GR" dirty="0"/>
              <a:t> </a:t>
            </a:r>
            <a:r>
              <a:rPr lang="el-GR" dirty="0" err="1"/>
              <a:t>analysis</a:t>
            </a:r>
            <a:r>
              <a:rPr lang="el-GR" dirty="0"/>
              <a:t> με το </a:t>
            </a:r>
            <a:r>
              <a:rPr lang="el-GR" dirty="0" err="1"/>
              <a:t>scoring</a:t>
            </a:r>
            <a:r>
              <a:rPr lang="el-GR" dirty="0"/>
              <a:t> </a:t>
            </a:r>
            <a:r>
              <a:rPr lang="el-GR" dirty="0" err="1"/>
              <a:t>agent</a:t>
            </a:r>
            <a:r>
              <a:rPr lang="el-GR" dirty="0"/>
              <a:t>, ο οποίος κριτικάρει το </a:t>
            </a:r>
            <a:r>
              <a:rPr lang="el-GR" dirty="0" err="1"/>
              <a:t>emotional</a:t>
            </a:r>
            <a:r>
              <a:rPr lang="el-GR" dirty="0"/>
              <a:t> </a:t>
            </a:r>
            <a:r>
              <a:rPr lang="el-GR" dirty="0" err="1"/>
              <a:t>tones</a:t>
            </a:r>
            <a:r>
              <a:rPr lang="el-GR" dirty="0"/>
              <a:t> και το </a:t>
            </a:r>
            <a:r>
              <a:rPr lang="el-GR" dirty="0" err="1"/>
              <a:t>bias</a:t>
            </a:r>
            <a:r>
              <a:rPr lang="el-GR" dirty="0"/>
              <a:t>. Έχει </a:t>
            </a:r>
            <a:r>
              <a:rPr lang="el-GR" dirty="0" err="1"/>
              <a:t>metadata</a:t>
            </a:r>
            <a:r>
              <a:rPr lang="el-GR" dirty="0"/>
              <a:t> </a:t>
            </a:r>
            <a:r>
              <a:rPr lang="el-GR" dirty="0" err="1"/>
              <a:t>analysis</a:t>
            </a:r>
            <a:r>
              <a:rPr lang="el-GR" dirty="0"/>
              <a:t>, διότι τσεκάρει </a:t>
            </a:r>
            <a:r>
              <a:rPr lang="el-GR" dirty="0" err="1"/>
              <a:t>sources</a:t>
            </a:r>
            <a:r>
              <a:rPr lang="el-GR" dirty="0"/>
              <a:t> από πηγές, </a:t>
            </a:r>
            <a:r>
              <a:rPr lang="el-GR" dirty="0" err="1"/>
              <a:t>sources</a:t>
            </a:r>
            <a:r>
              <a:rPr lang="el-GR" dirty="0"/>
              <a:t> </a:t>
            </a:r>
            <a:r>
              <a:rPr lang="el-GR" dirty="0" err="1"/>
              <a:t>URLs</a:t>
            </a:r>
            <a:r>
              <a:rPr lang="el-GR" dirty="0"/>
              <a:t>, πηγές τους </a:t>
            </a:r>
            <a:r>
              <a:rPr lang="el-GR" dirty="0" err="1"/>
              <a:t>publishers</a:t>
            </a:r>
            <a:r>
              <a:rPr lang="el-GR" dirty="0"/>
              <a:t>, </a:t>
            </a:r>
            <a:r>
              <a:rPr lang="el-GR" dirty="0" err="1"/>
              <a:t>χαζεί</a:t>
            </a:r>
            <a:r>
              <a:rPr lang="el-GR" dirty="0"/>
              <a:t> ένα </a:t>
            </a:r>
            <a:r>
              <a:rPr lang="el-GR" dirty="0" err="1"/>
              <a:t>score</a:t>
            </a:r>
            <a:r>
              <a:rPr lang="el-GR" dirty="0"/>
              <a:t>. Δεύτερον, </a:t>
            </a:r>
            <a:r>
              <a:rPr lang="el-GR" dirty="0" err="1"/>
              <a:t>κοντέκτον</a:t>
            </a:r>
            <a:r>
              <a:rPr lang="el-GR" dirty="0"/>
              <a:t> </a:t>
            </a:r>
            <a:r>
              <a:rPr lang="el-GR" dirty="0" err="1"/>
              <a:t>intelligence</a:t>
            </a:r>
            <a:r>
              <a:rPr lang="el-GR" dirty="0"/>
              <a:t>. Παίρνει ένα πολύ καθαρό κείμενο και αξιοποιεί μόνο το κείμενο που είναι να αξιοποιήσει χωρίς </a:t>
            </a:r>
            <a:r>
              <a:rPr lang="el-GR" dirty="0" err="1"/>
              <a:t>επεραιτέρω</a:t>
            </a:r>
            <a:r>
              <a:rPr lang="el-GR" dirty="0"/>
              <a:t> πράγματα να το αποσυντονίζουν. Τρία, </a:t>
            </a:r>
            <a:r>
              <a:rPr lang="el-GR" dirty="0" err="1"/>
              <a:t>social</a:t>
            </a:r>
            <a:r>
              <a:rPr lang="el-GR" dirty="0"/>
              <a:t> </a:t>
            </a:r>
            <a:r>
              <a:rPr lang="el-GR" dirty="0" err="1"/>
              <a:t>ability</a:t>
            </a:r>
            <a:r>
              <a:rPr lang="el-GR" dirty="0"/>
              <a:t> </a:t>
            </a:r>
            <a:r>
              <a:rPr lang="el-GR" dirty="0" err="1"/>
              <a:t>awareness</a:t>
            </a:r>
            <a:r>
              <a:rPr lang="el-GR" dirty="0"/>
              <a:t>. Δίνουμε στο σύστημα να καταλάβει από πού προέρχεται ένα άρθρο. Είναι και αυτό εξίσου σημαντικό και πιο σημαντικό από το ίδιο το άρθρο. Τέσσερα, </a:t>
            </a:r>
            <a:r>
              <a:rPr lang="el-GR" dirty="0" err="1"/>
              <a:t>explainability</a:t>
            </a:r>
            <a:r>
              <a:rPr lang="el-GR" dirty="0"/>
              <a:t> in </a:t>
            </a:r>
            <a:r>
              <a:rPr lang="el-GR" dirty="0" err="1"/>
              <a:t>action</a:t>
            </a:r>
            <a:r>
              <a:rPr lang="el-GR" dirty="0"/>
              <a:t>. Βλέπουμε ένα </a:t>
            </a:r>
            <a:r>
              <a:rPr lang="el-GR" dirty="0" err="1"/>
              <a:t>output</a:t>
            </a:r>
            <a:r>
              <a:rPr lang="el-GR" dirty="0"/>
              <a:t> το οποίο είναι από την αρχή μέχρι το τέλος </a:t>
            </a:r>
            <a:r>
              <a:rPr lang="el-GR" dirty="0" err="1"/>
              <a:t>επεξηγήσιμο</a:t>
            </a:r>
            <a:r>
              <a:rPr lang="el-GR" dirty="0"/>
              <a:t>. Μπορεί ένας χρήσης να δει την απόφαση και να καταλάβει γιατί ακριβώς πάρθηκε και με ποια λογική, χωρίς απλά να βλέπει ένα </a:t>
            </a:r>
            <a:r>
              <a:rPr lang="el-GR" dirty="0" err="1"/>
              <a:t>false</a:t>
            </a:r>
            <a:r>
              <a:rPr lang="el-GR" dirty="0"/>
              <a:t> ή ένα </a:t>
            </a:r>
            <a:r>
              <a:rPr lang="el-GR" dirty="0" err="1"/>
              <a:t>true</a:t>
            </a:r>
            <a:r>
              <a:rPr lang="el-GR" dirty="0"/>
              <a:t> και ένα ποσοστό το οποίο ίσως να μην καταλαβαίνει και τι είναι. Και αυτά όλα καταλήγουν στο πέμπτο και πιο βασικό το οποίο είναι το </a:t>
            </a:r>
            <a:r>
              <a:rPr lang="el-GR" dirty="0" err="1"/>
              <a:t>final</a:t>
            </a:r>
            <a:r>
              <a:rPr lang="el-GR" dirty="0"/>
              <a:t> </a:t>
            </a:r>
            <a:r>
              <a:rPr lang="el-GR" dirty="0" err="1"/>
              <a:t>value</a:t>
            </a:r>
            <a:r>
              <a:rPr lang="el-GR" dirty="0"/>
              <a:t> μας να μην είναι απλά ένα </a:t>
            </a:r>
            <a:r>
              <a:rPr lang="el-GR" dirty="0" err="1"/>
              <a:t>guess</a:t>
            </a:r>
            <a:r>
              <a:rPr lang="el-GR" dirty="0"/>
              <a:t>, να μην είναι απλά ένα </a:t>
            </a:r>
            <a:r>
              <a:rPr lang="el-GR" dirty="0" err="1"/>
              <a:t>prediction</a:t>
            </a:r>
            <a:r>
              <a:rPr lang="el-GR" dirty="0"/>
              <a:t> το οποίο έχει βγάλει ένας </a:t>
            </a:r>
            <a:r>
              <a:rPr lang="el-GR" dirty="0" err="1"/>
              <a:t>αργόλημος</a:t>
            </a:r>
            <a:r>
              <a:rPr lang="el-GR" dirty="0"/>
              <a:t>, αλλά να είναι ένα </a:t>
            </a:r>
            <a:r>
              <a:rPr lang="el-GR" dirty="0" err="1"/>
              <a:t>rule-based</a:t>
            </a:r>
            <a:r>
              <a:rPr lang="el-GR" dirty="0"/>
              <a:t> </a:t>
            </a:r>
            <a:r>
              <a:rPr lang="el-GR" dirty="0" err="1"/>
              <a:t>conclusion</a:t>
            </a:r>
            <a:r>
              <a:rPr lang="el-GR" dirty="0"/>
              <a:t>. Να είναι δηλαδή κάτι πάνω στο οποίο εμείς έχουμε επιβάλει τις λογικές μας οι οποίες είναι ξεκάθαρες και εξηγήσιμες και μπορεί να </a:t>
            </a:r>
            <a:r>
              <a:rPr lang="el-GR" dirty="0" err="1"/>
              <a:t>αντιστεί</a:t>
            </a:r>
            <a:r>
              <a:rPr lang="el-GR" dirty="0"/>
              <a:t> ο </a:t>
            </a:r>
            <a:r>
              <a:rPr lang="el-GR" dirty="0" err="1"/>
              <a:t>user</a:t>
            </a:r>
            <a:r>
              <a:rPr lang="el-GR" dirty="0"/>
              <a:t>. Να μην είναι απλά κάτι το οποίο τρέχει και εμείς δεν το βλέπουμε.</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20</a:t>
            </a:fld>
            <a:endParaRPr lang="el-GR"/>
          </a:p>
        </p:txBody>
      </p:sp>
    </p:spTree>
    <p:extLst>
      <p:ext uri="{BB962C8B-B14F-4D97-AF65-F5344CB8AC3E}">
        <p14:creationId xmlns:p14="http://schemas.microsoft.com/office/powerpoint/2010/main" val="1100535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Αφού μελετήσαμε την </a:t>
            </a:r>
            <a:r>
              <a:rPr lang="el-GR" dirty="0" err="1"/>
              <a:t>αρχητεκτονική</a:t>
            </a:r>
            <a:r>
              <a:rPr lang="el-GR" dirty="0"/>
              <a:t> του συστήματος, θα ήθελα εδώ να αναγνωρίσουμε μερικά θετικά και αρνητικά τα οποία έχει. Ας ξεκινήσουμε από τα θετικά. Το κυριότερο θετικό, το οποίο δώσαμε και βάση, γιατί πιστεύουμε ότι είναι πάρα πολύ σημαντικό, είναι το </a:t>
            </a:r>
            <a:r>
              <a:rPr lang="el-GR" dirty="0" err="1"/>
              <a:t>Explainability</a:t>
            </a:r>
            <a:r>
              <a:rPr lang="el-GR" dirty="0"/>
              <a:t>. Όλα τα </a:t>
            </a:r>
            <a:r>
              <a:rPr lang="el-GR" dirty="0" err="1"/>
              <a:t>Outputs</a:t>
            </a:r>
            <a:r>
              <a:rPr lang="el-GR" dirty="0"/>
              <a:t> τα οποία παίρνει τόσο ο </a:t>
            </a:r>
            <a:r>
              <a:rPr lang="el-GR" dirty="0" err="1"/>
              <a:t>Supervisor</a:t>
            </a:r>
            <a:r>
              <a:rPr lang="el-GR" dirty="0"/>
              <a:t> </a:t>
            </a:r>
            <a:r>
              <a:rPr lang="el-GR" dirty="0" err="1"/>
              <a:t>Agent</a:t>
            </a:r>
            <a:r>
              <a:rPr lang="el-GR" dirty="0"/>
              <a:t>, αλλά όσο και αυτά που </a:t>
            </a:r>
            <a:r>
              <a:rPr lang="el-GR" dirty="0" err="1"/>
              <a:t>διώνεται</a:t>
            </a:r>
            <a:r>
              <a:rPr lang="el-GR" dirty="0"/>
              <a:t> στο χρήστη, είναι 100% </a:t>
            </a:r>
            <a:r>
              <a:rPr lang="el-GR" dirty="0" err="1"/>
              <a:t>αφενερχή</a:t>
            </a:r>
            <a:r>
              <a:rPr lang="el-GR" dirty="0"/>
              <a:t> </a:t>
            </a:r>
            <a:r>
              <a:rPr lang="el-GR" dirty="0" err="1"/>
              <a:t>Explainable</a:t>
            </a:r>
            <a:r>
              <a:rPr lang="el-GR" dirty="0"/>
              <a:t>. Δηλαδή, είναι πράγματα τα οποία ένας άνθρωπος μπορεί να διαβάσει και να καταλάβει τη λογική από πίσω. Στο </a:t>
            </a:r>
            <a:r>
              <a:rPr lang="el-GR" dirty="0" err="1"/>
              <a:t>Decision</a:t>
            </a:r>
            <a:r>
              <a:rPr lang="el-GR" dirty="0"/>
              <a:t> </a:t>
            </a:r>
            <a:r>
              <a:rPr lang="el-GR" dirty="0" err="1"/>
              <a:t>Making</a:t>
            </a:r>
            <a:r>
              <a:rPr lang="el-GR" dirty="0"/>
              <a:t> έχουμε δώσει πλέον λογική, δεν είναι απλά ένα </a:t>
            </a:r>
            <a:r>
              <a:rPr lang="el-GR" dirty="0" err="1"/>
              <a:t>prediction</a:t>
            </a:r>
            <a:r>
              <a:rPr lang="el-GR" dirty="0"/>
              <a:t> και ένας αριθμός. Δεύτερον, είναι το </a:t>
            </a:r>
            <a:r>
              <a:rPr lang="el-GR" dirty="0" err="1"/>
              <a:t>Modularity</a:t>
            </a:r>
            <a:r>
              <a:rPr lang="el-GR" dirty="0"/>
              <a:t>, ότι ο κάθε </a:t>
            </a:r>
            <a:r>
              <a:rPr lang="el-GR" dirty="0" err="1"/>
              <a:t>agent</a:t>
            </a:r>
            <a:r>
              <a:rPr lang="el-GR" dirty="0"/>
              <a:t> μπορεί να λειτουργήσει ανεξάρτητα από την άλλη, πέρα από τους </a:t>
            </a:r>
            <a:r>
              <a:rPr lang="el-GR" dirty="0" err="1"/>
              <a:t>agents</a:t>
            </a:r>
            <a:r>
              <a:rPr lang="el-GR" dirty="0"/>
              <a:t>, τους οποίους τους έχεις δηλώσει εσύ ότι πρέπει να δουλεύουν, αλλά πραγματικά ο </a:t>
            </a:r>
            <a:r>
              <a:rPr lang="el-GR" dirty="0" err="1"/>
              <a:t>Fake</a:t>
            </a:r>
            <a:r>
              <a:rPr lang="el-GR" dirty="0"/>
              <a:t>, ο </a:t>
            </a:r>
            <a:r>
              <a:rPr lang="el-GR" dirty="0" err="1"/>
              <a:t>New</a:t>
            </a:r>
            <a:r>
              <a:rPr lang="el-GR" dirty="0"/>
              <a:t> </a:t>
            </a:r>
            <a:r>
              <a:rPr lang="el-GR" dirty="0" err="1"/>
              <a:t>Classified</a:t>
            </a:r>
            <a:r>
              <a:rPr lang="el-GR" dirty="0"/>
              <a:t> και ο </a:t>
            </a:r>
            <a:r>
              <a:rPr lang="el-GR" dirty="0" err="1"/>
              <a:t>Second</a:t>
            </a:r>
            <a:r>
              <a:rPr lang="el-GR" dirty="0"/>
              <a:t> </a:t>
            </a:r>
            <a:r>
              <a:rPr lang="el-GR" dirty="0" err="1"/>
              <a:t>Search</a:t>
            </a:r>
            <a:r>
              <a:rPr lang="el-GR" dirty="0"/>
              <a:t> </a:t>
            </a:r>
            <a:r>
              <a:rPr lang="el-GR" dirty="0" err="1"/>
              <a:t>Agent</a:t>
            </a:r>
            <a:r>
              <a:rPr lang="el-GR" dirty="0"/>
              <a:t> λειτουργούν ανεξάρτητα από την άλλη. Αυτός που λειτουργεί εξαρτημένα είναι ο </a:t>
            </a:r>
            <a:r>
              <a:rPr lang="el-GR" dirty="0" err="1"/>
              <a:t>Source</a:t>
            </a:r>
            <a:r>
              <a:rPr lang="el-GR" dirty="0"/>
              <a:t> Quality </a:t>
            </a:r>
            <a:r>
              <a:rPr lang="el-GR" dirty="0" err="1"/>
              <a:t>Agent</a:t>
            </a:r>
            <a:r>
              <a:rPr lang="el-GR" dirty="0"/>
              <a:t>, ο οποίος τους είπαμε εμείς, το δηλώσαμε εμείς, να πάρει τα </a:t>
            </a:r>
            <a:r>
              <a:rPr lang="el-GR" dirty="0" err="1"/>
              <a:t>Outputs</a:t>
            </a:r>
            <a:r>
              <a:rPr lang="el-GR" dirty="0"/>
              <a:t> των δύο προηγούμενων, όσον αφορά τα </a:t>
            </a:r>
            <a:r>
              <a:rPr lang="el-GR" dirty="0" err="1"/>
              <a:t>Sources</a:t>
            </a:r>
            <a:r>
              <a:rPr lang="el-GR" dirty="0"/>
              <a:t>, και να βγάλει το δικό του </a:t>
            </a:r>
            <a:r>
              <a:rPr lang="el-GR" dirty="0" err="1"/>
              <a:t>Output</a:t>
            </a:r>
            <a:r>
              <a:rPr lang="el-GR" dirty="0"/>
              <a:t>. Αυτό βοηθάει πάρα πολύ, γιατί μπορούν κάθε </a:t>
            </a:r>
            <a:r>
              <a:rPr lang="el-GR" dirty="0" err="1"/>
              <a:t>agent</a:t>
            </a:r>
            <a:r>
              <a:rPr lang="el-GR" dirty="0"/>
              <a:t> και πανεύκολα να γίνουν </a:t>
            </a:r>
            <a:r>
              <a:rPr lang="el-GR" dirty="0" err="1"/>
              <a:t>Replaced</a:t>
            </a:r>
            <a:r>
              <a:rPr lang="el-GR" dirty="0"/>
              <a:t> και να γίνουν </a:t>
            </a:r>
            <a:r>
              <a:rPr lang="el-GR" dirty="0" err="1"/>
              <a:t>Modified</a:t>
            </a:r>
            <a:r>
              <a:rPr lang="el-GR" dirty="0"/>
              <a:t>. Τρίτον, είναι το </a:t>
            </a:r>
            <a:r>
              <a:rPr lang="el-GR" dirty="0" err="1"/>
              <a:t>Zero</a:t>
            </a:r>
            <a:r>
              <a:rPr lang="el-GR" dirty="0"/>
              <a:t> </a:t>
            </a:r>
            <a:r>
              <a:rPr lang="el-GR" dirty="0" err="1"/>
              <a:t>Short</a:t>
            </a:r>
            <a:r>
              <a:rPr lang="el-GR" dirty="0"/>
              <a:t> </a:t>
            </a:r>
            <a:r>
              <a:rPr lang="el-GR" dirty="0" err="1"/>
              <a:t>Prompt</a:t>
            </a:r>
            <a:r>
              <a:rPr lang="el-GR" dirty="0"/>
              <a:t> </a:t>
            </a:r>
            <a:r>
              <a:rPr lang="el-GR" dirty="0" err="1"/>
              <a:t>Engineering</a:t>
            </a:r>
            <a:r>
              <a:rPr lang="el-GR" dirty="0"/>
              <a:t>. Είναι αυτό το οποίο βοηθάει τους </a:t>
            </a:r>
            <a:r>
              <a:rPr lang="el-GR" dirty="0" err="1"/>
              <a:t>Developers</a:t>
            </a:r>
            <a:r>
              <a:rPr lang="el-GR" dirty="0"/>
              <a:t> χρονικά. Μπορείς σε πάρα πολύ λίγο χρόνο να κάνεις </a:t>
            </a:r>
            <a:r>
              <a:rPr lang="el-GR" dirty="0" err="1"/>
              <a:t>Modify</a:t>
            </a:r>
            <a:r>
              <a:rPr lang="el-GR" dirty="0"/>
              <a:t> τον </a:t>
            </a:r>
            <a:r>
              <a:rPr lang="el-GR" dirty="0" err="1"/>
              <a:t>agent</a:t>
            </a:r>
            <a:r>
              <a:rPr lang="el-GR" dirty="0"/>
              <a:t> σου και να τον τεστάρεις, σε αντίθεση με ένα κλασικό ML ή την </a:t>
            </a:r>
            <a:r>
              <a:rPr lang="el-GR" dirty="0" err="1"/>
              <a:t>επιλέγμη</a:t>
            </a:r>
            <a:r>
              <a:rPr lang="el-GR" dirty="0"/>
              <a:t> μοντέλο, το οποίο τόσο να το κάνεις </a:t>
            </a:r>
            <a:r>
              <a:rPr lang="el-GR" dirty="0" err="1"/>
              <a:t>Evaluate</a:t>
            </a:r>
            <a:r>
              <a:rPr lang="el-GR" dirty="0"/>
              <a:t>, ειδικά άμα το τέταρτος είναι τεράστιο, τόσο να το κάνεις </a:t>
            </a:r>
            <a:r>
              <a:rPr lang="el-GR" dirty="0" err="1"/>
              <a:t>Evaluate</a:t>
            </a:r>
            <a:r>
              <a:rPr lang="el-GR" dirty="0"/>
              <a:t>, χρειάζεται πάρα πολύ χρόνο και εξαρτήσει μετά από υλικά πράγματα, όπως </a:t>
            </a:r>
            <a:r>
              <a:rPr lang="el-GR" dirty="0" err="1"/>
              <a:t>κλεισό</a:t>
            </a:r>
            <a:r>
              <a:rPr lang="el-GR" dirty="0"/>
              <a:t> σου δίσκο, σε επεξεργαστή, σε κάρτα γραφικών, το </a:t>
            </a:r>
            <a:r>
              <a:rPr lang="el-GR" dirty="0" err="1"/>
              <a:t>PCZone</a:t>
            </a:r>
            <a:r>
              <a:rPr lang="el-GR" dirty="0"/>
              <a:t> το σηκώνει, εδώ δεν έχουμε τίποτα προβλήματα. Τέταρτον, είναι το API και </a:t>
            </a:r>
            <a:r>
              <a:rPr lang="el-GR" dirty="0" err="1"/>
              <a:t>Tool</a:t>
            </a:r>
            <a:r>
              <a:rPr lang="el-GR" dirty="0"/>
              <a:t> </a:t>
            </a:r>
            <a:r>
              <a:rPr lang="el-GR" dirty="0" err="1"/>
              <a:t>Compatibility</a:t>
            </a:r>
            <a:r>
              <a:rPr lang="el-GR" dirty="0"/>
              <a:t>, που πρακτικά δηλώνει την ευκολία που έχει η συγκεκριμένη τεχνολογία να συνδυάσει τα API με τους </a:t>
            </a:r>
            <a:r>
              <a:rPr lang="el-GR" dirty="0" err="1"/>
              <a:t>Agents</a:t>
            </a:r>
            <a:r>
              <a:rPr lang="el-GR" dirty="0"/>
              <a:t>. Και γενικότερα οτιδήποτε εργαλείο ή άλλο του </a:t>
            </a:r>
            <a:r>
              <a:rPr lang="el-GR" dirty="0" err="1"/>
              <a:t>Tool</a:t>
            </a:r>
            <a:r>
              <a:rPr lang="el-GR" dirty="0"/>
              <a:t> έχει </a:t>
            </a:r>
            <a:r>
              <a:rPr lang="el-GR" dirty="0" err="1"/>
              <a:t>Pre-Built</a:t>
            </a:r>
            <a:r>
              <a:rPr lang="el-GR" dirty="0"/>
              <a:t> </a:t>
            </a:r>
            <a:r>
              <a:rPr lang="el-GR" dirty="0" err="1"/>
              <a:t>Flow</a:t>
            </a:r>
            <a:r>
              <a:rPr lang="el-GR" dirty="0"/>
              <a:t> </a:t>
            </a:r>
            <a:r>
              <a:rPr lang="el-GR" dirty="0" err="1"/>
              <a:t>Guides</a:t>
            </a:r>
            <a:r>
              <a:rPr lang="el-GR" dirty="0"/>
              <a:t> μέσα της. Είτε αυτό αφορά κάποιο </a:t>
            </a:r>
            <a:r>
              <a:rPr lang="el-GR" dirty="0" err="1"/>
              <a:t>Python</a:t>
            </a:r>
            <a:r>
              <a:rPr lang="el-GR" dirty="0"/>
              <a:t> </a:t>
            </a:r>
            <a:r>
              <a:rPr lang="el-GR" dirty="0" err="1"/>
              <a:t>Script</a:t>
            </a:r>
            <a:r>
              <a:rPr lang="el-GR" dirty="0"/>
              <a:t>, είτε κάποιο </a:t>
            </a:r>
            <a:r>
              <a:rPr lang="el-GR" dirty="0" err="1"/>
              <a:t>Search</a:t>
            </a:r>
            <a:r>
              <a:rPr lang="el-GR" dirty="0"/>
              <a:t> </a:t>
            </a:r>
            <a:r>
              <a:rPr lang="el-GR" dirty="0" err="1"/>
              <a:t>Tool</a:t>
            </a:r>
            <a:r>
              <a:rPr lang="el-GR" dirty="0"/>
              <a:t>, είτε ακόμα και τον </a:t>
            </a:r>
            <a:r>
              <a:rPr lang="el-GR" dirty="0" err="1"/>
              <a:t>Calculator</a:t>
            </a:r>
            <a:r>
              <a:rPr lang="el-GR"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Τα αρνητικά στη συγκεκριμένη </a:t>
            </a:r>
            <a:r>
              <a:rPr lang="el-GR" dirty="0" err="1"/>
              <a:t>version</a:t>
            </a:r>
            <a:r>
              <a:rPr lang="el-GR" dirty="0"/>
              <a:t> του συστήματος είναι, πρώτον, ότι είσαι εξαρτημένο από </a:t>
            </a:r>
            <a:r>
              <a:rPr lang="el-GR" dirty="0" err="1"/>
              <a:t>External</a:t>
            </a:r>
            <a:r>
              <a:rPr lang="el-GR" dirty="0"/>
              <a:t> </a:t>
            </a:r>
            <a:r>
              <a:rPr lang="el-GR" dirty="0" err="1"/>
              <a:t>Search</a:t>
            </a:r>
            <a:r>
              <a:rPr lang="el-GR" dirty="0"/>
              <a:t> </a:t>
            </a:r>
            <a:r>
              <a:rPr lang="el-GR" dirty="0" err="1"/>
              <a:t>APIs</a:t>
            </a:r>
            <a:r>
              <a:rPr lang="el-GR" dirty="0"/>
              <a:t>, το οποίο μπορεί να </a:t>
            </a:r>
            <a:r>
              <a:rPr lang="el-GR" dirty="0" err="1"/>
              <a:t>επηρεώσει</a:t>
            </a:r>
            <a:r>
              <a:rPr lang="el-GR" dirty="0"/>
              <a:t> και το </a:t>
            </a:r>
            <a:r>
              <a:rPr lang="el-GR" dirty="0" err="1"/>
              <a:t>quality</a:t>
            </a:r>
            <a:r>
              <a:rPr lang="el-GR" dirty="0"/>
              <a:t> σου στο </a:t>
            </a:r>
            <a:r>
              <a:rPr lang="el-GR" dirty="0" err="1"/>
              <a:t>output</a:t>
            </a:r>
            <a:r>
              <a:rPr lang="el-GR" dirty="0"/>
              <a:t>. Δηλαδή, άμα τα API δεν είναι καλά, δεν θα πάρεις καλό </a:t>
            </a:r>
            <a:r>
              <a:rPr lang="el-GR" dirty="0" err="1"/>
              <a:t>fact-checking</a:t>
            </a:r>
            <a:r>
              <a:rPr lang="el-GR" dirty="0"/>
              <a:t>, άρα δεν θα δώσεις καλό </a:t>
            </a:r>
            <a:r>
              <a:rPr lang="el-GR" dirty="0" err="1"/>
              <a:t>output</a:t>
            </a:r>
            <a:r>
              <a:rPr lang="el-GR" dirty="0"/>
              <a:t>. Δεύτερον, όλα τα </a:t>
            </a:r>
            <a:r>
              <a:rPr lang="el-GR" dirty="0" err="1"/>
              <a:t>scores</a:t>
            </a:r>
            <a:r>
              <a:rPr lang="el-GR" dirty="0"/>
              <a:t> στη συγκεκριμένη </a:t>
            </a:r>
            <a:r>
              <a:rPr lang="el-GR" dirty="0" err="1"/>
              <a:t>version</a:t>
            </a:r>
            <a:r>
              <a:rPr lang="el-GR" dirty="0"/>
              <a:t> πραγματοποιούνται σύμφωνα με τη λογική που έχει το NLM από πίσω και το πώς έχει γίνει η </a:t>
            </a:r>
            <a:r>
              <a:rPr lang="el-GR" dirty="0" err="1"/>
              <a:t>trail</a:t>
            </a:r>
            <a:r>
              <a:rPr lang="el-GR" dirty="0"/>
              <a:t>, και όχι με κάποιο μαθηματικό </a:t>
            </a:r>
            <a:r>
              <a:rPr lang="el-GR" dirty="0" err="1"/>
              <a:t>scoring</a:t>
            </a:r>
            <a:r>
              <a:rPr lang="el-GR" dirty="0"/>
              <a:t>, μία μαθηματική εξίσωση, αλλά είναι κάτι που ιδιαίτερα </a:t>
            </a:r>
            <a:r>
              <a:rPr lang="el-GR" dirty="0" err="1"/>
              <a:t>μοντιφάει</a:t>
            </a:r>
            <a:r>
              <a:rPr lang="el-GR" dirty="0"/>
              <a:t> και μπορείς να το βάλεις στο </a:t>
            </a:r>
            <a:r>
              <a:rPr lang="el-GR" dirty="0" err="1"/>
              <a:t>prompt</a:t>
            </a:r>
            <a:r>
              <a:rPr lang="el-GR" dirty="0"/>
              <a:t> σου και να αρχίσεις να λειτουργεί έτσι. Τρίτον, είναι ότι προς πρώτο του, η </a:t>
            </a:r>
            <a:r>
              <a:rPr lang="el-GR" dirty="0" err="1"/>
              <a:t>version</a:t>
            </a:r>
            <a:r>
              <a:rPr lang="el-GR" dirty="0"/>
              <a:t> δεν έχει </a:t>
            </a:r>
            <a:r>
              <a:rPr lang="el-GR" dirty="0" err="1"/>
              <a:t>multimodal</a:t>
            </a:r>
            <a:r>
              <a:rPr lang="el-GR" dirty="0"/>
              <a:t> </a:t>
            </a:r>
            <a:r>
              <a:rPr lang="el-GR" dirty="0" err="1"/>
              <a:t>input</a:t>
            </a:r>
            <a:r>
              <a:rPr lang="el-GR" dirty="0"/>
              <a:t>, δηλαδή μπορεί να χειριστεί μόνο </a:t>
            </a:r>
            <a:r>
              <a:rPr lang="el-GR" dirty="0" err="1"/>
              <a:t>τέξεις</a:t>
            </a:r>
            <a:r>
              <a:rPr lang="el-GR" dirty="0"/>
              <a:t>, όπως είναι τα άρθρα, και δεν μπορεί να χειριστεί κάποιο βίντεο ή κάποια εικόνα, επειδή </a:t>
            </a:r>
            <a:r>
              <a:rPr lang="el-GR" dirty="0" err="1"/>
              <a:t>αφοσιοποιηθήκαμε</a:t>
            </a:r>
            <a:r>
              <a:rPr lang="el-GR" dirty="0"/>
              <a:t> πρακτικά στα άρθρα ή σε ένα post, όπως θα πάρεις από το Twitter. Αλλά είναι πολύ πιθανό να βγουν και βίντεο τα οποία μπορεί να είναι </a:t>
            </a:r>
            <a:r>
              <a:rPr lang="el-GR" dirty="0" err="1"/>
              <a:t>fake</a:t>
            </a:r>
            <a:r>
              <a:rPr lang="el-GR" dirty="0"/>
              <a:t>, εικόνες. Και τέταρτον, το οποίο είναι καθαρά τεχνικό, είναι το </a:t>
            </a:r>
            <a:r>
              <a:rPr lang="el-GR" dirty="0" err="1"/>
              <a:t>manual</a:t>
            </a:r>
            <a:r>
              <a:rPr lang="el-GR" dirty="0"/>
              <a:t> </a:t>
            </a:r>
            <a:r>
              <a:rPr lang="el-GR" dirty="0" err="1"/>
              <a:t>evaluation</a:t>
            </a:r>
            <a:r>
              <a:rPr lang="el-GR" dirty="0"/>
              <a:t> </a:t>
            </a:r>
            <a:r>
              <a:rPr lang="el-GR" dirty="0" err="1"/>
              <a:t>process</a:t>
            </a:r>
            <a:r>
              <a:rPr lang="el-GR" dirty="0"/>
              <a:t>. Δυστυχώς, ο μόνος λόγος για να κάνεις </a:t>
            </a:r>
            <a:r>
              <a:rPr lang="el-GR" dirty="0" err="1"/>
              <a:t>evaluate</a:t>
            </a:r>
            <a:r>
              <a:rPr lang="el-GR" dirty="0"/>
              <a:t> αυτό το σύστημα, είναι </a:t>
            </a:r>
            <a:r>
              <a:rPr lang="el-GR" dirty="0" err="1"/>
              <a:t>one</a:t>
            </a:r>
            <a:r>
              <a:rPr lang="el-GR" dirty="0"/>
              <a:t> </a:t>
            </a:r>
            <a:r>
              <a:rPr lang="el-GR" dirty="0" err="1"/>
              <a:t>by</a:t>
            </a:r>
            <a:r>
              <a:rPr lang="el-GR" dirty="0"/>
              <a:t> </a:t>
            </a:r>
            <a:r>
              <a:rPr lang="el-GR" dirty="0" err="1"/>
              <a:t>one</a:t>
            </a:r>
            <a:r>
              <a:rPr lang="el-GR" dirty="0"/>
              <a:t> να παίρνεις το άρθρο, το δίνεις και να κάνεις το απαραίτητο </a:t>
            </a:r>
            <a:r>
              <a:rPr lang="el-GR" dirty="0" err="1"/>
              <a:t>testing</a:t>
            </a:r>
            <a:r>
              <a:rPr lang="el-GR" dirty="0"/>
              <a:t> και </a:t>
            </a:r>
            <a:r>
              <a:rPr lang="el-GR" dirty="0" err="1"/>
              <a:t>evaluation</a:t>
            </a:r>
            <a:r>
              <a:rPr lang="el-GR" dirty="0"/>
              <a:t>, έτσι όπως λειτουργήσαμε και εμείς.</a:t>
            </a:r>
          </a:p>
          <a:p>
            <a:endParaRPr lang="en-US" dirty="0"/>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21</a:t>
            </a:fld>
            <a:endParaRPr lang="el-GR"/>
          </a:p>
        </p:txBody>
      </p:sp>
    </p:spTree>
    <p:extLst>
      <p:ext uri="{BB962C8B-B14F-4D97-AF65-F5344CB8AC3E}">
        <p14:creationId xmlns:p14="http://schemas.microsoft.com/office/powerpoint/2010/main" val="16475836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Στην επόμενη ενότητα θα δούμε το </a:t>
            </a:r>
            <a:r>
              <a:rPr lang="el-GR" dirty="0" err="1"/>
              <a:t>test</a:t>
            </a:r>
            <a:r>
              <a:rPr lang="el-GR" dirty="0"/>
              <a:t> and </a:t>
            </a:r>
            <a:r>
              <a:rPr lang="el-GR" dirty="0" err="1"/>
              <a:t>evaluation</a:t>
            </a:r>
            <a:r>
              <a:rPr lang="el-GR" dirty="0"/>
              <a:t> το οποίο κάναμε στο σύστημα, γιατί πέρα από τα καλά θεωρητικά χαρακτηριστικά τα οποία έχει, θέλαμε να ελέγξουμε πόσο καλά τα αποκρίνεται και μαθηματικά. </a:t>
            </a:r>
            <a:r>
              <a:rPr lang="el-GR" dirty="0" err="1"/>
              <a:t>Μπορήσουμε</a:t>
            </a:r>
            <a:r>
              <a:rPr lang="el-GR" dirty="0"/>
              <a:t> να </a:t>
            </a:r>
            <a:r>
              <a:rPr lang="el-GR" dirty="0" err="1"/>
              <a:t>συγκρονίσουμε</a:t>
            </a:r>
            <a:r>
              <a:rPr lang="el-GR" dirty="0"/>
              <a:t> δηλαδή με άλλα μοντέλα, το </a:t>
            </a:r>
            <a:r>
              <a:rPr lang="el-GR" dirty="0" err="1"/>
              <a:t>Accuracy</a:t>
            </a:r>
            <a:r>
              <a:rPr lang="el-GR" dirty="0"/>
              <a:t>, F1 </a:t>
            </a:r>
            <a:r>
              <a:rPr lang="el-GR" dirty="0" err="1"/>
              <a:t>scores</a:t>
            </a:r>
            <a:r>
              <a:rPr lang="el-GR" dirty="0"/>
              <a:t>, </a:t>
            </a:r>
            <a:r>
              <a:rPr lang="el-GR" dirty="0" err="1"/>
              <a:t>Precision</a:t>
            </a:r>
            <a:r>
              <a:rPr lang="el-GR" dirty="0"/>
              <a:t>,</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22</a:t>
            </a:fld>
            <a:endParaRPr lang="el-GR"/>
          </a:p>
        </p:txBody>
      </p:sp>
    </p:spTree>
    <p:extLst>
      <p:ext uri="{BB962C8B-B14F-4D97-AF65-F5344CB8AC3E}">
        <p14:creationId xmlns:p14="http://schemas.microsoft.com/office/powerpoint/2010/main" val="3145768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Συγκεκριμένα, </a:t>
            </a:r>
            <a:r>
              <a:rPr lang="el-GR" dirty="0" err="1"/>
              <a:t>πραγματοποίησαμε</a:t>
            </a:r>
            <a:r>
              <a:rPr lang="el-GR" dirty="0"/>
              <a:t> ένα... </a:t>
            </a:r>
            <a:r>
              <a:rPr lang="el-GR" dirty="0" err="1"/>
              <a:t>πραγματοποίησαμε</a:t>
            </a:r>
            <a:r>
              <a:rPr lang="el-GR" dirty="0"/>
              <a:t> </a:t>
            </a:r>
            <a:r>
              <a:rPr lang="el-GR" dirty="0" err="1"/>
              <a:t>testing</a:t>
            </a:r>
            <a:r>
              <a:rPr lang="el-GR" dirty="0"/>
              <a:t> σε ένα μικρό δείγμα δεδομένων. Είναι ένα </a:t>
            </a:r>
            <a:r>
              <a:rPr lang="el-GR" dirty="0" err="1"/>
              <a:t>σάμπλι</a:t>
            </a:r>
            <a:r>
              <a:rPr lang="el-GR" dirty="0"/>
              <a:t> των 80 άρθρων, 40 πήραμε από ένα δημόσιο </a:t>
            </a:r>
            <a:r>
              <a:rPr lang="el-GR" dirty="0" err="1"/>
              <a:t>dataset</a:t>
            </a:r>
            <a:r>
              <a:rPr lang="el-GR" dirty="0"/>
              <a:t>, το οποίο είδαμε και σε άλλα </a:t>
            </a:r>
            <a:r>
              <a:rPr lang="el-GR" dirty="0" err="1"/>
              <a:t>ρίστα</a:t>
            </a:r>
            <a:r>
              <a:rPr lang="el-GR" dirty="0"/>
              <a:t> που είχε χρησιμοποιηθεί, και άλλα 40 από πάλι ένα </a:t>
            </a:r>
            <a:r>
              <a:rPr lang="el-GR" dirty="0" err="1"/>
              <a:t>published</a:t>
            </a:r>
            <a:r>
              <a:rPr lang="el-GR" dirty="0"/>
              <a:t> </a:t>
            </a:r>
            <a:r>
              <a:rPr lang="el-GR" dirty="0" err="1"/>
              <a:t>dataset</a:t>
            </a:r>
            <a:r>
              <a:rPr lang="el-GR" dirty="0"/>
              <a:t> που βρήκαμε. Το δικό μας μοντέλο πραγματοποίησε ένα </a:t>
            </a:r>
            <a:r>
              <a:rPr lang="el-GR" dirty="0" err="1"/>
              <a:t>over-accuracy</a:t>
            </a:r>
            <a:r>
              <a:rPr lang="el-GR" dirty="0"/>
              <a:t> του 75%. Στα δύο </a:t>
            </a:r>
            <a:r>
              <a:rPr lang="el-GR" dirty="0" err="1"/>
              <a:t>datasets</a:t>
            </a:r>
            <a:r>
              <a:rPr lang="el-GR" dirty="0"/>
              <a:t> χωρίστηκε στο </a:t>
            </a:r>
            <a:r>
              <a:rPr lang="el-GR" dirty="0" err="1"/>
              <a:t>liar</a:t>
            </a:r>
            <a:r>
              <a:rPr lang="el-GR" dirty="0"/>
              <a:t> να είναι 82,5% και στο </a:t>
            </a:r>
            <a:r>
              <a:rPr lang="el-GR" dirty="0" err="1"/>
              <a:t>fake</a:t>
            </a:r>
            <a:r>
              <a:rPr lang="el-GR" dirty="0"/>
              <a:t> </a:t>
            </a:r>
            <a:r>
              <a:rPr lang="el-GR" dirty="0" err="1"/>
              <a:t>news</a:t>
            </a:r>
            <a:r>
              <a:rPr lang="el-GR" dirty="0"/>
              <a:t> 67,5%. Τα 40 άρθρα που πήραμε από το </a:t>
            </a:r>
            <a:r>
              <a:rPr lang="el-GR" dirty="0" err="1"/>
              <a:t>liar</a:t>
            </a:r>
            <a:r>
              <a:rPr lang="el-GR" dirty="0"/>
              <a:t> χωρίστηκαν σε 20 και 20. 20 ήταν τίτλοι, 20 ήταν ολόκληρα κείμενα, ολόκληρα άρθρα. Ενώ, παρόλα αυτά, τα 40 από το </a:t>
            </a:r>
            <a:r>
              <a:rPr lang="el-GR" dirty="0" err="1"/>
              <a:t>fake</a:t>
            </a:r>
            <a:r>
              <a:rPr lang="el-GR" dirty="0"/>
              <a:t> </a:t>
            </a:r>
            <a:r>
              <a:rPr lang="el-GR" dirty="0" err="1"/>
              <a:t>news</a:t>
            </a:r>
            <a:r>
              <a:rPr lang="el-GR" dirty="0"/>
              <a:t> χωρίστηκαν σε 20 πολιτικού τύπου, δηλαδή, είχαν να κάνουν με πολιτικά δρόμενα, και τα 20 ήταν </a:t>
            </a:r>
            <a:r>
              <a:rPr lang="el-GR" dirty="0" err="1"/>
              <a:t>gossip</a:t>
            </a:r>
            <a:r>
              <a:rPr lang="el-GR" dirty="0"/>
              <a:t>. Το </a:t>
            </a:r>
            <a:r>
              <a:rPr lang="el-GR" dirty="0" err="1"/>
              <a:t>precision</a:t>
            </a:r>
            <a:r>
              <a:rPr lang="el-GR" dirty="0"/>
              <a:t>, γενικότερα, του </a:t>
            </a:r>
            <a:r>
              <a:rPr lang="el-GR" dirty="0" err="1"/>
              <a:t>σάμπλου</a:t>
            </a:r>
            <a:r>
              <a:rPr lang="el-GR" dirty="0"/>
              <a:t> των 80 άρθρων ήταν στο 33,7%, το οποίο ήταν αρκετά ψηλό. Το </a:t>
            </a:r>
            <a:r>
              <a:rPr lang="el-GR" dirty="0" err="1"/>
              <a:t>recall</a:t>
            </a:r>
            <a:r>
              <a:rPr lang="el-GR" dirty="0"/>
              <a:t> ήταν στο 33,5% και είχαμε και ένα F1 </a:t>
            </a:r>
            <a:r>
              <a:rPr lang="el-GR" dirty="0" err="1"/>
              <a:t>score</a:t>
            </a:r>
            <a:r>
              <a:rPr lang="el-GR" dirty="0"/>
              <a:t> το 78,2%. Ανά </a:t>
            </a:r>
            <a:r>
              <a:rPr lang="el-GR" dirty="0" err="1"/>
              <a:t>input</a:t>
            </a:r>
            <a:r>
              <a:rPr lang="el-GR" dirty="0"/>
              <a:t>, δηλαδή, βλέπουμε ότι το σύστημα θα πηγαίνει πολύ καλύτερα σε αφορά τους </a:t>
            </a:r>
            <a:r>
              <a:rPr lang="el-GR" dirty="0" err="1"/>
              <a:t>τύπλους</a:t>
            </a:r>
            <a:r>
              <a:rPr lang="el-GR" dirty="0"/>
              <a:t> των άρθρων παρά όσο τα </a:t>
            </a:r>
            <a:r>
              <a:rPr lang="el-GR" dirty="0" err="1"/>
              <a:t>full</a:t>
            </a:r>
            <a:r>
              <a:rPr lang="el-GR" dirty="0"/>
              <a:t> </a:t>
            </a:r>
            <a:r>
              <a:rPr lang="el-GR" dirty="0" err="1"/>
              <a:t>text</a:t>
            </a:r>
            <a:r>
              <a:rPr lang="el-GR" dirty="0"/>
              <a:t>. Ενώ στα </a:t>
            </a:r>
            <a:r>
              <a:rPr lang="el-GR" dirty="0" err="1"/>
              <a:t>ml</a:t>
            </a:r>
            <a:r>
              <a:rPr lang="el-GR" dirty="0"/>
              <a:t> και </a:t>
            </a:r>
            <a:r>
              <a:rPr lang="el-GR" dirty="0" err="1"/>
              <a:t>τύπλων</a:t>
            </a:r>
            <a:r>
              <a:rPr lang="el-GR" dirty="0"/>
              <a:t> μοντέλα θα προτρέψαμε το αντίθετο, γιατί όσο πιο πολλές λέξεις είχε ένα κείμενο το οποίο του έδινε, τόσο καλύτερο </a:t>
            </a:r>
            <a:r>
              <a:rPr lang="el-GR" dirty="0" err="1"/>
              <a:t>training</a:t>
            </a:r>
            <a:r>
              <a:rPr lang="el-GR" dirty="0"/>
              <a:t> έκανε, τόσο περισσότερη πληροφορία είχε. Εμάς, λειτουργεί ανάποδα. Γιατί? Γιατί όσο περισσότερες λέξεις έχει, όσο πιο πληροφορία έχει, τόσο δυσκολεύεται να κάνει </a:t>
            </a:r>
            <a:r>
              <a:rPr lang="el-GR" dirty="0" err="1"/>
              <a:t>adjust</a:t>
            </a:r>
            <a:r>
              <a:rPr lang="el-GR" dirty="0"/>
              <a:t> και </a:t>
            </a:r>
            <a:r>
              <a:rPr lang="el-GR" dirty="0" err="1"/>
              <a:t>fact</a:t>
            </a:r>
            <a:r>
              <a:rPr lang="el-GR" dirty="0"/>
              <a:t> </a:t>
            </a:r>
            <a:r>
              <a:rPr lang="el-GR" dirty="0" err="1"/>
              <a:t>checking</a:t>
            </a:r>
            <a:r>
              <a:rPr lang="el-GR" dirty="0"/>
              <a:t> με άλλα άρθρα.</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23</a:t>
            </a:fld>
            <a:endParaRPr lang="el-GR"/>
          </a:p>
        </p:txBody>
      </p:sp>
    </p:spTree>
    <p:extLst>
      <p:ext uri="{BB962C8B-B14F-4D97-AF65-F5344CB8AC3E}">
        <p14:creationId xmlns:p14="http://schemas.microsoft.com/office/powerpoint/2010/main" val="25642146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Παρ' όλα αυτά, σε ένα </a:t>
            </a:r>
            <a:r>
              <a:rPr lang="el-GR" dirty="0" err="1"/>
              <a:t>συγκεκριτικό</a:t>
            </a:r>
            <a:r>
              <a:rPr lang="el-GR" dirty="0"/>
              <a:t> </a:t>
            </a:r>
            <a:r>
              <a:rPr lang="el-GR" dirty="0" err="1"/>
              <a:t>πινάκα</a:t>
            </a:r>
            <a:r>
              <a:rPr lang="el-GR" dirty="0"/>
              <a:t> που δημιουργήσαμε, να συγκριθούμε με τα υπόλοιπα μοντέλα από τα άρθρα τα οποία αναφέραμε και πριν, βλέπουμε ότι τους αλγόριθμους του </a:t>
            </a:r>
            <a:r>
              <a:rPr lang="el-GR" dirty="0" err="1"/>
              <a:t>Machine</a:t>
            </a:r>
            <a:r>
              <a:rPr lang="el-GR" dirty="0"/>
              <a:t> </a:t>
            </a:r>
            <a:r>
              <a:rPr lang="el-GR" dirty="0" err="1"/>
              <a:t>Learning</a:t>
            </a:r>
            <a:r>
              <a:rPr lang="el-GR" dirty="0"/>
              <a:t> τους ξεπεράσαμε όλους και σε </a:t>
            </a:r>
            <a:r>
              <a:rPr lang="el-GR" dirty="0" err="1"/>
              <a:t>Accuracy</a:t>
            </a:r>
            <a:r>
              <a:rPr lang="el-GR" dirty="0"/>
              <a:t> και σε </a:t>
            </a:r>
            <a:r>
              <a:rPr lang="el-GR" dirty="0" err="1"/>
              <a:t>Fenascore</a:t>
            </a:r>
            <a:r>
              <a:rPr lang="el-GR" dirty="0"/>
              <a:t>. Παρ' όλα αυτά, </a:t>
            </a:r>
            <a:r>
              <a:rPr lang="el-GR" dirty="0" err="1"/>
              <a:t>Hybrid</a:t>
            </a:r>
            <a:r>
              <a:rPr lang="el-GR" dirty="0"/>
              <a:t> και </a:t>
            </a:r>
            <a:r>
              <a:rPr lang="el-GR" dirty="0" err="1"/>
              <a:t>Deep</a:t>
            </a:r>
            <a:r>
              <a:rPr lang="el-GR" dirty="0"/>
              <a:t> </a:t>
            </a:r>
            <a:r>
              <a:rPr lang="el-GR" dirty="0" err="1"/>
              <a:t>Learning</a:t>
            </a:r>
            <a:r>
              <a:rPr lang="el-GR" dirty="0"/>
              <a:t> μοντέλα ήταν αρκετά ψηλότερα από εμάς. Κάτι που μας υποδηλώνεται ο συγκεκριμένος σύστημα θα χρειάζεται </a:t>
            </a:r>
            <a:r>
              <a:rPr lang="el-GR" dirty="0" err="1"/>
              <a:t>Fine</a:t>
            </a:r>
            <a:r>
              <a:rPr lang="el-GR" dirty="0"/>
              <a:t> </a:t>
            </a:r>
            <a:r>
              <a:rPr lang="el-GR" dirty="0" err="1"/>
              <a:t>Tuning</a:t>
            </a:r>
            <a:r>
              <a:rPr lang="el-GR" dirty="0"/>
              <a:t>.</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24</a:t>
            </a:fld>
            <a:endParaRPr lang="el-GR"/>
          </a:p>
        </p:txBody>
      </p:sp>
    </p:spTree>
    <p:extLst>
      <p:ext uri="{BB962C8B-B14F-4D97-AF65-F5344CB8AC3E}">
        <p14:creationId xmlns:p14="http://schemas.microsoft.com/office/powerpoint/2010/main" val="24396396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Κλείνοντας, θα ήθελα να σας παρουσιάσω, </a:t>
            </a:r>
            <a:r>
              <a:rPr lang="el-GR" dirty="0" err="1"/>
              <a:t>επίτα</a:t>
            </a:r>
            <a:r>
              <a:rPr lang="el-GR" dirty="0"/>
              <a:t> και από το </a:t>
            </a:r>
            <a:r>
              <a:rPr lang="el-GR" dirty="0" err="1"/>
              <a:t>τεσσευαλιώσιο</a:t>
            </a:r>
            <a:r>
              <a:rPr lang="el-GR" dirty="0"/>
              <a:t> </a:t>
            </a:r>
            <a:r>
              <a:rPr lang="el-GR" dirty="0" err="1"/>
              <a:t>πλειοϊόν</a:t>
            </a:r>
            <a:r>
              <a:rPr lang="el-GR" dirty="0"/>
              <a:t> στο σύστημα, κάποια </a:t>
            </a:r>
            <a:r>
              <a:rPr lang="el-GR" dirty="0" err="1"/>
              <a:t>future</a:t>
            </a:r>
            <a:r>
              <a:rPr lang="el-GR" dirty="0"/>
              <a:t> </a:t>
            </a:r>
            <a:r>
              <a:rPr lang="el-GR" dirty="0" err="1"/>
              <a:t>work</a:t>
            </a:r>
            <a:r>
              <a:rPr lang="el-GR" dirty="0"/>
              <a:t> και </a:t>
            </a:r>
            <a:r>
              <a:rPr lang="el-GR" dirty="0" err="1"/>
              <a:t>evolution</a:t>
            </a:r>
            <a:r>
              <a:rPr lang="el-GR" dirty="0"/>
              <a:t> </a:t>
            </a:r>
            <a:r>
              <a:rPr lang="el-GR" dirty="0" err="1"/>
              <a:t>possibilities</a:t>
            </a:r>
            <a:r>
              <a:rPr lang="el-GR" dirty="0"/>
              <a:t> και δυνατότητες σε εξέλιξη του σήματος, το οποίο παρατηρήσαμε, και θα ήταν καλό να αναφέρουμε.</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25</a:t>
            </a:fld>
            <a:endParaRPr lang="el-GR"/>
          </a:p>
        </p:txBody>
      </p:sp>
    </p:spTree>
    <p:extLst>
      <p:ext uri="{BB962C8B-B14F-4D97-AF65-F5344CB8AC3E}">
        <p14:creationId xmlns:p14="http://schemas.microsoft.com/office/powerpoint/2010/main" val="2876018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Θα ήταν χρήσιμο να δοκιμαζόταν και κάποιο άλλο LLM πέρα από το </a:t>
            </a:r>
            <a:r>
              <a:rPr lang="el-GR" dirty="0" err="1"/>
              <a:t>OpenForum</a:t>
            </a:r>
            <a:r>
              <a:rPr lang="el-GR" dirty="0"/>
              <a:t> Mini, το οποίο προσωπικά εμείς το επιλέξαμε γιατί ήταν το πιο </a:t>
            </a:r>
            <a:r>
              <a:rPr lang="el-GR" dirty="0" err="1"/>
              <a:t>φθινό</a:t>
            </a:r>
            <a:r>
              <a:rPr lang="el-GR" dirty="0"/>
              <a:t> από τα υπόλοιπα LLM. Το πιο </a:t>
            </a:r>
            <a:r>
              <a:rPr lang="el-GR" dirty="0" err="1"/>
              <a:t>φθινό</a:t>
            </a:r>
            <a:r>
              <a:rPr lang="el-GR" dirty="0"/>
              <a:t> και καλό. Θα μπορούσε από όλο αυτό να γίνει μια δοκιμή και με πιο ακριβά LLM, όπως είναι τώρα το GPT-5, το οποίο μόλις </a:t>
            </a:r>
            <a:r>
              <a:rPr lang="el-GR" dirty="0" err="1"/>
              <a:t>γηγήκε</a:t>
            </a:r>
            <a:r>
              <a:rPr lang="el-GR" dirty="0"/>
              <a:t>, το οποίο είναι σχετικά ακριβό, αλλά και από άλλα </a:t>
            </a:r>
            <a:r>
              <a:rPr lang="el-GR" dirty="0" err="1"/>
              <a:t>open</a:t>
            </a:r>
            <a:r>
              <a:rPr lang="el-GR" dirty="0"/>
              <a:t> </a:t>
            </a:r>
            <a:r>
              <a:rPr lang="el-GR" dirty="0" err="1"/>
              <a:t>source</a:t>
            </a:r>
            <a:r>
              <a:rPr lang="el-GR" dirty="0"/>
              <a:t> </a:t>
            </a:r>
            <a:r>
              <a:rPr lang="el-GR" dirty="0" err="1"/>
              <a:t>models</a:t>
            </a:r>
            <a:r>
              <a:rPr lang="el-GR" dirty="0"/>
              <a:t>, τα οποία υπάρχουν εκεί έξω. Δεύτερον, θα ήταν ίσως αναγκαστικό τα </a:t>
            </a:r>
            <a:r>
              <a:rPr lang="el-GR" dirty="0" err="1"/>
              <a:t>scores</a:t>
            </a:r>
            <a:r>
              <a:rPr lang="el-GR" dirty="0"/>
              <a:t>, τα οποία υπολογίζονται από τα LLM, να προέρχονται από μαθηματικές εξισώσεις, οι οποίες μπορούμε εμείς να δημιουργήσουμε, πραγματοποιώντας κάποια στοιχεία. Τρίτον, το </a:t>
            </a:r>
            <a:r>
              <a:rPr lang="el-GR" dirty="0" err="1"/>
              <a:t>test</a:t>
            </a:r>
            <a:r>
              <a:rPr lang="el-GR" dirty="0"/>
              <a:t> και </a:t>
            </a:r>
            <a:r>
              <a:rPr lang="el-GR" dirty="0" err="1"/>
              <a:t>evaluation</a:t>
            </a:r>
            <a:r>
              <a:rPr lang="el-GR" dirty="0"/>
              <a:t> θα πρέπει να γίνει σε μεγαλύτερο </a:t>
            </a:r>
            <a:r>
              <a:rPr lang="el-GR" dirty="0" err="1"/>
              <a:t>data</a:t>
            </a:r>
            <a:r>
              <a:rPr lang="el-GR" dirty="0"/>
              <a:t>, το 70-80 άρθρων δεν είναι ικανοποιητικό για να μπορέσει να συγκριθεί με τα υπόλοιπα, με τις </a:t>
            </a:r>
            <a:r>
              <a:rPr lang="el-GR" dirty="0" err="1"/>
              <a:t>όπλες</a:t>
            </a:r>
            <a:r>
              <a:rPr lang="el-GR" dirty="0"/>
              <a:t> </a:t>
            </a:r>
            <a:r>
              <a:rPr lang="el-GR" dirty="0" err="1"/>
              <a:t>οργάνωμες</a:t>
            </a:r>
            <a:r>
              <a:rPr lang="el-GR" dirty="0"/>
              <a:t> που υπάρχουν τώρα στο ίντερνετ και κυκλοφορούν. Παρ' όλα αυτά, λόγω δεδομένου του κόστους, το οποίο, όπως είπαμε, είναι μικρό, αλλά όχι μηδενικό, και του χρόνου το οποίο χρειάζεται, γιατί το </a:t>
            </a:r>
            <a:r>
              <a:rPr lang="el-GR" dirty="0" err="1"/>
              <a:t>evaluation</a:t>
            </a:r>
            <a:r>
              <a:rPr lang="el-GR" dirty="0"/>
              <a:t> είναι </a:t>
            </a:r>
            <a:r>
              <a:rPr lang="el-GR" dirty="0" err="1"/>
              <a:t>μάνιαλι</a:t>
            </a:r>
            <a:r>
              <a:rPr lang="el-GR" dirty="0"/>
              <a:t>, όπως αναφέραμε και προηγουμένως, θεωρούμε ότι σαν </a:t>
            </a:r>
            <a:r>
              <a:rPr lang="el-GR" dirty="0" err="1"/>
              <a:t>future</a:t>
            </a:r>
            <a:r>
              <a:rPr lang="el-GR" dirty="0"/>
              <a:t> </a:t>
            </a:r>
            <a:r>
              <a:rPr lang="el-GR" dirty="0" err="1"/>
              <a:t>work</a:t>
            </a:r>
            <a:r>
              <a:rPr lang="el-GR" dirty="0"/>
              <a:t> θα ήταν ένα από τα πιο σημαντικά. Και τέταρτον, κάτι που είναι προαιρετικό, αλλά πιστεύω θα </a:t>
            </a:r>
            <a:r>
              <a:rPr lang="el-GR" dirty="0" err="1"/>
              <a:t>χρησιμοποιηθόταν</a:t>
            </a:r>
            <a:r>
              <a:rPr lang="el-GR" dirty="0"/>
              <a:t> από τον κόσμο, είναι αυτό που αναφέραμε ως </a:t>
            </a:r>
            <a:r>
              <a:rPr lang="el-GR" dirty="0" err="1"/>
              <a:t>multimodal</a:t>
            </a:r>
            <a:r>
              <a:rPr lang="el-GR" dirty="0"/>
              <a:t>. Θέλαμε να υποστηρίζει και βίντεο και εικόνες. Βέβαια είναι ανεξάρτητες με τις συγκεκριμένες θέσεις, αλλά πιστεύω ότι μπορεί να επιτευχθεί.</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26</a:t>
            </a:fld>
            <a:endParaRPr lang="el-GR"/>
          </a:p>
        </p:txBody>
      </p:sp>
    </p:spTree>
    <p:extLst>
      <p:ext uri="{BB962C8B-B14F-4D97-AF65-F5344CB8AC3E}">
        <p14:creationId xmlns:p14="http://schemas.microsoft.com/office/powerpoint/2010/main" val="7565780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Τέλος, θα ήθελα να ευχαριστήσω από την πλευρά μου πρώτα τον κύριο </a:t>
            </a:r>
            <a:r>
              <a:rPr lang="el-GR" dirty="0" err="1"/>
              <a:t>Πελέκη</a:t>
            </a:r>
            <a:r>
              <a:rPr lang="el-GR" dirty="0"/>
              <a:t>, ο οποίος ήταν δίπλα μου κάθε όλη τη διάρκεια της υλοποίησης εργασίας. Δεύτερο, δεν θέλω να χρησιμοποιήσω την </a:t>
            </a:r>
            <a:r>
              <a:rPr lang="el-GR" dirty="0" err="1"/>
              <a:t>OpenAI</a:t>
            </a:r>
            <a:r>
              <a:rPr lang="el-GR" dirty="0"/>
              <a:t>, η οποία μου έδωσε το </a:t>
            </a:r>
            <a:r>
              <a:rPr lang="el-GR" dirty="0" err="1"/>
              <a:t>Axis</a:t>
            </a:r>
            <a:r>
              <a:rPr lang="el-GR" dirty="0"/>
              <a:t> και το GPT-4 Mini, το </a:t>
            </a:r>
            <a:r>
              <a:rPr lang="el-GR" dirty="0" err="1"/>
              <a:t>Flowwise</a:t>
            </a:r>
            <a:r>
              <a:rPr lang="el-GR" dirty="0"/>
              <a:t> και τη Node.js </a:t>
            </a:r>
            <a:r>
              <a:rPr lang="el-GR" dirty="0" err="1"/>
              <a:t>Developer</a:t>
            </a:r>
            <a:r>
              <a:rPr lang="el-GR" dirty="0"/>
              <a:t> Community, τις </a:t>
            </a:r>
            <a:r>
              <a:rPr lang="el-GR" dirty="0" err="1"/>
              <a:t>Fact-Checking</a:t>
            </a:r>
            <a:r>
              <a:rPr lang="el-GR" dirty="0"/>
              <a:t> </a:t>
            </a:r>
            <a:r>
              <a:rPr lang="el-GR" dirty="0" err="1"/>
              <a:t>Platforms</a:t>
            </a:r>
            <a:r>
              <a:rPr lang="el-GR" dirty="0"/>
              <a:t>, το </a:t>
            </a:r>
            <a:r>
              <a:rPr lang="el-GR" dirty="0" err="1"/>
              <a:t>PoliticFact</a:t>
            </a:r>
            <a:r>
              <a:rPr lang="el-GR" dirty="0"/>
              <a:t> και το </a:t>
            </a:r>
            <a:r>
              <a:rPr lang="el-GR" dirty="0" err="1"/>
              <a:t>Gossip</a:t>
            </a:r>
            <a:r>
              <a:rPr lang="el-GR" dirty="0"/>
              <a:t> που ανοίγουν στο </a:t>
            </a:r>
            <a:r>
              <a:rPr lang="el-GR" dirty="0" err="1"/>
              <a:t>Fake</a:t>
            </a:r>
            <a:r>
              <a:rPr lang="el-GR" dirty="0"/>
              <a:t> </a:t>
            </a:r>
            <a:r>
              <a:rPr lang="el-GR" dirty="0" err="1"/>
              <a:t>News</a:t>
            </a:r>
            <a:r>
              <a:rPr lang="el-GR" dirty="0"/>
              <a:t> </a:t>
            </a:r>
            <a:r>
              <a:rPr lang="el-GR" dirty="0" err="1"/>
              <a:t>Dataset</a:t>
            </a:r>
            <a:r>
              <a:rPr lang="el-GR" dirty="0"/>
              <a:t>, και το </a:t>
            </a:r>
            <a:r>
              <a:rPr lang="el-GR" dirty="0" err="1"/>
              <a:t>GitHub</a:t>
            </a:r>
            <a:r>
              <a:rPr lang="el-GR" dirty="0"/>
              <a:t>, το Community </a:t>
            </a:r>
            <a:r>
              <a:rPr lang="el-GR" dirty="0" err="1"/>
              <a:t>to</a:t>
            </a:r>
            <a:r>
              <a:rPr lang="el-GR" dirty="0"/>
              <a:t> </a:t>
            </a:r>
            <a:r>
              <a:rPr lang="el-GR" dirty="0" err="1"/>
              <a:t>GitHub</a:t>
            </a:r>
            <a:r>
              <a:rPr lang="el-GR" dirty="0"/>
              <a:t>, το οποίο είναι πάντα εκεί.</a:t>
            </a:r>
          </a:p>
          <a:p>
            <a:endParaRPr lang="el-GR" dirty="0"/>
          </a:p>
        </p:txBody>
      </p:sp>
      <p:sp>
        <p:nvSpPr>
          <p:cNvPr id="4" name="Θέση αριθμού διαφάνειας 3"/>
          <p:cNvSpPr>
            <a:spLocks noGrp="1"/>
          </p:cNvSpPr>
          <p:nvPr>
            <p:ph type="sldNum" sz="quarter" idx="5"/>
          </p:nvPr>
        </p:nvSpPr>
        <p:spPr/>
        <p:txBody>
          <a:bodyPr/>
          <a:lstStyle/>
          <a:p>
            <a:fld id="{10FDEF5F-167B-4793-A29A-759A5686BF11}" type="slidenum">
              <a:rPr lang="el-GR" smtClean="0"/>
              <a:t>27</a:t>
            </a:fld>
            <a:endParaRPr lang="el-GR"/>
          </a:p>
        </p:txBody>
      </p:sp>
    </p:spTree>
    <p:extLst>
      <p:ext uri="{BB962C8B-B14F-4D97-AF65-F5344CB8AC3E}">
        <p14:creationId xmlns:p14="http://schemas.microsoft.com/office/powerpoint/2010/main" val="299139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l-GR"/>
              <a:t>Κάντε κλικ για να επεξεργαστείτε τον τίτλο υποδείγματος</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083640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4756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7" name="Date Placeholder 6"/>
          <p:cNvSpPr>
            <a:spLocks noGrp="1"/>
          </p:cNvSpPr>
          <p:nvPr>
            <p:ph type="dt" sz="half" idx="10"/>
          </p:nvPr>
        </p:nvSpPr>
        <p:spPr/>
        <p:txBody>
          <a:bodyPr/>
          <a:lstStyle/>
          <a:p>
            <a:fld id="{5BCAD085-E8A6-8845-BD4E-CB4CCA059FC4}" type="datetimeFigureOut">
              <a:rPr lang="en-US" smtClean="0"/>
              <a:t>9/28/2025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951073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9/28/2025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949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Content Placeholder 3"/>
          <p:cNvSpPr>
            <a:spLocks noGrp="1"/>
          </p:cNvSpPr>
          <p:nvPr>
            <p:ph sz="half" idx="2"/>
          </p:nvPr>
        </p:nvSpPr>
        <p:spPr>
          <a:xfrm>
            <a:off x="1102239" y="3143250"/>
            <a:ext cx="3288024" cy="2596776"/>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7" name="Date Placeholder 6"/>
          <p:cNvSpPr>
            <a:spLocks noGrp="1"/>
          </p:cNvSpPr>
          <p:nvPr>
            <p:ph type="dt" sz="half" idx="10"/>
          </p:nvPr>
        </p:nvSpPr>
        <p:spPr/>
        <p:txBody>
          <a:bodyPr/>
          <a:lstStyle/>
          <a:p>
            <a:fld id="{5BCAD085-E8A6-8845-BD4E-CB4CCA059FC4}" type="datetimeFigureOut">
              <a:rPr lang="en-US" smtClean="0"/>
              <a:t>9/28/2025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l-GR"/>
              <a:t>Κάντε κλικ για να επεξεργαστείτε τον τίτλο υποδείγματος</a:t>
            </a:r>
            <a:endParaRPr lang="en-US" dirty="0"/>
          </a:p>
        </p:txBody>
      </p:sp>
    </p:spTree>
    <p:extLst>
      <p:ext uri="{BB962C8B-B14F-4D97-AF65-F5344CB8AC3E}">
        <p14:creationId xmlns:p14="http://schemas.microsoft.com/office/powerpoint/2010/main" val="2085471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8795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1101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9" name="Date Placeholder 8"/>
          <p:cNvSpPr>
            <a:spLocks noGrp="1"/>
          </p:cNvSpPr>
          <p:nvPr>
            <p:ph type="dt" sz="half" idx="10"/>
          </p:nvPr>
        </p:nvSpPr>
        <p:spPr/>
        <p:txBody>
          <a:bodyPr/>
          <a:lstStyle/>
          <a:p>
            <a:fld id="{5BCAD085-E8A6-8845-BD4E-CB4CCA059FC4}" type="datetimeFigureOut">
              <a:rPr lang="en-US" smtClean="0"/>
              <a:t>9/28/2025</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16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l-GR"/>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9/28/2025</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9885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14748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0399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9/28/2025</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3464897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ustomXml" Target="../ink/ink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customXml" Target="../ink/ink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latin typeface="Arial" panose="020B0604020202020204" pitchFamily="34" charset="0"/>
                <a:cs typeface="Arial" panose="020B0604020202020204" pitchFamily="34" charset="0"/>
              </a:rPr>
              <a:t>F</a:t>
            </a:r>
            <a:r>
              <a:rPr lang="en-US" cap="none" dirty="0">
                <a:latin typeface="Arial" panose="020B0604020202020204" pitchFamily="34" charset="0"/>
                <a:cs typeface="Arial" panose="020B0604020202020204" pitchFamily="34" charset="0"/>
              </a:rPr>
              <a:t>ake News Detection On Social Media</a:t>
            </a:r>
            <a:endParaRPr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p:txBody>
          <a:bodyPr>
            <a:normAutofit fontScale="55000" lnSpcReduction="20000"/>
          </a:bodyPr>
          <a:lstStyle/>
          <a:p>
            <a:r>
              <a:rPr lang="en-US" dirty="0">
                <a:latin typeface="Arial" panose="020B0604020202020204" pitchFamily="34" charset="0"/>
                <a:cs typeface="Arial" panose="020B0604020202020204" pitchFamily="34" charset="0"/>
              </a:rPr>
              <a:t>University of Piraeus</a:t>
            </a:r>
          </a:p>
          <a:p>
            <a:r>
              <a:rPr lang="en-US" dirty="0">
                <a:latin typeface="Arial" panose="020B0604020202020204" pitchFamily="34" charset="0"/>
                <a:cs typeface="Arial" panose="020B0604020202020204" pitchFamily="34" charset="0"/>
              </a:rPr>
              <a:t>Christos Tzoras</a:t>
            </a:r>
          </a:p>
          <a:p>
            <a:r>
              <a:rPr lang="en-US" dirty="0">
                <a:latin typeface="Arial" panose="020B0604020202020204" pitchFamily="34" charset="0"/>
                <a:cs typeface="Arial" panose="020B0604020202020204" pitchFamily="34" charset="0"/>
              </a:rPr>
              <a:t>September 2025</a:t>
            </a:r>
          </a:p>
          <a:p>
            <a:r>
              <a:rPr lang="en-US" dirty="0">
                <a:latin typeface="Arial" panose="020B0604020202020204" pitchFamily="34" charset="0"/>
                <a:cs typeface="Arial" panose="020B0604020202020204" pitchFamily="34" charset="0"/>
              </a:rPr>
              <a:t>Supervisor: Dr. </a:t>
            </a:r>
            <a:r>
              <a:rPr lang="en-US" dirty="0" err="1">
                <a:latin typeface="Arial" panose="020B0604020202020204" pitchFamily="34" charset="0"/>
                <a:cs typeface="Arial" panose="020B0604020202020204" pitchFamily="34" charset="0"/>
              </a:rPr>
              <a:t>Pelekis</a:t>
            </a:r>
            <a:r>
              <a:rPr lang="en-US" dirty="0">
                <a:latin typeface="Arial" panose="020B0604020202020204" pitchFamily="34" charset="0"/>
                <a:cs typeface="Arial" panose="020B0604020202020204" pitchFamily="34" charset="0"/>
              </a:rPr>
              <a:t> Nikolaos</a:t>
            </a:r>
          </a:p>
          <a:p>
            <a:r>
              <a:rPr lang="en-US" dirty="0">
                <a:latin typeface="Arial" panose="020B0604020202020204" pitchFamily="34" charset="0"/>
                <a:cs typeface="Arial" panose="020B0604020202020204" pitchFamily="34" charset="0"/>
              </a:rPr>
              <a:t>Committee Members: Dr. </a:t>
            </a:r>
            <a:r>
              <a:rPr lang="en-US" dirty="0" err="1">
                <a:latin typeface="Arial" panose="020B0604020202020204" pitchFamily="34" charset="0"/>
                <a:cs typeface="Arial" panose="020B0604020202020204" pitchFamily="34" charset="0"/>
              </a:rPr>
              <a:t>Kofidis</a:t>
            </a:r>
            <a:r>
              <a:rPr lang="en-US" dirty="0">
                <a:latin typeface="Arial" panose="020B0604020202020204" pitchFamily="34" charset="0"/>
                <a:cs typeface="Arial" panose="020B0604020202020204" pitchFamily="34" charset="0"/>
              </a:rPr>
              <a:t> Eleftherios &amp; </a:t>
            </a:r>
            <a:r>
              <a:rPr lang="en-US" dirty="0" err="1">
                <a:latin typeface="Arial" panose="020B0604020202020204" pitchFamily="34" charset="0"/>
                <a:cs typeface="Arial" panose="020B0604020202020204" pitchFamily="34" charset="0"/>
              </a:rPr>
              <a:t>Rakitzis</a:t>
            </a:r>
            <a:r>
              <a:rPr lang="en-US" dirty="0">
                <a:latin typeface="Arial" panose="020B0604020202020204" pitchFamily="34" charset="0"/>
                <a:cs typeface="Arial" panose="020B0604020202020204" pitchFamily="34" charset="0"/>
              </a:rPr>
              <a:t> Athanasios</a:t>
            </a:r>
            <a:endParaRPr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rial" panose="020B0604020202020204" pitchFamily="34" charset="0"/>
                <a:cs typeface="Arial" panose="020B0604020202020204" pitchFamily="34" charset="0"/>
              </a:rPr>
              <a:t>1. </a:t>
            </a:r>
            <a:r>
              <a:rPr lang="en-US" cap="none" dirty="0">
                <a:latin typeface="Arial" panose="020B0604020202020204" pitchFamily="34" charset="0"/>
                <a:cs typeface="Arial" panose="020B0604020202020204" pitchFamily="34" charset="0"/>
              </a:rPr>
              <a:t>Introduction</a:t>
            </a:r>
            <a:endParaRPr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CD5B2B9D-7C3B-F078-89BF-F25430086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964692"/>
            <a:ext cx="5937755" cy="1188720"/>
          </a:xfrm>
        </p:spPr>
        <p:txBody>
          <a:bodyPr/>
          <a:lstStyle/>
          <a:p>
            <a:r>
              <a:rPr lang="en-US" dirty="0"/>
              <a:t>Scope Of Thesis</a:t>
            </a:r>
          </a:p>
        </p:txBody>
      </p:sp>
      <p:sp>
        <p:nvSpPr>
          <p:cNvPr id="3" name="Content Placeholder 2"/>
          <p:cNvSpPr>
            <a:spLocks noGrp="1"/>
          </p:cNvSpPr>
          <p:nvPr>
            <p:ph idx="1"/>
          </p:nvPr>
        </p:nvSpPr>
        <p:spPr>
          <a:xfrm>
            <a:off x="1606045" y="2638045"/>
            <a:ext cx="5937755" cy="3101983"/>
          </a:xfrm>
        </p:spPr>
        <p:txBody>
          <a:bodyPr>
            <a:normAutofit/>
          </a:bodyPr>
          <a:lstStyle/>
          <a:p>
            <a:r>
              <a:rPr lang="en-US" dirty="0"/>
              <a:t>Fake news detection using modern LLM techniques.</a:t>
            </a:r>
          </a:p>
          <a:p>
            <a:r>
              <a:rPr lang="en-US" dirty="0"/>
              <a:t>Design of transparent and scalable architecture tailored for explainability.</a:t>
            </a:r>
          </a:p>
          <a:p>
            <a:r>
              <a:rPr lang="en-US" dirty="0"/>
              <a:t>Integration of external APIs and advanced prompt engineering with multi-agent LLM design.</a:t>
            </a:r>
          </a:p>
          <a:p>
            <a:r>
              <a:rPr lang="en-US" dirty="0"/>
              <a:t>Built on GPT-4o-mini, leveraging modular agents for specialized tasks.</a:t>
            </a:r>
          </a:p>
          <a:p>
            <a:r>
              <a:rPr lang="en-US" dirty="0"/>
              <a:t>Focus on producing structured, interpretable outputs, enhancing usability and decision support.</a:t>
            </a:r>
          </a:p>
        </p:txBody>
      </p:sp>
      <p:pic>
        <p:nvPicPr>
          <p:cNvPr id="1026" name="Picture 2" descr="Πανεπιστήμιο Πειραιώς - Οικονομολόγος">
            <a:extLst>
              <a:ext uri="{FF2B5EF4-FFF2-40B4-BE49-F238E27FC236}">
                <a16:creationId xmlns:a16="http://schemas.microsoft.com/office/drawing/2014/main" id="{8FB7C79F-BEC8-045C-2447-38FF5ACB13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32356-9ECE-3FCB-BDF5-6A6140E73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3101E-D6EC-68AD-F369-1832ADAF741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2</a:t>
            </a:r>
            <a:r>
              <a:rPr dirty="0">
                <a:latin typeface="Arial" panose="020B0604020202020204" pitchFamily="34" charset="0"/>
                <a:cs typeface="Arial" panose="020B0604020202020204" pitchFamily="34" charset="0"/>
              </a:rPr>
              <a:t>. </a:t>
            </a:r>
            <a:r>
              <a:rPr lang="en-US" cap="none" dirty="0">
                <a:latin typeface="Arial" panose="020B0604020202020204" pitchFamily="34" charset="0"/>
                <a:cs typeface="Arial" panose="020B0604020202020204" pitchFamily="34" charset="0"/>
              </a:rPr>
              <a:t>Literature Review</a:t>
            </a:r>
            <a:endParaRPr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E60E5F50-9470-401C-8DD0-948891CFF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902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D76C3-580C-A7F6-CA1C-EBF78FB42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C7E93-B30E-FB54-4C36-9C94F73AE410}"/>
              </a:ext>
            </a:extLst>
          </p:cNvPr>
          <p:cNvSpPr>
            <a:spLocks noGrp="1"/>
          </p:cNvSpPr>
          <p:nvPr>
            <p:ph type="title"/>
          </p:nvPr>
        </p:nvSpPr>
        <p:spPr>
          <a:xfrm>
            <a:off x="1603122" y="232367"/>
            <a:ext cx="5937755" cy="1188720"/>
          </a:xfrm>
        </p:spPr>
        <p:txBody>
          <a:bodyPr/>
          <a:lstStyle/>
          <a:p>
            <a:r>
              <a:rPr lang="en-US" cap="none" dirty="0">
                <a:latin typeface="Arial" panose="020B0604020202020204" pitchFamily="34" charset="0"/>
                <a:cs typeface="Arial" panose="020B0604020202020204" pitchFamily="34" charset="0"/>
              </a:rPr>
              <a:t>Machine and Deep Learning Techniques</a:t>
            </a:r>
          </a:p>
        </p:txBody>
      </p:sp>
      <p:pic>
        <p:nvPicPr>
          <p:cNvPr id="4" name="Picture 2" descr="Πανεπιστήμιο Πειραιώς - Οικονομολόγος">
            <a:extLst>
              <a:ext uri="{FF2B5EF4-FFF2-40B4-BE49-F238E27FC236}">
                <a16:creationId xmlns:a16="http://schemas.microsoft.com/office/drawing/2014/main" id="{35D66B9E-0EA6-A5FF-1A7E-BE88E61AC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265F81C-C407-81A0-E16F-A8914912FC6A}"/>
              </a:ext>
            </a:extLst>
          </p:cNvPr>
          <p:cNvSpPr txBox="1"/>
          <p:nvPr/>
        </p:nvSpPr>
        <p:spPr>
          <a:xfrm>
            <a:off x="5068109" y="2009325"/>
            <a:ext cx="282102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Technical Implementation</a:t>
            </a:r>
            <a:endParaRPr lang="el-GR"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F9145D9-012F-2325-FB4F-52529FFA10D4}"/>
              </a:ext>
            </a:extLst>
          </p:cNvPr>
          <p:cNvSpPr txBox="1"/>
          <p:nvPr/>
        </p:nvSpPr>
        <p:spPr>
          <a:xfrm>
            <a:off x="1173803" y="2006808"/>
            <a:ext cx="2373549"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Logical  Perspectives</a:t>
            </a:r>
            <a:endParaRPr lang="el-GR"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E2C2D4CD-ECD2-D4A8-236E-FA1386FD6E1F}"/>
              </a:ext>
            </a:extLst>
          </p:cNvPr>
          <p:cNvSpPr>
            <a:spLocks noGrp="1"/>
          </p:cNvSpPr>
          <p:nvPr>
            <p:ph idx="1"/>
          </p:nvPr>
        </p:nvSpPr>
        <p:spPr>
          <a:xfrm>
            <a:off x="233142" y="2717340"/>
            <a:ext cx="4254872" cy="3101983"/>
          </a:xfrm>
        </p:spPr>
        <p:txBody>
          <a:bodyPr>
            <a:normAutofit lnSpcReduction="10000"/>
          </a:bodyPr>
          <a:lstStyle/>
          <a:p>
            <a:r>
              <a:rPr lang="en-US" sz="1400" b="1" dirty="0">
                <a:latin typeface="Arial" panose="020B0604020202020204" pitchFamily="34" charset="0"/>
                <a:cs typeface="Arial" panose="020B0604020202020204" pitchFamily="34" charset="0"/>
              </a:rPr>
              <a:t>Content – Based Analysis</a:t>
            </a:r>
            <a:r>
              <a:rPr lang="en-US" sz="1400" dirty="0">
                <a:latin typeface="Arial" panose="020B0604020202020204" pitchFamily="34" charset="0"/>
                <a:cs typeface="Arial" panose="020B0604020202020204" pitchFamily="34" charset="0"/>
              </a:rPr>
              <a:t>: Examines linguistic, stylistic, and rhetorical patterns within the news.</a:t>
            </a:r>
          </a:p>
          <a:p>
            <a:r>
              <a:rPr lang="en-US" sz="1400" b="1" dirty="0">
                <a:latin typeface="Arial" panose="020B0604020202020204" pitchFamily="34" charset="0"/>
                <a:cs typeface="Arial" panose="020B0604020202020204" pitchFamily="34" charset="0"/>
              </a:rPr>
              <a:t>Metadata – Based Analysis</a:t>
            </a:r>
            <a:r>
              <a:rPr lang="en-US" sz="1400" dirty="0">
                <a:latin typeface="Arial" panose="020B0604020202020204" pitchFamily="34" charset="0"/>
                <a:cs typeface="Arial" panose="020B0604020202020204" pitchFamily="34" charset="0"/>
              </a:rPr>
              <a:t>: Uses information such as author, publish date, URL, and platform-specific tags.</a:t>
            </a:r>
          </a:p>
          <a:p>
            <a:r>
              <a:rPr lang="en-US" sz="1400" b="1" dirty="0">
                <a:latin typeface="Arial" panose="020B0604020202020204" pitchFamily="34" charset="0"/>
                <a:cs typeface="Arial" panose="020B0604020202020204" pitchFamily="34" charset="0"/>
              </a:rPr>
              <a:t>Propagation – Based Analysis</a:t>
            </a:r>
            <a:r>
              <a:rPr lang="en-US" sz="1400" dirty="0">
                <a:latin typeface="Arial" panose="020B0604020202020204" pitchFamily="34" charset="0"/>
                <a:cs typeface="Arial" panose="020B0604020202020204" pitchFamily="34" charset="0"/>
              </a:rPr>
              <a:t>:  Analyzes how news spreads through networks, including retweet trees or cascades.</a:t>
            </a:r>
          </a:p>
          <a:p>
            <a:r>
              <a:rPr lang="en-US" sz="1400" b="1" dirty="0">
                <a:latin typeface="Arial" panose="020B0604020202020204" pitchFamily="34" charset="0"/>
                <a:cs typeface="Arial" panose="020B0604020202020204" pitchFamily="34" charset="0"/>
              </a:rPr>
              <a:t>Sentiment – Based Analysis</a:t>
            </a:r>
            <a:r>
              <a:rPr lang="en-US" sz="1400" dirty="0">
                <a:latin typeface="Arial" panose="020B0604020202020204" pitchFamily="34" charset="0"/>
                <a:cs typeface="Arial" panose="020B0604020202020204" pitchFamily="34" charset="0"/>
              </a:rPr>
              <a:t>: Evaluates the emotional tone or bias in the content to detect exaggeration or intent.</a:t>
            </a:r>
          </a:p>
          <a:p>
            <a:r>
              <a:rPr lang="en-US" sz="1400" b="1" dirty="0">
                <a:latin typeface="Arial" panose="020B0604020202020204" pitchFamily="34" charset="0"/>
                <a:cs typeface="Arial" panose="020B0604020202020204" pitchFamily="34" charset="0"/>
              </a:rPr>
              <a:t>Hybrid Analysis</a:t>
            </a:r>
            <a:r>
              <a:rPr lang="en-US" sz="1400" dirty="0">
                <a:latin typeface="Arial" panose="020B0604020202020204" pitchFamily="34" charset="0"/>
                <a:cs typeface="Arial" panose="020B0604020202020204" pitchFamily="34" charset="0"/>
              </a:rPr>
              <a:t>: Combines multiple perspectives for holistic detection</a:t>
            </a:r>
            <a:endParaRPr sz="1400" dirty="0">
              <a:latin typeface="Arial" panose="020B0604020202020204" pitchFamily="34" charset="0"/>
              <a:cs typeface="Arial" panose="020B0604020202020204" pitchFamily="34" charset="0"/>
            </a:endParaRPr>
          </a:p>
          <a:p>
            <a:endParaRPr sz="1400" dirty="0">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09F69B38-5AB4-FE77-FF15-95E34A7B0B5C}"/>
              </a:ext>
            </a:extLst>
          </p:cNvPr>
          <p:cNvSpPr txBox="1">
            <a:spLocks/>
          </p:cNvSpPr>
          <p:nvPr/>
        </p:nvSpPr>
        <p:spPr>
          <a:xfrm>
            <a:off x="4655987" y="2717340"/>
            <a:ext cx="4254872" cy="22258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1400" b="1" dirty="0">
                <a:latin typeface="Arial" panose="020B0604020202020204" pitchFamily="34" charset="0"/>
                <a:cs typeface="Arial" panose="020B0604020202020204" pitchFamily="34" charset="0"/>
              </a:rPr>
              <a:t>Machine Learning: </a:t>
            </a:r>
            <a:r>
              <a:rPr lang="en-US" sz="1400" dirty="0">
                <a:latin typeface="Arial" panose="020B0604020202020204" pitchFamily="34" charset="0"/>
                <a:cs typeface="Arial" panose="020B0604020202020204" pitchFamily="34" charset="0"/>
              </a:rPr>
              <a:t>Uses handcrafted features (e.g., TF-IDF, metadata) with models like SVM or LR.</a:t>
            </a:r>
          </a:p>
          <a:p>
            <a:r>
              <a:rPr lang="en-US" sz="1400" b="1" dirty="0">
                <a:latin typeface="Arial" panose="020B0604020202020204" pitchFamily="34" charset="0"/>
                <a:cs typeface="Arial" panose="020B0604020202020204" pitchFamily="34" charset="0"/>
              </a:rPr>
              <a:t>Deep Learning: </a:t>
            </a:r>
            <a:r>
              <a:rPr lang="en-US" sz="1400" dirty="0">
                <a:latin typeface="Arial" panose="020B0604020202020204" pitchFamily="34" charset="0"/>
                <a:cs typeface="Arial" panose="020B0604020202020204" pitchFamily="34" charset="0"/>
              </a:rPr>
              <a:t>Applies neural networks like CNNs, RNNs, and Transformers for automatic feature extraction.</a:t>
            </a:r>
          </a:p>
          <a:p>
            <a:r>
              <a:rPr lang="en-US" sz="1400" b="1" dirty="0">
                <a:latin typeface="Arial" panose="020B0604020202020204" pitchFamily="34" charset="0"/>
                <a:cs typeface="Arial" panose="020B0604020202020204" pitchFamily="34" charset="0"/>
              </a:rPr>
              <a:t>Hybrid Models: </a:t>
            </a:r>
            <a:r>
              <a:rPr lang="en-US" sz="1400" dirty="0">
                <a:latin typeface="Arial" panose="020B0604020202020204" pitchFamily="34" charset="0"/>
                <a:cs typeface="Arial" panose="020B0604020202020204" pitchFamily="34" charset="0"/>
              </a:rPr>
              <a:t>Merge deep learning with graph analysis, user behavior, or external APIs for robust, multi-source evaluation.</a:t>
            </a:r>
          </a:p>
          <a:p>
            <a:pPr marL="0" indent="0">
              <a:buNone/>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2244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F2F345-D706-A7C6-5705-0EF1E3568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8645E-601B-1732-509E-98925C5CE2CD}"/>
              </a:ext>
            </a:extLst>
          </p:cNvPr>
          <p:cNvSpPr>
            <a:spLocks noGrp="1"/>
          </p:cNvSpPr>
          <p:nvPr>
            <p:ph type="title"/>
          </p:nvPr>
        </p:nvSpPr>
        <p:spPr>
          <a:xfrm>
            <a:off x="1603122" y="232367"/>
            <a:ext cx="5937755" cy="1188720"/>
          </a:xfrm>
        </p:spPr>
        <p:txBody>
          <a:bodyPr/>
          <a:lstStyle/>
          <a:p>
            <a:r>
              <a:rPr lang="en-US" cap="none" dirty="0"/>
              <a:t>Representative Articles Used in the Thesis</a:t>
            </a:r>
            <a:endParaRPr lang="en-US" cap="none"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6B6184E0-FAB4-1F83-F381-A93B01C97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Διάγραμμα 11">
            <a:extLst>
              <a:ext uri="{FF2B5EF4-FFF2-40B4-BE49-F238E27FC236}">
                <a16:creationId xmlns:a16="http://schemas.microsoft.com/office/drawing/2014/main" id="{0FB83229-B753-CA1A-FC01-FA2BFE7BA9F4}"/>
              </a:ext>
            </a:extLst>
          </p:cNvPr>
          <p:cNvGraphicFramePr/>
          <p:nvPr>
            <p:extLst>
              <p:ext uri="{D42A27DB-BD31-4B8C-83A1-F6EECF244321}">
                <p14:modId xmlns:p14="http://schemas.microsoft.com/office/powerpoint/2010/main" val="4131281181"/>
              </p:ext>
            </p:extLst>
          </p:nvPr>
        </p:nvGraphicFramePr>
        <p:xfrm>
          <a:off x="1523999" y="2146030"/>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00955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3</a:t>
            </a:r>
            <a:r>
              <a:rPr dirty="0">
                <a:latin typeface="Arial" panose="020B0604020202020204" pitchFamily="34" charset="0"/>
                <a:cs typeface="Arial" panose="020B0604020202020204" pitchFamily="34" charset="0"/>
              </a:rPr>
              <a:t>. </a:t>
            </a:r>
            <a:r>
              <a:rPr lang="en-US" cap="none" dirty="0">
                <a:latin typeface="Arial" panose="020B0604020202020204" pitchFamily="34" charset="0"/>
                <a:cs typeface="Arial" panose="020B0604020202020204" pitchFamily="34" charset="0"/>
              </a:rPr>
              <a:t>System Architecture</a:t>
            </a:r>
            <a:endParaRPr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47FBE8C3-1298-37D4-ED78-9B5B42B37D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E8728-3E4E-DCD2-ED37-98E212FE1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D385F-F91E-8FD4-FF7B-D33E263C8933}"/>
              </a:ext>
            </a:extLst>
          </p:cNvPr>
          <p:cNvSpPr>
            <a:spLocks noGrp="1"/>
          </p:cNvSpPr>
          <p:nvPr>
            <p:ph type="title"/>
          </p:nvPr>
        </p:nvSpPr>
        <p:spPr>
          <a:xfrm>
            <a:off x="1606045" y="370332"/>
            <a:ext cx="5937755" cy="1188720"/>
          </a:xfrm>
        </p:spPr>
        <p:txBody>
          <a:bodyPr/>
          <a:lstStyle/>
          <a:p>
            <a:r>
              <a:rPr lang="en-US" cap="none" dirty="0">
                <a:latin typeface="Arial" panose="020B0604020202020204" pitchFamily="34" charset="0"/>
                <a:cs typeface="Arial" panose="020B0604020202020204" pitchFamily="34" charset="0"/>
              </a:rPr>
              <a:t>Multi-Agent Architecture Overview</a:t>
            </a:r>
          </a:p>
        </p:txBody>
      </p:sp>
      <p:pic>
        <p:nvPicPr>
          <p:cNvPr id="4" name="Picture 2" descr="Πανεπιστήμιο Πειραιώς - Οικονομολόγος">
            <a:extLst>
              <a:ext uri="{FF2B5EF4-FFF2-40B4-BE49-F238E27FC236}">
                <a16:creationId xmlns:a16="http://schemas.microsoft.com/office/drawing/2014/main" id="{A652D7FE-5DCB-607B-E569-244C2C92D0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pic>
        <p:nvPicPr>
          <p:cNvPr id="9" name="Εικόνα 8">
            <a:extLst>
              <a:ext uri="{FF2B5EF4-FFF2-40B4-BE49-F238E27FC236}">
                <a16:creationId xmlns:a16="http://schemas.microsoft.com/office/drawing/2014/main" id="{9BCFA8FD-6CD5-288D-733F-6AB73C0FBF54}"/>
              </a:ext>
            </a:extLst>
          </p:cNvPr>
          <p:cNvPicPr>
            <a:picLocks noChangeAspect="1"/>
          </p:cNvPicPr>
          <p:nvPr/>
        </p:nvPicPr>
        <p:blipFill>
          <a:blip r:embed="rId4"/>
          <a:stretch>
            <a:fillRect/>
          </a:stretch>
        </p:blipFill>
        <p:spPr>
          <a:xfrm>
            <a:off x="196320" y="2245064"/>
            <a:ext cx="8751360" cy="3370645"/>
          </a:xfrm>
          <a:prstGeom prst="rect">
            <a:avLst/>
          </a:prstGeom>
        </p:spPr>
      </p:pic>
    </p:spTree>
    <p:extLst>
      <p:ext uri="{BB962C8B-B14F-4D97-AF65-F5344CB8AC3E}">
        <p14:creationId xmlns:p14="http://schemas.microsoft.com/office/powerpoint/2010/main" val="1154620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3122" y="223435"/>
            <a:ext cx="5937755" cy="1188720"/>
          </a:xfrm>
        </p:spPr>
        <p:txBody>
          <a:bodyPr/>
          <a:lstStyle/>
          <a:p>
            <a:r>
              <a:rPr lang="en-US" cap="none" dirty="0">
                <a:latin typeface="Arial" panose="020B0604020202020204" pitchFamily="34" charset="0"/>
                <a:cs typeface="Arial" panose="020B0604020202020204" pitchFamily="34" charset="0"/>
              </a:rPr>
              <a:t>Input Agent</a:t>
            </a:r>
          </a:p>
        </p:txBody>
      </p:sp>
      <p:pic>
        <p:nvPicPr>
          <p:cNvPr id="4" name="Picture 2" descr="Πανεπιστήμιο Πειραιώς - Οικονομολόγος">
            <a:extLst>
              <a:ext uri="{FF2B5EF4-FFF2-40B4-BE49-F238E27FC236}">
                <a16:creationId xmlns:a16="http://schemas.microsoft.com/office/drawing/2014/main" id="{142CAB5E-4F79-7927-AF49-0BC1323A2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B97D3F37-9180-14C2-2D70-EEF8C9EC139C}"/>
              </a:ext>
            </a:extLst>
          </p:cNvPr>
          <p:cNvSpPr>
            <a:spLocks noGrp="1"/>
          </p:cNvSpPr>
          <p:nvPr>
            <p:ph idx="1"/>
          </p:nvPr>
        </p:nvSpPr>
        <p:spPr>
          <a:xfrm>
            <a:off x="1603122" y="1563099"/>
            <a:ext cx="5937755" cy="563096"/>
          </a:xfrm>
        </p:spPr>
        <p:txBody>
          <a:bodyPr>
            <a:normAutofit/>
          </a:bodyPr>
          <a:lstStyle/>
          <a:p>
            <a:r>
              <a:rPr lang="en-US" sz="1400" b="1" dirty="0">
                <a:latin typeface="Arial" panose="020B0604020202020204" pitchFamily="34" charset="0"/>
                <a:cs typeface="Arial" panose="020B0604020202020204" pitchFamily="34" charset="0"/>
              </a:rPr>
              <a:t>Input Agent</a:t>
            </a:r>
            <a:r>
              <a:rPr lang="en-US" sz="1400" dirty="0">
                <a:latin typeface="Arial" panose="020B0604020202020204" pitchFamily="34" charset="0"/>
                <a:cs typeface="Arial" panose="020B0604020202020204" pitchFamily="34" charset="0"/>
              </a:rPr>
              <a:t>: Detects input type (URL, text, document), translates if needed, cleans the text, and standardizes it in JSON.</a:t>
            </a:r>
          </a:p>
        </p:txBody>
      </p:sp>
      <p:sp>
        <p:nvSpPr>
          <p:cNvPr id="3" name="TextBox 2">
            <a:extLst>
              <a:ext uri="{FF2B5EF4-FFF2-40B4-BE49-F238E27FC236}">
                <a16:creationId xmlns:a16="http://schemas.microsoft.com/office/drawing/2014/main" id="{B5118E06-A088-F0B6-40F1-975A7A482F27}"/>
              </a:ext>
            </a:extLst>
          </p:cNvPr>
          <p:cNvSpPr txBox="1"/>
          <p:nvPr/>
        </p:nvSpPr>
        <p:spPr>
          <a:xfrm>
            <a:off x="3036845" y="2277139"/>
            <a:ext cx="5696746" cy="4247317"/>
          </a:xfrm>
          <a:prstGeom prst="rect">
            <a:avLst/>
          </a:prstGeom>
          <a:solidFill>
            <a:srgbClr val="23262C"/>
          </a:solid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You are an input preprocessing agent for a fake news detection system. Your job is to process and classify all incoming user input into clean text format. Follow these strict steps:</a:t>
            </a:r>
          </a:p>
          <a:p>
            <a:r>
              <a:rPr lang="en-US" sz="1000" dirty="0">
                <a:solidFill>
                  <a:schemeClr val="bg1"/>
                </a:solidFill>
                <a:latin typeface="Arial" panose="020B0604020202020204" pitchFamily="34" charset="0"/>
                <a:cs typeface="Arial" panose="020B0604020202020204" pitchFamily="34" charset="0"/>
              </a:rPr>
              <a:t>1. </a:t>
            </a:r>
            <a:r>
              <a:rPr lang="en-US" sz="1000" b="1" dirty="0">
                <a:solidFill>
                  <a:schemeClr val="bg1"/>
                </a:solidFill>
                <a:latin typeface="Arial" panose="020B0604020202020204" pitchFamily="34" charset="0"/>
                <a:cs typeface="Arial" panose="020B0604020202020204" pitchFamily="34" charset="0"/>
              </a:rPr>
              <a:t>If the input is a URL</a:t>
            </a:r>
            <a:r>
              <a:rPr lang="en-US" sz="1000" dirty="0">
                <a:solidFill>
                  <a:schemeClr val="bg1"/>
                </a:solidFill>
                <a:latin typeface="Arial" panose="020B0604020202020204" pitchFamily="34" charset="0"/>
                <a:cs typeface="Arial" panose="020B0604020202020204" pitchFamily="34" charset="0"/>
              </a:rPr>
              <a:t>, return:</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"type": "</a:t>
            </a:r>
            <a:r>
              <a:rPr lang="en-US" sz="1000" dirty="0" err="1">
                <a:solidFill>
                  <a:schemeClr val="bg1"/>
                </a:solidFill>
                <a:latin typeface="Arial" panose="020B0604020202020204" pitchFamily="34" charset="0"/>
                <a:cs typeface="Arial" panose="020B0604020202020204" pitchFamily="34" charset="0"/>
              </a:rPr>
              <a:t>url</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cleanText</a:t>
            </a:r>
            <a:r>
              <a:rPr lang="en-US" sz="1000" dirty="0">
                <a:solidFill>
                  <a:schemeClr val="bg1"/>
                </a:solidFill>
                <a:latin typeface="Arial" panose="020B0604020202020204" pitchFamily="34" charset="0"/>
                <a:cs typeface="Arial" panose="020B0604020202020204" pitchFamily="34" charset="0"/>
              </a:rPr>
              <a:t>": "This appears to be a URL."</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2. </a:t>
            </a:r>
            <a:r>
              <a:rPr lang="en-US" sz="1000" b="1" dirty="0">
                <a:solidFill>
                  <a:schemeClr val="bg1"/>
                </a:solidFill>
                <a:latin typeface="Arial" panose="020B0604020202020204" pitchFamily="34" charset="0"/>
                <a:cs typeface="Arial" panose="020B0604020202020204" pitchFamily="34" charset="0"/>
              </a:rPr>
              <a:t>If the input is a short claim, news headline, or text-based statement</a:t>
            </a:r>
            <a:r>
              <a:rPr lang="en-US" sz="1000" dirty="0">
                <a:solidFill>
                  <a:schemeClr val="bg1"/>
                </a:solidFill>
                <a:latin typeface="Arial" panose="020B0604020202020204" pitchFamily="34" charset="0"/>
                <a:cs typeface="Arial" panose="020B0604020202020204" pitchFamily="34" charset="0"/>
              </a:rPr>
              <a:t>, perform the following:</a:t>
            </a:r>
          </a:p>
          <a:p>
            <a:r>
              <a:rPr lang="en-US" sz="1000" dirty="0">
                <a:solidFill>
                  <a:schemeClr val="bg1"/>
                </a:solidFill>
                <a:latin typeface="Arial" panose="020B0604020202020204" pitchFamily="34" charset="0"/>
                <a:cs typeface="Arial" panose="020B0604020202020204" pitchFamily="34" charset="0"/>
              </a:rPr>
              <a:t>a. Detect the language.</a:t>
            </a:r>
          </a:p>
          <a:p>
            <a:r>
              <a:rPr lang="en-US" sz="1000" dirty="0">
                <a:solidFill>
                  <a:schemeClr val="bg1"/>
                </a:solidFill>
                <a:latin typeface="Arial" panose="020B0604020202020204" pitchFamily="34" charset="0"/>
                <a:cs typeface="Arial" panose="020B0604020202020204" pitchFamily="34" charset="0"/>
              </a:rPr>
              <a:t>b. If the language is </a:t>
            </a:r>
            <a:r>
              <a:rPr lang="en-US" sz="1000" b="1" dirty="0">
                <a:solidFill>
                  <a:schemeClr val="bg1"/>
                </a:solidFill>
                <a:latin typeface="Arial" panose="020B0604020202020204" pitchFamily="34" charset="0"/>
                <a:cs typeface="Arial" panose="020B0604020202020204" pitchFamily="34" charset="0"/>
              </a:rPr>
              <a:t>not English</a:t>
            </a:r>
            <a:r>
              <a:rPr lang="en-US" sz="1000" dirty="0">
                <a:solidFill>
                  <a:schemeClr val="bg1"/>
                </a:solidFill>
                <a:latin typeface="Arial" panose="020B0604020202020204" pitchFamily="34" charset="0"/>
                <a:cs typeface="Arial" panose="020B0604020202020204" pitchFamily="34" charset="0"/>
              </a:rPr>
              <a:t>, translate it into English.</a:t>
            </a:r>
          </a:p>
          <a:p>
            <a:r>
              <a:rPr lang="en-US" sz="1000" dirty="0">
                <a:solidFill>
                  <a:schemeClr val="bg1"/>
                </a:solidFill>
                <a:latin typeface="Arial" panose="020B0604020202020204" pitchFamily="34" charset="0"/>
                <a:cs typeface="Arial" panose="020B0604020202020204" pitchFamily="34" charset="0"/>
              </a:rPr>
              <a:t>c. Clean the translated or original English text by:</a:t>
            </a:r>
          </a:p>
          <a:p>
            <a:r>
              <a:rPr lang="en-US" sz="1000" dirty="0">
                <a:solidFill>
                  <a:schemeClr val="bg1"/>
                </a:solidFill>
                <a:latin typeface="Arial" panose="020B0604020202020204" pitchFamily="34" charset="0"/>
                <a:cs typeface="Arial" panose="020B0604020202020204" pitchFamily="34" charset="0"/>
              </a:rPr>
              <a:t>- Removing punctuation</a:t>
            </a:r>
          </a:p>
          <a:p>
            <a:r>
              <a:rPr lang="en-US" sz="1000" dirty="0">
                <a:solidFill>
                  <a:schemeClr val="bg1"/>
                </a:solidFill>
                <a:latin typeface="Arial" panose="020B0604020202020204" pitchFamily="34" charset="0"/>
                <a:cs typeface="Arial" panose="020B0604020202020204" pitchFamily="34" charset="0"/>
              </a:rPr>
              <a:t>- Converting to lowercase</a:t>
            </a:r>
          </a:p>
          <a:p>
            <a:r>
              <a:rPr lang="en-US" sz="1000" dirty="0">
                <a:solidFill>
                  <a:schemeClr val="bg1"/>
                </a:solidFill>
                <a:latin typeface="Arial" panose="020B0604020202020204" pitchFamily="34" charset="0"/>
                <a:cs typeface="Arial" panose="020B0604020202020204" pitchFamily="34" charset="0"/>
              </a:rPr>
              <a:t>- Stripping emojis and special characters</a:t>
            </a:r>
          </a:p>
          <a:p>
            <a:r>
              <a:rPr lang="en-US" sz="1000" dirty="0">
                <a:solidFill>
                  <a:schemeClr val="bg1"/>
                </a:solidFill>
                <a:latin typeface="Arial" panose="020B0604020202020204" pitchFamily="34" charset="0"/>
                <a:cs typeface="Arial" panose="020B0604020202020204" pitchFamily="34" charset="0"/>
              </a:rPr>
              <a:t>- Trimming whitespace</a:t>
            </a:r>
          </a:p>
          <a:p>
            <a:r>
              <a:rPr lang="en-US" sz="1000" dirty="0">
                <a:solidFill>
                  <a:schemeClr val="bg1"/>
                </a:solidFill>
                <a:latin typeface="Arial" panose="020B0604020202020204" pitchFamily="34" charset="0"/>
                <a:cs typeface="Arial" panose="020B0604020202020204" pitchFamily="34" charset="0"/>
              </a:rPr>
              <a:t>Then return:</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"type": "text",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cleanText</a:t>
            </a:r>
            <a:r>
              <a:rPr lang="en-US" sz="1000" dirty="0">
                <a:solidFill>
                  <a:schemeClr val="bg1"/>
                </a:solidFill>
                <a:latin typeface="Arial" panose="020B0604020202020204" pitchFamily="34" charset="0"/>
                <a:cs typeface="Arial" panose="020B0604020202020204" pitchFamily="34" charset="0"/>
              </a:rPr>
              <a:t>": "&lt;</a:t>
            </a:r>
            <a:r>
              <a:rPr lang="en-US" sz="1000" dirty="0" err="1">
                <a:solidFill>
                  <a:schemeClr val="bg1"/>
                </a:solidFill>
                <a:latin typeface="Arial" panose="020B0604020202020204" pitchFamily="34" charset="0"/>
                <a:cs typeface="Arial" panose="020B0604020202020204" pitchFamily="34" charset="0"/>
              </a:rPr>
              <a:t>cleaned_english_text</a:t>
            </a:r>
            <a:r>
              <a:rPr lang="en-US" sz="1000" dirty="0">
                <a:solidFill>
                  <a:schemeClr val="bg1"/>
                </a:solidFill>
                <a:latin typeface="Arial" panose="020B0604020202020204" pitchFamily="34" charset="0"/>
                <a:cs typeface="Arial" panose="020B0604020202020204" pitchFamily="34" charset="0"/>
              </a:rPr>
              <a:t>&gt;"</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3. </a:t>
            </a:r>
            <a:r>
              <a:rPr lang="en-US" sz="1000" b="1" dirty="0">
                <a:solidFill>
                  <a:schemeClr val="bg1"/>
                </a:solidFill>
                <a:latin typeface="Arial" panose="020B0604020202020204" pitchFamily="34" charset="0"/>
                <a:cs typeface="Arial" panose="020B0604020202020204" pitchFamily="34" charset="0"/>
              </a:rPr>
              <a:t>If the input is a file or document</a:t>
            </a:r>
            <a:r>
              <a:rPr lang="en-US" sz="1000" dirty="0">
                <a:solidFill>
                  <a:schemeClr val="bg1"/>
                </a:solidFill>
                <a:latin typeface="Arial" panose="020B0604020202020204" pitchFamily="34" charset="0"/>
                <a:cs typeface="Arial" panose="020B0604020202020204" pitchFamily="34" charset="0"/>
              </a:rPr>
              <a:t>, return:</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"type": "file",</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cleanText</a:t>
            </a:r>
            <a:r>
              <a:rPr lang="en-US" sz="1000" dirty="0">
                <a:solidFill>
                  <a:schemeClr val="bg1"/>
                </a:solidFill>
                <a:latin typeface="Arial" panose="020B0604020202020204" pitchFamily="34" charset="0"/>
                <a:cs typeface="Arial" panose="020B0604020202020204" pitchFamily="34" charset="0"/>
              </a:rPr>
              <a:t>": "This is a file input."</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 Only return a valid JSON object with keys: type and </a:t>
            </a:r>
            <a:r>
              <a:rPr lang="en-US" sz="1000" dirty="0" err="1">
                <a:solidFill>
                  <a:schemeClr val="bg1"/>
                </a:solidFill>
                <a:latin typeface="Arial" panose="020B0604020202020204" pitchFamily="34" charset="0"/>
                <a:cs typeface="Arial" panose="020B0604020202020204" pitchFamily="34" charset="0"/>
              </a:rPr>
              <a:t>cleanText</a:t>
            </a:r>
            <a:r>
              <a:rPr lang="en-US" sz="1000" dirty="0">
                <a:solidFill>
                  <a:schemeClr val="bg1"/>
                </a:solidFill>
                <a:latin typeface="Arial" panose="020B0604020202020204" pitchFamily="34" charset="0"/>
                <a:cs typeface="Arial" panose="020B0604020202020204" pitchFamily="34" charset="0"/>
              </a:rPr>
              <a:t>. Do NOT explain, justify, or include any other text in the </a:t>
            </a:r>
            <a:r>
              <a:rPr lang="en-US" sz="1000" dirty="0" err="1">
                <a:solidFill>
                  <a:schemeClr val="bg1"/>
                </a:solidFill>
                <a:latin typeface="Arial" panose="020B0604020202020204" pitchFamily="34" charset="0"/>
                <a:cs typeface="Arial" panose="020B0604020202020204" pitchFamily="34" charset="0"/>
              </a:rPr>
              <a:t>response.v</a:t>
            </a:r>
            <a:endParaRPr lang="en-US" sz="1000" dirty="0">
              <a:solidFill>
                <a:schemeClr val="bg1"/>
              </a:solidFill>
              <a:latin typeface="Arial" panose="020B0604020202020204" pitchFamily="34" charset="0"/>
              <a:cs typeface="Arial" panose="020B0604020202020204" pitchFamily="34" charset="0"/>
            </a:endParaRPr>
          </a:p>
        </p:txBody>
      </p:sp>
      <p:pic>
        <p:nvPicPr>
          <p:cNvPr id="6" name="Εικόνα 5">
            <a:extLst>
              <a:ext uri="{FF2B5EF4-FFF2-40B4-BE49-F238E27FC236}">
                <a16:creationId xmlns:a16="http://schemas.microsoft.com/office/drawing/2014/main" id="{8CB48F85-C5E5-DB1B-EFC3-8FB519213073}"/>
              </a:ext>
            </a:extLst>
          </p:cNvPr>
          <p:cNvPicPr>
            <a:picLocks noChangeAspect="1"/>
          </p:cNvPicPr>
          <p:nvPr/>
        </p:nvPicPr>
        <p:blipFill>
          <a:blip r:embed="rId4"/>
          <a:stretch>
            <a:fillRect/>
          </a:stretch>
        </p:blipFill>
        <p:spPr>
          <a:xfrm>
            <a:off x="247878" y="2069389"/>
            <a:ext cx="2401893" cy="46628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9288A-8E1F-5EBA-70AE-E1393CE27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8E3BE-90C5-8FF8-2543-7BA582EC1164}"/>
              </a:ext>
            </a:extLst>
          </p:cNvPr>
          <p:cNvSpPr>
            <a:spLocks noGrp="1"/>
          </p:cNvSpPr>
          <p:nvPr>
            <p:ph type="title"/>
          </p:nvPr>
        </p:nvSpPr>
        <p:spPr>
          <a:xfrm>
            <a:off x="1603122" y="231909"/>
            <a:ext cx="5937755" cy="1188720"/>
          </a:xfrm>
        </p:spPr>
        <p:txBody>
          <a:bodyPr/>
          <a:lstStyle/>
          <a:p>
            <a:r>
              <a:rPr lang="en-US" cap="none" dirty="0">
                <a:latin typeface="Arial" panose="020B0604020202020204" pitchFamily="34" charset="0"/>
                <a:cs typeface="Arial" panose="020B0604020202020204" pitchFamily="34" charset="0"/>
              </a:rPr>
              <a:t>Fake News Classifier Agent</a:t>
            </a:r>
          </a:p>
        </p:txBody>
      </p:sp>
      <p:pic>
        <p:nvPicPr>
          <p:cNvPr id="4" name="Picture 2" descr="Πανεπιστήμιο Πειραιώς - Οικονομολόγος">
            <a:extLst>
              <a:ext uri="{FF2B5EF4-FFF2-40B4-BE49-F238E27FC236}">
                <a16:creationId xmlns:a16="http://schemas.microsoft.com/office/drawing/2014/main" id="{FCAF396A-B9F9-1CAB-56EF-65FA521BE0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6EADA0B7-4A57-FB22-F799-2CC0D9156D7E}"/>
              </a:ext>
            </a:extLst>
          </p:cNvPr>
          <p:cNvSpPr>
            <a:spLocks noGrp="1"/>
          </p:cNvSpPr>
          <p:nvPr>
            <p:ph idx="1"/>
          </p:nvPr>
        </p:nvSpPr>
        <p:spPr>
          <a:xfrm>
            <a:off x="1860815" y="1989191"/>
            <a:ext cx="5422368" cy="1024433"/>
          </a:xfrm>
        </p:spPr>
        <p:txBody>
          <a:bodyPr>
            <a:normAutofit/>
          </a:bodyPr>
          <a:lstStyle/>
          <a:p>
            <a:r>
              <a:rPr lang="en-US" sz="1400" b="1" dirty="0">
                <a:latin typeface="Arial" panose="020B0604020202020204" pitchFamily="34" charset="0"/>
                <a:cs typeface="Arial" panose="020B0604020202020204" pitchFamily="34" charset="0"/>
              </a:rPr>
              <a:t>Fake News Classifier</a:t>
            </a:r>
            <a:r>
              <a:rPr lang="en-US" sz="1400" dirty="0">
                <a:latin typeface="Arial" panose="020B0604020202020204" pitchFamily="34" charset="0"/>
                <a:cs typeface="Arial" panose="020B0604020202020204" pitchFamily="34" charset="0"/>
              </a:rPr>
              <a:t>: Performs fact-checking using the Google Custom Search API; outputs verdict (REAL, FAKE, SUSPICIOUS) with confidence score and source URLs.</a:t>
            </a:r>
          </a:p>
        </p:txBody>
      </p:sp>
      <p:pic>
        <p:nvPicPr>
          <p:cNvPr id="14" name="Εικόνα 13">
            <a:extLst>
              <a:ext uri="{FF2B5EF4-FFF2-40B4-BE49-F238E27FC236}">
                <a16:creationId xmlns:a16="http://schemas.microsoft.com/office/drawing/2014/main" id="{CF098333-6B39-33BB-9C1C-0DDEB87E8EC5}"/>
              </a:ext>
            </a:extLst>
          </p:cNvPr>
          <p:cNvPicPr>
            <a:picLocks noChangeAspect="1"/>
          </p:cNvPicPr>
          <p:nvPr/>
        </p:nvPicPr>
        <p:blipFill>
          <a:blip r:embed="rId4"/>
          <a:stretch>
            <a:fillRect/>
          </a:stretch>
        </p:blipFill>
        <p:spPr>
          <a:xfrm>
            <a:off x="1603122" y="3015933"/>
            <a:ext cx="5937755" cy="3181794"/>
          </a:xfrm>
          <a:prstGeom prst="rect">
            <a:avLst/>
          </a:prstGeom>
        </p:spPr>
      </p:pic>
    </p:spTree>
    <p:extLst>
      <p:ext uri="{BB962C8B-B14F-4D97-AF65-F5344CB8AC3E}">
        <p14:creationId xmlns:p14="http://schemas.microsoft.com/office/powerpoint/2010/main" val="3629199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8E3F5-87DE-5678-5383-6A2A6734C94C}"/>
            </a:ext>
          </a:extLst>
        </p:cNvPr>
        <p:cNvGrpSpPr/>
        <p:nvPr/>
      </p:nvGrpSpPr>
      <p:grpSpPr>
        <a:xfrm>
          <a:off x="0" y="0"/>
          <a:ext cx="0" cy="0"/>
          <a:chOff x="0" y="0"/>
          <a:chExt cx="0" cy="0"/>
        </a:xfrm>
      </p:grpSpPr>
      <p:pic>
        <p:nvPicPr>
          <p:cNvPr id="4" name="Picture 2" descr="Πανεπιστήμιο Πειραιώς - Οικονομολόγος">
            <a:extLst>
              <a:ext uri="{FF2B5EF4-FFF2-40B4-BE49-F238E27FC236}">
                <a16:creationId xmlns:a16="http://schemas.microsoft.com/office/drawing/2014/main" id="{34BE8170-AC05-31F3-362F-360C44BE9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pic>
        <p:nvPicPr>
          <p:cNvPr id="13" name="Εικόνα 12">
            <a:extLst>
              <a:ext uri="{FF2B5EF4-FFF2-40B4-BE49-F238E27FC236}">
                <a16:creationId xmlns:a16="http://schemas.microsoft.com/office/drawing/2014/main" id="{E34B9C0C-481C-9ADD-8226-FE1D1CE05C18}"/>
              </a:ext>
            </a:extLst>
          </p:cNvPr>
          <p:cNvPicPr>
            <a:picLocks noChangeAspect="1"/>
          </p:cNvPicPr>
          <p:nvPr/>
        </p:nvPicPr>
        <p:blipFill>
          <a:blip r:embed="rId4"/>
          <a:stretch>
            <a:fillRect/>
          </a:stretch>
        </p:blipFill>
        <p:spPr>
          <a:xfrm>
            <a:off x="275371" y="1247705"/>
            <a:ext cx="2305115" cy="4167687"/>
          </a:xfrm>
          <a:prstGeom prst="rect">
            <a:avLst/>
          </a:prstGeom>
        </p:spPr>
      </p:pic>
      <p:sp>
        <p:nvSpPr>
          <p:cNvPr id="3" name="TextBox 2">
            <a:extLst>
              <a:ext uri="{FF2B5EF4-FFF2-40B4-BE49-F238E27FC236}">
                <a16:creationId xmlns:a16="http://schemas.microsoft.com/office/drawing/2014/main" id="{3F4684D9-FAC2-DB03-8867-305FBED16063}"/>
              </a:ext>
            </a:extLst>
          </p:cNvPr>
          <p:cNvSpPr txBox="1"/>
          <p:nvPr/>
        </p:nvSpPr>
        <p:spPr>
          <a:xfrm>
            <a:off x="2901043" y="60857"/>
            <a:ext cx="5726910" cy="6539119"/>
          </a:xfrm>
          <a:prstGeom prst="rect">
            <a:avLst/>
          </a:prstGeom>
          <a:solidFill>
            <a:srgbClr val="23262C"/>
          </a:solid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Fake News Agent Prompts</a:t>
            </a:r>
          </a:p>
          <a:p>
            <a:r>
              <a:rPr lang="en-US" sz="1000" b="1" dirty="0">
                <a:solidFill>
                  <a:schemeClr val="bg1"/>
                </a:solidFill>
                <a:latin typeface="Arial" panose="020B0604020202020204" pitchFamily="34" charset="0"/>
                <a:cs typeface="Arial" panose="020B0604020202020204" pitchFamily="34" charset="0"/>
              </a:rPr>
              <a:t>🧾 Prompt 1: Fake News Classifier Agent (Google Custom Search)</a:t>
            </a:r>
            <a:endParaRPr lang="en-US" sz="1000" dirty="0">
              <a:solidFill>
                <a:schemeClr val="bg1"/>
              </a:solidFill>
              <a:latin typeface="Arial" panose="020B0604020202020204" pitchFamily="34" charset="0"/>
              <a:cs typeface="Arial" panose="020B0604020202020204" pitchFamily="34" charset="0"/>
            </a:endParaRPr>
          </a:p>
          <a:p>
            <a:r>
              <a:rPr lang="en-US" sz="1000" dirty="0">
                <a:solidFill>
                  <a:schemeClr val="bg1"/>
                </a:solidFill>
                <a:latin typeface="Arial" panose="020B0604020202020204" pitchFamily="34" charset="0"/>
                <a:cs typeface="Arial" panose="020B0604020202020204" pitchFamily="34" charset="0"/>
              </a:rPr>
              <a:t>You are a real-time fake news classifier. You will receive a user-submitted claim, and your job is to fact-check it based ONLY on evidence retrieved from the Google Custom Search Tool.</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 Input Claim:</a:t>
            </a:r>
          </a:p>
          <a:p>
            <a:r>
              <a:rPr lang="en-US" sz="1000" dirty="0">
                <a:solidFill>
                  <a:schemeClr val="bg1"/>
                </a:solidFill>
                <a:latin typeface="Arial" panose="020B0604020202020204" pitchFamily="34" charset="0"/>
                <a:cs typeface="Arial" panose="020B0604020202020204" pitchFamily="34" charset="0"/>
              </a:rPr>
              <a:t>{{ agentAgentflow_0 }} }}</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Instructions:</a:t>
            </a:r>
          </a:p>
          <a:p>
            <a:r>
              <a:rPr lang="en-US" sz="1000" dirty="0">
                <a:solidFill>
                  <a:schemeClr val="bg1"/>
                </a:solidFill>
                <a:latin typeface="Arial" panose="020B0604020202020204" pitchFamily="34" charset="0"/>
                <a:cs typeface="Arial" panose="020B0604020202020204" pitchFamily="34" charset="0"/>
              </a:rPr>
              <a:t>Perform a search using the Google Custom Search Tool based specifically on the above claim.</a:t>
            </a:r>
          </a:p>
          <a:p>
            <a:r>
              <a:rPr lang="en-US" sz="1000" dirty="0">
                <a:solidFill>
                  <a:schemeClr val="bg1"/>
                </a:solidFill>
                <a:latin typeface="Arial" panose="020B0604020202020204" pitchFamily="34" charset="0"/>
                <a:cs typeface="Arial" panose="020B0604020202020204" pitchFamily="34" charset="0"/>
              </a:rPr>
              <a:t>Analyze only the results returned from this search.</a:t>
            </a:r>
          </a:p>
          <a:p>
            <a:r>
              <a:rPr lang="en-US" sz="1000" dirty="0">
                <a:solidFill>
                  <a:schemeClr val="bg1"/>
                </a:solidFill>
                <a:latin typeface="Arial" panose="020B0604020202020204" pitchFamily="34" charset="0"/>
                <a:cs typeface="Arial" panose="020B0604020202020204" pitchFamily="34" charset="0"/>
              </a:rPr>
              <a:t>Return this structured JSON object:</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"verdict": "REAL" | "FAKE" | "SUSPICIOUS",</a:t>
            </a:r>
          </a:p>
          <a:p>
            <a:r>
              <a:rPr lang="en-US" sz="1000" dirty="0">
                <a:solidFill>
                  <a:schemeClr val="bg1"/>
                </a:solidFill>
                <a:latin typeface="Arial" panose="020B0604020202020204" pitchFamily="34" charset="0"/>
                <a:cs typeface="Arial" panose="020B0604020202020204" pitchFamily="34" charset="0"/>
              </a:rPr>
              <a:t>"confidence": &lt;number from 0 to 100&gt;,</a:t>
            </a:r>
          </a:p>
          <a:p>
            <a:r>
              <a:rPr lang="en-US" sz="1000" dirty="0">
                <a:solidFill>
                  <a:schemeClr val="bg1"/>
                </a:solidFill>
                <a:latin typeface="Arial" panose="020B0604020202020204" pitchFamily="34" charset="0"/>
                <a:cs typeface="Arial" panose="020B0604020202020204" pitchFamily="34" charset="0"/>
              </a:rPr>
              <a:t>"reasoning": "&lt;brief explanation based strictly on this search&gt;",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supporting_sources</a:t>
            </a:r>
            <a:r>
              <a:rPr lang="en-US" sz="1000" dirty="0">
                <a:solidFill>
                  <a:schemeClr val="bg1"/>
                </a:solidFill>
                <a:latin typeface="Arial" panose="020B0604020202020204" pitchFamily="34" charset="0"/>
                <a:cs typeface="Arial" panose="020B0604020202020204" pitchFamily="34" charset="0"/>
              </a:rPr>
              <a:t>": ["&lt;URL1&gt;", "&lt;URL2&gt;", "&lt;URL3&gt;"]</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Guidelines:</a:t>
            </a:r>
          </a:p>
          <a:p>
            <a:r>
              <a:rPr lang="en-US" sz="1000" dirty="0">
                <a:solidFill>
                  <a:schemeClr val="bg1"/>
                </a:solidFill>
                <a:latin typeface="Arial" panose="020B0604020202020204" pitchFamily="34" charset="0"/>
                <a:cs typeface="Arial" panose="020B0604020202020204" pitchFamily="34" charset="0"/>
              </a:rPr>
              <a:t>Use only sources from the Google Custom Search results.</a:t>
            </a:r>
          </a:p>
          <a:p>
            <a:r>
              <a:rPr lang="en-US" sz="1000" dirty="0">
                <a:solidFill>
                  <a:schemeClr val="bg1"/>
                </a:solidFill>
                <a:latin typeface="Arial" panose="020B0604020202020204" pitchFamily="34" charset="0"/>
                <a:cs typeface="Arial" panose="020B0604020202020204" pitchFamily="34" charset="0"/>
              </a:rPr>
              <a:t>Mention domain credibility and quality of evidence.</a:t>
            </a:r>
          </a:p>
          <a:p>
            <a:r>
              <a:rPr lang="en-US" sz="1000" dirty="0">
                <a:solidFill>
                  <a:schemeClr val="bg1"/>
                </a:solidFill>
                <a:latin typeface="Arial" panose="020B0604020202020204" pitchFamily="34" charset="0"/>
                <a:cs typeface="Arial" panose="020B0604020202020204" pitchFamily="34" charset="0"/>
              </a:rPr>
              <a:t>Do not speculate. Only use search-based findings.</a:t>
            </a:r>
          </a:p>
          <a:p>
            <a:r>
              <a:rPr lang="en-US" sz="1000" dirty="0">
                <a:solidFill>
                  <a:schemeClr val="bg1"/>
                </a:solidFill>
                <a:latin typeface="Arial" panose="020B0604020202020204" pitchFamily="34" charset="0"/>
                <a:cs typeface="Arial" panose="020B0604020202020204" pitchFamily="34" charset="0"/>
              </a:rPr>
              <a:t>Do not mark as REAL unless multiple sources explicitly confirm the full claim.</a:t>
            </a:r>
          </a:p>
          <a:p>
            <a:r>
              <a:rPr lang="en-US" sz="1000" dirty="0">
                <a:solidFill>
                  <a:schemeClr val="bg1"/>
                </a:solidFill>
                <a:latin typeface="Arial" panose="020B0604020202020204" pitchFamily="34" charset="0"/>
                <a:cs typeface="Arial" panose="020B0604020202020204" pitchFamily="34" charset="0"/>
              </a:rPr>
              <a:t>Return ONLY the JSON. No extra explanation or text.</a:t>
            </a:r>
          </a:p>
          <a:p>
            <a:r>
              <a:rPr lang="en-US" sz="1000" dirty="0">
                <a:solidFill>
                  <a:schemeClr val="bg1"/>
                </a:solidFill>
                <a:latin typeface="Arial" panose="020B0604020202020204" pitchFamily="34" charset="0"/>
                <a:cs typeface="Arial" panose="020B0604020202020204" pitchFamily="34" charset="0"/>
              </a:rPr>
              <a:t>❌ Never reference unrelated topics or reuse results from other claims</a:t>
            </a:r>
          </a:p>
          <a:p>
            <a:r>
              <a:rPr lang="en-US" sz="1000" dirty="0">
                <a:solidFill>
                  <a:schemeClr val="bg1"/>
                </a:solidFill>
                <a:latin typeface="Arial" panose="020B0604020202020204" pitchFamily="34" charset="0"/>
                <a:cs typeface="Arial" panose="020B0604020202020204" pitchFamily="34" charset="0"/>
              </a:rPr>
              <a:t>✅ Always align your reasoning with the specific search results from this exact claim</a:t>
            </a:r>
          </a:p>
          <a:p>
            <a:r>
              <a:rPr lang="en-US" sz="1000" dirty="0">
                <a:solidFill>
                  <a:schemeClr val="bg1"/>
                </a:solidFill>
                <a:latin typeface="Arial" panose="020B0604020202020204" pitchFamily="34" charset="0"/>
                <a:cs typeface="Arial" panose="020B0604020202020204" pitchFamily="34" charset="0"/>
              </a:rPr>
              <a:t>⚠️ Important:</a:t>
            </a:r>
          </a:p>
          <a:p>
            <a:r>
              <a:rPr lang="en-US" sz="1000" dirty="0">
                <a:solidFill>
                  <a:schemeClr val="bg1"/>
                </a:solidFill>
                <a:latin typeface="Arial" panose="020B0604020202020204" pitchFamily="34" charset="0"/>
                <a:cs typeface="Arial" panose="020B0604020202020204" pitchFamily="34" charset="0"/>
              </a:rPr>
              <a:t>Do not consider a claim verified or supported just because it covers a similar topic.</a:t>
            </a:r>
          </a:p>
          <a:p>
            <a:r>
              <a:rPr lang="en-US" sz="1000" dirty="0">
                <a:solidFill>
                  <a:schemeClr val="bg1"/>
                </a:solidFill>
                <a:latin typeface="Arial" panose="020B0604020202020204" pitchFamily="34" charset="0"/>
                <a:cs typeface="Arial" panose="020B0604020202020204" pitchFamily="34" charset="0"/>
              </a:rPr>
              <a:t>Only mark a claim as REAL or LIKELY_TRUE if:</a:t>
            </a:r>
          </a:p>
          <a:p>
            <a:r>
              <a:rPr lang="en-US" sz="1000" dirty="0">
                <a:solidFill>
                  <a:schemeClr val="bg1"/>
                </a:solidFill>
                <a:latin typeface="Arial" panose="020B0604020202020204" pitchFamily="34" charset="0"/>
                <a:cs typeface="Arial" panose="020B0604020202020204" pitchFamily="34" charset="0"/>
              </a:rPr>
              <a:t>- The supporting articles confirm the </a:t>
            </a:r>
            <a:r>
              <a:rPr lang="en-US" sz="1000" b="1" dirty="0">
                <a:solidFill>
                  <a:schemeClr val="bg1"/>
                </a:solidFill>
                <a:latin typeface="Arial" panose="020B0604020202020204" pitchFamily="34" charset="0"/>
                <a:cs typeface="Arial" panose="020B0604020202020204" pitchFamily="34" charset="0"/>
              </a:rPr>
              <a:t>exact meaning</a:t>
            </a:r>
            <a:r>
              <a:rPr lang="en-US" sz="1000" dirty="0">
                <a:solidFill>
                  <a:schemeClr val="bg1"/>
                </a:solidFill>
                <a:latin typeface="Arial" panose="020B0604020202020204" pitchFamily="34" charset="0"/>
                <a:cs typeface="Arial" panose="020B0604020202020204" pitchFamily="34" charset="0"/>
              </a:rPr>
              <a:t>, </a:t>
            </a:r>
            <a:r>
              <a:rPr lang="en-US" sz="1000" b="1" dirty="0">
                <a:solidFill>
                  <a:schemeClr val="bg1"/>
                </a:solidFill>
                <a:latin typeface="Arial" panose="020B0604020202020204" pitchFamily="34" charset="0"/>
                <a:cs typeface="Arial" panose="020B0604020202020204" pitchFamily="34" charset="0"/>
              </a:rPr>
              <a:t>implication</a:t>
            </a:r>
            <a:r>
              <a:rPr lang="en-US" sz="1000" dirty="0">
                <a:solidFill>
                  <a:schemeClr val="bg1"/>
                </a:solidFill>
                <a:latin typeface="Arial" panose="020B0604020202020204" pitchFamily="34" charset="0"/>
                <a:cs typeface="Arial" panose="020B0604020202020204" pitchFamily="34" charset="0"/>
              </a:rPr>
              <a:t>, and </a:t>
            </a:r>
            <a:r>
              <a:rPr lang="en-US" sz="1000" b="1" dirty="0">
                <a:solidFill>
                  <a:schemeClr val="bg1"/>
                </a:solidFill>
                <a:latin typeface="Arial" panose="020B0604020202020204" pitchFamily="34" charset="0"/>
                <a:cs typeface="Arial" panose="020B0604020202020204" pitchFamily="34" charset="0"/>
              </a:rPr>
              <a:t>tone</a:t>
            </a:r>
            <a:r>
              <a:rPr lang="en-US" sz="1000" dirty="0">
                <a:solidFill>
                  <a:schemeClr val="bg1"/>
                </a:solidFill>
                <a:latin typeface="Arial" panose="020B0604020202020204" pitchFamily="34" charset="0"/>
                <a:cs typeface="Arial" panose="020B0604020202020204" pitchFamily="34" charset="0"/>
              </a:rPr>
              <a:t> of the claim.</a:t>
            </a:r>
          </a:p>
          <a:p>
            <a:r>
              <a:rPr lang="en-US" sz="1000" dirty="0">
                <a:solidFill>
                  <a:schemeClr val="bg1"/>
                </a:solidFill>
                <a:latin typeface="Arial" panose="020B0604020202020204" pitchFamily="34" charset="0"/>
                <a:cs typeface="Arial" panose="020B0604020202020204" pitchFamily="34" charset="0"/>
              </a:rPr>
              <a:t>- The wording and intent match closely.</a:t>
            </a:r>
          </a:p>
          <a:p>
            <a:r>
              <a:rPr lang="en-US" sz="1000" dirty="0">
                <a:solidFill>
                  <a:schemeClr val="bg1"/>
                </a:solidFill>
                <a:latin typeface="Arial" panose="020B0604020202020204" pitchFamily="34" charset="0"/>
                <a:cs typeface="Arial" panose="020B0604020202020204" pitchFamily="34" charset="0"/>
              </a:rPr>
              <a:t>- The article uses similar language or explicitly states what the claim asserts.</a:t>
            </a:r>
          </a:p>
          <a:p>
            <a:r>
              <a:rPr lang="en-US" sz="1000" dirty="0">
                <a:solidFill>
                  <a:schemeClr val="bg1"/>
                </a:solidFill>
                <a:latin typeface="Arial" panose="020B0604020202020204" pitchFamily="34" charset="0"/>
                <a:cs typeface="Arial" panose="020B0604020202020204" pitchFamily="34" charset="0"/>
              </a:rPr>
              <a:t>Reject vague matches. For example:</a:t>
            </a:r>
          </a:p>
          <a:p>
            <a:r>
              <a:rPr lang="en-US" sz="1000" dirty="0">
                <a:solidFill>
                  <a:schemeClr val="bg1"/>
                </a:solidFill>
                <a:latin typeface="Arial" panose="020B0604020202020204" pitchFamily="34" charset="0"/>
                <a:cs typeface="Arial" panose="020B0604020202020204" pitchFamily="34" charset="0"/>
              </a:rPr>
              <a:t>- "She can leave whenever she wants" ≠ "They said ‘get out, we don’t care about you’".</a:t>
            </a:r>
          </a:p>
          <a:p>
            <a:r>
              <a:rPr lang="en-US" sz="1000" dirty="0">
                <a:solidFill>
                  <a:schemeClr val="bg1"/>
                </a:solidFill>
                <a:latin typeface="Arial" panose="020B0604020202020204" pitchFamily="34" charset="0"/>
                <a:cs typeface="Arial" panose="020B0604020202020204" pitchFamily="34" charset="0"/>
              </a:rPr>
              <a:t>- “A fire occurred” ≠ “They burned documents to hide something from investigators.”</a:t>
            </a:r>
          </a:p>
          <a:p>
            <a:r>
              <a:rPr lang="en-US" sz="1000" dirty="0">
                <a:solidFill>
                  <a:schemeClr val="bg1"/>
                </a:solidFill>
                <a:latin typeface="Arial" panose="020B0604020202020204" pitchFamily="34" charset="0"/>
                <a:cs typeface="Arial" panose="020B0604020202020204" pitchFamily="34" charset="0"/>
              </a:rPr>
              <a:t>If no precise match is found, return SUSPICIOUS or NO_CLEAR_EVIDENCE, even if general coverage exists.</a:t>
            </a:r>
          </a:p>
          <a:p>
            <a:r>
              <a:rPr lang="en-US" sz="1000" dirty="0">
                <a:solidFill>
                  <a:schemeClr val="bg1"/>
                </a:solidFill>
                <a:latin typeface="Arial" panose="020B0604020202020204" pitchFamily="34" charset="0"/>
                <a:cs typeface="Arial" panose="020B0604020202020204" pitchFamily="34" charset="0"/>
              </a:rPr>
              <a:t>Be cautious of:</a:t>
            </a:r>
          </a:p>
          <a:p>
            <a:r>
              <a:rPr lang="en-US" sz="1000" dirty="0">
                <a:solidFill>
                  <a:schemeClr val="bg1"/>
                </a:solidFill>
                <a:latin typeface="Arial" panose="020B0604020202020204" pitchFamily="34" charset="0"/>
                <a:cs typeface="Arial" panose="020B0604020202020204" pitchFamily="34" charset="0"/>
              </a:rPr>
              <a:t>- Emotional exaggeration</a:t>
            </a:r>
          </a:p>
          <a:p>
            <a:r>
              <a:rPr lang="en-US" sz="1000" dirty="0">
                <a:solidFill>
                  <a:schemeClr val="bg1"/>
                </a:solidFill>
                <a:latin typeface="Arial" panose="020B0604020202020204" pitchFamily="34" charset="0"/>
                <a:cs typeface="Arial" panose="020B0604020202020204" pitchFamily="34" charset="0"/>
              </a:rPr>
              <a:t>- Implications not supported in source articles</a:t>
            </a:r>
          </a:p>
          <a:p>
            <a:r>
              <a:rPr lang="en-US" sz="1000" dirty="0">
                <a:solidFill>
                  <a:schemeClr val="bg1"/>
                </a:solidFill>
                <a:latin typeface="Arial" panose="020B0604020202020204" pitchFamily="34" charset="0"/>
                <a:cs typeface="Arial" panose="020B0604020202020204" pitchFamily="34" charset="0"/>
              </a:rPr>
              <a:t>- Clickbait phrases and speculative claims</a:t>
            </a:r>
          </a:p>
          <a:p>
            <a:r>
              <a:rPr lang="en-US" sz="1000" dirty="0">
                <a:solidFill>
                  <a:schemeClr val="bg1"/>
                </a:solidFill>
                <a:latin typeface="Arial" panose="020B0604020202020204" pitchFamily="34" charset="0"/>
                <a:cs typeface="Arial" panose="020B0604020202020204" pitchFamily="34" charset="0"/>
              </a:rPr>
              <a:t>Return ONLY the JSON object. No extra explanations or </a:t>
            </a:r>
            <a:r>
              <a:rPr lang="en-US" sz="1000" dirty="0" err="1">
                <a:solidFill>
                  <a:schemeClr val="bg1"/>
                </a:solidFill>
                <a:latin typeface="Arial" panose="020B0604020202020204" pitchFamily="34" charset="0"/>
                <a:cs typeface="Arial" panose="020B0604020202020204" pitchFamily="34" charset="0"/>
              </a:rPr>
              <a:t>text.v</a:t>
            </a:r>
            <a:endParaRPr 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245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6F273-C7E5-D23C-ED0F-CC5D41BAC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5E8E4-3911-9D07-B7C3-FACF16984AC7}"/>
              </a:ext>
            </a:extLst>
          </p:cNvPr>
          <p:cNvSpPr>
            <a:spLocks noGrp="1"/>
          </p:cNvSpPr>
          <p:nvPr>
            <p:ph type="title"/>
          </p:nvPr>
        </p:nvSpPr>
        <p:spPr>
          <a:xfrm>
            <a:off x="1606460" y="370332"/>
            <a:ext cx="5937755" cy="1188720"/>
          </a:xfrm>
        </p:spPr>
        <p:txBody>
          <a:bodyPr/>
          <a:lstStyle/>
          <a:p>
            <a:r>
              <a:rPr lang="en-US" cap="none" dirty="0">
                <a:latin typeface="Arial" panose="020B0604020202020204" pitchFamily="34" charset="0"/>
                <a:cs typeface="Arial" panose="020B0604020202020204" pitchFamily="34" charset="0"/>
              </a:rPr>
              <a:t>Second Search Agent</a:t>
            </a:r>
          </a:p>
        </p:txBody>
      </p:sp>
      <p:pic>
        <p:nvPicPr>
          <p:cNvPr id="4" name="Picture 2" descr="Πανεπιστήμιο Πειραιώς - Οικονομολόγος">
            <a:extLst>
              <a:ext uri="{FF2B5EF4-FFF2-40B4-BE49-F238E27FC236}">
                <a16:creationId xmlns:a16="http://schemas.microsoft.com/office/drawing/2014/main" id="{47B65CAD-B324-757F-0844-A193E357C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F4ABD987-7284-4F26-8A7F-93B190851F6F}"/>
              </a:ext>
            </a:extLst>
          </p:cNvPr>
          <p:cNvSpPr>
            <a:spLocks noGrp="1"/>
          </p:cNvSpPr>
          <p:nvPr>
            <p:ph idx="1"/>
          </p:nvPr>
        </p:nvSpPr>
        <p:spPr>
          <a:xfrm>
            <a:off x="1730864" y="2063478"/>
            <a:ext cx="5682271" cy="731785"/>
          </a:xfrm>
        </p:spPr>
        <p:txBody>
          <a:bodyPr>
            <a:normAutofit/>
          </a:bodyPr>
          <a:lstStyle/>
          <a:p>
            <a:r>
              <a:rPr lang="en-US" sz="1400" b="1" dirty="0">
                <a:latin typeface="Arial" panose="020B0604020202020204" pitchFamily="34" charset="0"/>
                <a:cs typeface="Arial" panose="020B0604020202020204" pitchFamily="34" charset="0"/>
              </a:rPr>
              <a:t>Second Search Agent</a:t>
            </a:r>
            <a:r>
              <a:rPr lang="en-US" sz="1400" dirty="0">
                <a:latin typeface="Arial" panose="020B0604020202020204" pitchFamily="34" charset="0"/>
                <a:cs typeface="Arial" panose="020B0604020202020204" pitchFamily="34" charset="0"/>
              </a:rPr>
              <a:t>: Cross-verifies the claim using </a:t>
            </a:r>
            <a:r>
              <a:rPr lang="en-US" sz="1400" dirty="0" err="1">
                <a:latin typeface="Arial" panose="020B0604020202020204" pitchFamily="34" charset="0"/>
                <a:cs typeface="Arial" panose="020B0604020202020204" pitchFamily="34" charset="0"/>
              </a:rPr>
              <a:t>Serper</a:t>
            </a:r>
            <a:r>
              <a:rPr lang="en-US" sz="1400" dirty="0">
                <a:latin typeface="Arial" panose="020B0604020202020204" pitchFamily="34" charset="0"/>
                <a:cs typeface="Arial" panose="020B0604020202020204" pitchFamily="34" charset="0"/>
              </a:rPr>
              <a:t> API; returns a </a:t>
            </a:r>
            <a:r>
              <a:rPr lang="en-US" sz="1400" dirty="0" err="1">
                <a:latin typeface="Arial" panose="020B0604020202020204" pitchFamily="34" charset="0"/>
                <a:cs typeface="Arial" panose="020B0604020202020204" pitchFamily="34" charset="0"/>
              </a:rPr>
              <a:t>verdict_hint</a:t>
            </a:r>
            <a:r>
              <a:rPr lang="en-US" sz="1400" dirty="0">
                <a:latin typeface="Arial" panose="020B0604020202020204" pitchFamily="34" charset="0"/>
                <a:cs typeface="Arial" panose="020B0604020202020204" pitchFamily="34" charset="0"/>
              </a:rPr>
              <a:t> (e.g., LIKELY_FAKE) based on independent search results.</a:t>
            </a:r>
          </a:p>
        </p:txBody>
      </p:sp>
      <p:pic>
        <p:nvPicPr>
          <p:cNvPr id="7" name="Εικόνα 6">
            <a:extLst>
              <a:ext uri="{FF2B5EF4-FFF2-40B4-BE49-F238E27FC236}">
                <a16:creationId xmlns:a16="http://schemas.microsoft.com/office/drawing/2014/main" id="{AA9F5D70-E1B4-2D81-B03F-97EA4287435F}"/>
              </a:ext>
            </a:extLst>
          </p:cNvPr>
          <p:cNvPicPr>
            <a:picLocks noChangeAspect="1"/>
          </p:cNvPicPr>
          <p:nvPr/>
        </p:nvPicPr>
        <p:blipFill>
          <a:blip r:embed="rId4"/>
          <a:stretch>
            <a:fillRect/>
          </a:stretch>
        </p:blipFill>
        <p:spPr>
          <a:xfrm>
            <a:off x="1606460" y="3299690"/>
            <a:ext cx="5944430" cy="2400635"/>
          </a:xfrm>
          <a:prstGeom prst="rect">
            <a:avLst/>
          </a:prstGeom>
        </p:spPr>
      </p:pic>
    </p:spTree>
    <p:extLst>
      <p:ext uri="{BB962C8B-B14F-4D97-AF65-F5344CB8AC3E}">
        <p14:creationId xmlns:p14="http://schemas.microsoft.com/office/powerpoint/2010/main" val="2445264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2277-E861-EDA5-D468-90CAD946207F}"/>
            </a:ext>
          </a:extLst>
        </p:cNvPr>
        <p:cNvGrpSpPr/>
        <p:nvPr/>
      </p:nvGrpSpPr>
      <p:grpSpPr>
        <a:xfrm>
          <a:off x="0" y="0"/>
          <a:ext cx="0" cy="0"/>
          <a:chOff x="0" y="0"/>
          <a:chExt cx="0" cy="0"/>
        </a:xfrm>
      </p:grpSpPr>
      <p:pic>
        <p:nvPicPr>
          <p:cNvPr id="4" name="Picture 2" descr="Πανεπιστήμιο Πειραιώς - Οικονομολόγος">
            <a:extLst>
              <a:ext uri="{FF2B5EF4-FFF2-40B4-BE49-F238E27FC236}">
                <a16:creationId xmlns:a16="http://schemas.microsoft.com/office/drawing/2014/main" id="{B42B5B70-1F1E-8521-4D44-1C1102082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662C200-DCC4-E9DA-7979-717C95691DAD}"/>
              </a:ext>
            </a:extLst>
          </p:cNvPr>
          <p:cNvSpPr txBox="1"/>
          <p:nvPr/>
        </p:nvSpPr>
        <p:spPr>
          <a:xfrm>
            <a:off x="2901043" y="689788"/>
            <a:ext cx="5726910" cy="5478423"/>
          </a:xfrm>
          <a:prstGeom prst="rect">
            <a:avLst/>
          </a:prstGeom>
          <a:solidFill>
            <a:srgbClr val="23262C"/>
          </a:solid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You are a secondary fact-checking agent assisting in fake news detection. Your task is to independently verify a user-submitted claim using only fresh, credible online sources via the </a:t>
            </a:r>
            <a:r>
              <a:rPr lang="en-US" sz="1000" dirty="0" err="1">
                <a:solidFill>
                  <a:schemeClr val="bg1"/>
                </a:solidFill>
                <a:latin typeface="Arial" panose="020B0604020202020204" pitchFamily="34" charset="0"/>
                <a:cs typeface="Arial" panose="020B0604020202020204" pitchFamily="34" charset="0"/>
              </a:rPr>
              <a:t>Serper</a:t>
            </a:r>
            <a:r>
              <a:rPr lang="en-US" sz="1000" dirty="0">
                <a:solidFill>
                  <a:schemeClr val="bg1"/>
                </a:solidFill>
                <a:latin typeface="Arial" panose="020B0604020202020204" pitchFamily="34" charset="0"/>
                <a:cs typeface="Arial" panose="020B0604020202020204" pitchFamily="34" charset="0"/>
              </a:rPr>
              <a:t> API tool.</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 Input Claim:</a:t>
            </a:r>
          </a:p>
          <a:p>
            <a:r>
              <a:rPr lang="en-US" sz="1000" dirty="0">
                <a:solidFill>
                  <a:schemeClr val="bg1"/>
                </a:solidFill>
                <a:latin typeface="Arial" panose="020B0604020202020204" pitchFamily="34" charset="0"/>
                <a:cs typeface="Arial" panose="020B0604020202020204" pitchFamily="34" charset="0"/>
              </a:rPr>
              <a:t>{{ agentAgentflow_0 }} }}</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Instructions:</a:t>
            </a:r>
          </a:p>
          <a:p>
            <a:r>
              <a:rPr lang="en-US" sz="1000" dirty="0">
                <a:solidFill>
                  <a:schemeClr val="bg1"/>
                </a:solidFill>
                <a:latin typeface="Arial" panose="020B0604020202020204" pitchFamily="34" charset="0"/>
                <a:cs typeface="Arial" panose="020B0604020202020204" pitchFamily="34" charset="0"/>
              </a:rPr>
              <a:t>Perform a real-time web search using </a:t>
            </a:r>
            <a:r>
              <a:rPr lang="en-US" sz="1000" dirty="0" err="1">
                <a:solidFill>
                  <a:schemeClr val="bg1"/>
                </a:solidFill>
                <a:latin typeface="Arial" panose="020B0604020202020204" pitchFamily="34" charset="0"/>
                <a:cs typeface="Arial" panose="020B0604020202020204" pitchFamily="34" charset="0"/>
              </a:rPr>
              <a:t>Serper</a:t>
            </a:r>
            <a:r>
              <a:rPr lang="en-US" sz="1000" dirty="0">
                <a:solidFill>
                  <a:schemeClr val="bg1"/>
                </a:solidFill>
                <a:latin typeface="Arial" panose="020B0604020202020204" pitchFamily="34" charset="0"/>
                <a:cs typeface="Arial" panose="020B0604020202020204" pitchFamily="34" charset="0"/>
              </a:rPr>
              <a:t> API based on the claim only.</a:t>
            </a:r>
          </a:p>
          <a:p>
            <a:r>
              <a:rPr lang="en-US" sz="1000" dirty="0">
                <a:solidFill>
                  <a:schemeClr val="bg1"/>
                </a:solidFill>
                <a:latin typeface="Arial" panose="020B0604020202020204" pitchFamily="34" charset="0"/>
                <a:cs typeface="Arial" panose="020B0604020202020204" pitchFamily="34" charset="0"/>
              </a:rPr>
              <a:t>Analyze the search results and determine if credible sources confirm, deny, or ignore the claim.</a:t>
            </a:r>
          </a:p>
          <a:p>
            <a:r>
              <a:rPr lang="en-US" sz="1000" dirty="0">
                <a:solidFill>
                  <a:schemeClr val="bg1"/>
                </a:solidFill>
                <a:latin typeface="Arial" panose="020B0604020202020204" pitchFamily="34" charset="0"/>
                <a:cs typeface="Arial" panose="020B0604020202020204" pitchFamily="34" charset="0"/>
              </a:rPr>
              <a:t>Return this structured JSON object:</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search_summary</a:t>
            </a:r>
            <a:r>
              <a:rPr lang="en-US" sz="1000" dirty="0">
                <a:solidFill>
                  <a:schemeClr val="bg1"/>
                </a:solidFill>
                <a:latin typeface="Arial" panose="020B0604020202020204" pitchFamily="34" charset="0"/>
                <a:cs typeface="Arial" panose="020B0604020202020204" pitchFamily="34" charset="0"/>
              </a:rPr>
              <a:t>": "&lt;brief, neutral summary of the search results&gt;",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supporting_sources</a:t>
            </a:r>
            <a:r>
              <a:rPr lang="en-US" sz="1000" dirty="0">
                <a:solidFill>
                  <a:schemeClr val="bg1"/>
                </a:solidFill>
                <a:latin typeface="Arial" panose="020B0604020202020204" pitchFamily="34" charset="0"/>
                <a:cs typeface="Arial" panose="020B0604020202020204" pitchFamily="34" charset="0"/>
              </a:rPr>
              <a:t>": ["&lt;URL1&gt;", "&lt;URL2&gt;", "&lt;URL3&gt;"],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verdict_hint</a:t>
            </a:r>
            <a:r>
              <a:rPr lang="en-US" sz="1000" dirty="0">
                <a:solidFill>
                  <a:schemeClr val="bg1"/>
                </a:solidFill>
                <a:latin typeface="Arial" panose="020B0604020202020204" pitchFamily="34" charset="0"/>
                <a:cs typeface="Arial" panose="020B0604020202020204" pitchFamily="34" charset="0"/>
              </a:rPr>
              <a:t>": "LIKELY_TRUE" | "LIKELY_FAKE" | "NO_CLEAR_EVIDENCE"</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Guidelines:</a:t>
            </a:r>
          </a:p>
          <a:p>
            <a:r>
              <a:rPr lang="en-US" sz="1000" dirty="0">
                <a:solidFill>
                  <a:schemeClr val="bg1"/>
                </a:solidFill>
                <a:latin typeface="Arial" panose="020B0604020202020204" pitchFamily="34" charset="0"/>
                <a:cs typeface="Arial" panose="020B0604020202020204" pitchFamily="34" charset="0"/>
              </a:rPr>
              <a:t>Only use </a:t>
            </a:r>
            <a:r>
              <a:rPr lang="en-US" sz="1000" dirty="0" err="1">
                <a:solidFill>
                  <a:schemeClr val="bg1"/>
                </a:solidFill>
                <a:latin typeface="Arial" panose="020B0604020202020204" pitchFamily="34" charset="0"/>
                <a:cs typeface="Arial" panose="020B0604020202020204" pitchFamily="34" charset="0"/>
              </a:rPr>
              <a:t>Serper</a:t>
            </a:r>
            <a:r>
              <a:rPr lang="en-US" sz="1000" dirty="0">
                <a:solidFill>
                  <a:schemeClr val="bg1"/>
                </a:solidFill>
                <a:latin typeface="Arial" panose="020B0604020202020204" pitchFamily="34" charset="0"/>
                <a:cs typeface="Arial" panose="020B0604020202020204" pitchFamily="34" charset="0"/>
              </a:rPr>
              <a:t> search results. No speculation.</a:t>
            </a:r>
          </a:p>
          <a:p>
            <a:r>
              <a:rPr lang="en-US" sz="1000" dirty="0">
                <a:solidFill>
                  <a:schemeClr val="bg1"/>
                </a:solidFill>
                <a:latin typeface="Arial" panose="020B0604020202020204" pitchFamily="34" charset="0"/>
                <a:cs typeface="Arial" panose="020B0604020202020204" pitchFamily="34" charset="0"/>
              </a:rPr>
              <a:t>Only include real, relevant, and trustworthy URLs.</a:t>
            </a:r>
          </a:p>
          <a:p>
            <a:r>
              <a:rPr lang="en-US" sz="1000" dirty="0">
                <a:solidFill>
                  <a:schemeClr val="bg1"/>
                </a:solidFill>
                <a:latin typeface="Arial" panose="020B0604020202020204" pitchFamily="34" charset="0"/>
                <a:cs typeface="Arial" panose="020B0604020202020204" pitchFamily="34" charset="0"/>
              </a:rPr>
              <a:t>Do not mark as LIKELY_TRUE unless multiple trustworthy sources explicitly support the claim.</a:t>
            </a:r>
          </a:p>
          <a:p>
            <a:r>
              <a:rPr lang="en-US" sz="1000" dirty="0">
                <a:solidFill>
                  <a:schemeClr val="bg1"/>
                </a:solidFill>
                <a:latin typeface="Arial" panose="020B0604020202020204" pitchFamily="34" charset="0"/>
                <a:cs typeface="Arial" panose="020B0604020202020204" pitchFamily="34" charset="0"/>
              </a:rPr>
              <a:t>Respond ONLY with the JSON object.</a:t>
            </a:r>
          </a:p>
          <a:p>
            <a:r>
              <a:rPr lang="en-US" sz="1000" dirty="0">
                <a:solidFill>
                  <a:schemeClr val="bg1"/>
                </a:solidFill>
                <a:latin typeface="Arial" panose="020B0604020202020204" pitchFamily="34" charset="0"/>
                <a:cs typeface="Arial" panose="020B0604020202020204" pitchFamily="34" charset="0"/>
              </a:rPr>
              <a:t>⚠️ Important:</a:t>
            </a:r>
          </a:p>
          <a:p>
            <a:r>
              <a:rPr lang="en-US" sz="1000" dirty="0">
                <a:solidFill>
                  <a:schemeClr val="bg1"/>
                </a:solidFill>
                <a:latin typeface="Arial" panose="020B0604020202020204" pitchFamily="34" charset="0"/>
                <a:cs typeface="Arial" panose="020B0604020202020204" pitchFamily="34" charset="0"/>
              </a:rPr>
              <a:t>Do not consider a claim verified or supported just because it covers a similar topic.</a:t>
            </a:r>
          </a:p>
          <a:p>
            <a:r>
              <a:rPr lang="en-US" sz="1000" dirty="0">
                <a:solidFill>
                  <a:schemeClr val="bg1"/>
                </a:solidFill>
                <a:latin typeface="Arial" panose="020B0604020202020204" pitchFamily="34" charset="0"/>
                <a:cs typeface="Arial" panose="020B0604020202020204" pitchFamily="34" charset="0"/>
              </a:rPr>
              <a:t>Only mark a claim as LIKELY_TRUE if:</a:t>
            </a:r>
          </a:p>
          <a:p>
            <a:r>
              <a:rPr lang="en-US" sz="1000" dirty="0">
                <a:solidFill>
                  <a:schemeClr val="bg1"/>
                </a:solidFill>
                <a:latin typeface="Arial" panose="020B0604020202020204" pitchFamily="34" charset="0"/>
                <a:cs typeface="Arial" panose="020B0604020202020204" pitchFamily="34" charset="0"/>
              </a:rPr>
              <a:t>- The supporting articles confirm the exact meaning, implication, and tone of the claim.</a:t>
            </a:r>
          </a:p>
          <a:p>
            <a:r>
              <a:rPr lang="en-US" sz="1000" dirty="0">
                <a:solidFill>
                  <a:schemeClr val="bg1"/>
                </a:solidFill>
                <a:latin typeface="Arial" panose="020B0604020202020204" pitchFamily="34" charset="0"/>
                <a:cs typeface="Arial" panose="020B0604020202020204" pitchFamily="34" charset="0"/>
              </a:rPr>
              <a:t>- The wording and intent match closely.</a:t>
            </a:r>
          </a:p>
          <a:p>
            <a:r>
              <a:rPr lang="en-US" sz="1000" dirty="0">
                <a:solidFill>
                  <a:schemeClr val="bg1"/>
                </a:solidFill>
                <a:latin typeface="Arial" panose="020B0604020202020204" pitchFamily="34" charset="0"/>
                <a:cs typeface="Arial" panose="020B0604020202020204" pitchFamily="34" charset="0"/>
              </a:rPr>
              <a:t>- The article uses similar language or explicitly states what the claim asserts.</a:t>
            </a:r>
          </a:p>
          <a:p>
            <a:r>
              <a:rPr lang="en-US" sz="1000" dirty="0">
                <a:solidFill>
                  <a:schemeClr val="bg1"/>
                </a:solidFill>
                <a:latin typeface="Arial" panose="020B0604020202020204" pitchFamily="34" charset="0"/>
                <a:cs typeface="Arial" panose="020B0604020202020204" pitchFamily="34" charset="0"/>
              </a:rPr>
              <a:t>Reject vague matches. For example:</a:t>
            </a:r>
          </a:p>
          <a:p>
            <a:r>
              <a:rPr lang="en-US" sz="1000" dirty="0">
                <a:solidFill>
                  <a:schemeClr val="bg1"/>
                </a:solidFill>
                <a:latin typeface="Arial" panose="020B0604020202020204" pitchFamily="34" charset="0"/>
                <a:cs typeface="Arial" panose="020B0604020202020204" pitchFamily="34" charset="0"/>
              </a:rPr>
              <a:t>- "She can leave whenever she wants" ≠ "They said ‘get out, we don’t care about you’".</a:t>
            </a:r>
          </a:p>
          <a:p>
            <a:r>
              <a:rPr lang="en-US" sz="1000" dirty="0">
                <a:solidFill>
                  <a:schemeClr val="bg1"/>
                </a:solidFill>
                <a:latin typeface="Arial" panose="020B0604020202020204" pitchFamily="34" charset="0"/>
                <a:cs typeface="Arial" panose="020B0604020202020204" pitchFamily="34" charset="0"/>
              </a:rPr>
              <a:t>- “A fire occurred” ≠ “They burned documents to hide something from investigators.”</a:t>
            </a:r>
          </a:p>
          <a:p>
            <a:r>
              <a:rPr lang="en-US" sz="1000" dirty="0">
                <a:solidFill>
                  <a:schemeClr val="bg1"/>
                </a:solidFill>
                <a:latin typeface="Arial" panose="020B0604020202020204" pitchFamily="34" charset="0"/>
                <a:cs typeface="Arial" panose="020B0604020202020204" pitchFamily="34" charset="0"/>
              </a:rPr>
              <a:t>If no precise match is found, return NO_CLEAR_EVIDENCE, even if general coverage exists.</a:t>
            </a:r>
          </a:p>
          <a:p>
            <a:r>
              <a:rPr lang="en-US" sz="1000" dirty="0">
                <a:solidFill>
                  <a:schemeClr val="bg1"/>
                </a:solidFill>
                <a:latin typeface="Arial" panose="020B0604020202020204" pitchFamily="34" charset="0"/>
                <a:cs typeface="Arial" panose="020B0604020202020204" pitchFamily="34" charset="0"/>
              </a:rPr>
              <a:t>Be cautious of:</a:t>
            </a:r>
          </a:p>
          <a:p>
            <a:r>
              <a:rPr lang="en-US" sz="1000" dirty="0">
                <a:solidFill>
                  <a:schemeClr val="bg1"/>
                </a:solidFill>
                <a:latin typeface="Arial" panose="020B0604020202020204" pitchFamily="34" charset="0"/>
                <a:cs typeface="Arial" panose="020B0604020202020204" pitchFamily="34" charset="0"/>
              </a:rPr>
              <a:t>- Emotional exaggeration</a:t>
            </a:r>
          </a:p>
          <a:p>
            <a:r>
              <a:rPr lang="en-US" sz="1000" dirty="0">
                <a:solidFill>
                  <a:schemeClr val="bg1"/>
                </a:solidFill>
                <a:latin typeface="Arial" panose="020B0604020202020204" pitchFamily="34" charset="0"/>
                <a:cs typeface="Arial" panose="020B0604020202020204" pitchFamily="34" charset="0"/>
              </a:rPr>
              <a:t>- Implications not supported in source articles</a:t>
            </a:r>
          </a:p>
          <a:p>
            <a:r>
              <a:rPr lang="en-US" sz="1000" dirty="0">
                <a:solidFill>
                  <a:schemeClr val="bg1"/>
                </a:solidFill>
                <a:latin typeface="Arial" panose="020B0604020202020204" pitchFamily="34" charset="0"/>
                <a:cs typeface="Arial" panose="020B0604020202020204" pitchFamily="34" charset="0"/>
              </a:rPr>
              <a:t>- Clickbait phrases and speculative claims</a:t>
            </a:r>
          </a:p>
        </p:txBody>
      </p:sp>
      <p:pic>
        <p:nvPicPr>
          <p:cNvPr id="11" name="Εικόνα 10">
            <a:extLst>
              <a:ext uri="{FF2B5EF4-FFF2-40B4-BE49-F238E27FC236}">
                <a16:creationId xmlns:a16="http://schemas.microsoft.com/office/drawing/2014/main" id="{63ABB195-E74A-2589-8D32-C8B18A4D2330}"/>
              </a:ext>
            </a:extLst>
          </p:cNvPr>
          <p:cNvPicPr>
            <a:picLocks noChangeAspect="1"/>
          </p:cNvPicPr>
          <p:nvPr/>
        </p:nvPicPr>
        <p:blipFill>
          <a:blip r:embed="rId4"/>
          <a:stretch>
            <a:fillRect/>
          </a:stretch>
        </p:blipFill>
        <p:spPr>
          <a:xfrm>
            <a:off x="335149" y="1215426"/>
            <a:ext cx="2290791" cy="4427145"/>
          </a:xfrm>
          <a:prstGeom prst="rect">
            <a:avLst/>
          </a:prstGeom>
        </p:spPr>
      </p:pic>
    </p:spTree>
    <p:extLst>
      <p:ext uri="{BB962C8B-B14F-4D97-AF65-F5344CB8AC3E}">
        <p14:creationId xmlns:p14="http://schemas.microsoft.com/office/powerpoint/2010/main" val="1942640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661CD-0E61-B8FE-1E37-D30F3C2D9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E345C-D9B9-6E72-67A2-7EBACD4CF8AD}"/>
              </a:ext>
            </a:extLst>
          </p:cNvPr>
          <p:cNvSpPr>
            <a:spLocks noGrp="1"/>
          </p:cNvSpPr>
          <p:nvPr>
            <p:ph type="title"/>
          </p:nvPr>
        </p:nvSpPr>
        <p:spPr>
          <a:xfrm>
            <a:off x="1606045" y="370332"/>
            <a:ext cx="5937755" cy="1188720"/>
          </a:xfrm>
        </p:spPr>
        <p:txBody>
          <a:bodyPr/>
          <a:lstStyle/>
          <a:p>
            <a:r>
              <a:rPr lang="en-US" cap="none" dirty="0">
                <a:latin typeface="Arial" panose="020B0604020202020204" pitchFamily="34" charset="0"/>
                <a:cs typeface="Arial" panose="020B0604020202020204" pitchFamily="34" charset="0"/>
              </a:rPr>
              <a:t>Scoring Agent</a:t>
            </a:r>
          </a:p>
        </p:txBody>
      </p:sp>
      <p:pic>
        <p:nvPicPr>
          <p:cNvPr id="4" name="Picture 2" descr="Πανεπιστήμιο Πειραιώς - Οικονομολόγος">
            <a:extLst>
              <a:ext uri="{FF2B5EF4-FFF2-40B4-BE49-F238E27FC236}">
                <a16:creationId xmlns:a16="http://schemas.microsoft.com/office/drawing/2014/main" id="{C86814E9-6F6D-7229-34B6-18BD17D3F8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F2DC42C5-30A4-C7CA-FE38-92F646D5CF3A}"/>
              </a:ext>
            </a:extLst>
          </p:cNvPr>
          <p:cNvSpPr>
            <a:spLocks noGrp="1"/>
          </p:cNvSpPr>
          <p:nvPr>
            <p:ph idx="1"/>
          </p:nvPr>
        </p:nvSpPr>
        <p:spPr>
          <a:xfrm>
            <a:off x="2139923" y="1990323"/>
            <a:ext cx="4864153" cy="781978"/>
          </a:xfrm>
        </p:spPr>
        <p:txBody>
          <a:bodyPr>
            <a:normAutofit/>
          </a:bodyPr>
          <a:lstStyle/>
          <a:p>
            <a:r>
              <a:rPr lang="en-US" sz="1400" b="1" dirty="0">
                <a:latin typeface="Arial" panose="020B0604020202020204" pitchFamily="34" charset="0"/>
                <a:cs typeface="Arial" panose="020B0604020202020204" pitchFamily="34" charset="0"/>
              </a:rPr>
              <a:t>Scoring Agent</a:t>
            </a:r>
            <a:r>
              <a:rPr lang="en-US" sz="1400" dirty="0">
                <a:latin typeface="Arial" panose="020B0604020202020204" pitchFamily="34" charset="0"/>
                <a:cs typeface="Arial" panose="020B0604020202020204" pitchFamily="34" charset="0"/>
              </a:rPr>
              <a:t>: Analyzes the linguistic tone (bias, emotion, credibility, time relevance) of the input and scores it numerically (0–100) with category labels.</a:t>
            </a:r>
          </a:p>
        </p:txBody>
      </p:sp>
      <p:pic>
        <p:nvPicPr>
          <p:cNvPr id="5" name="Εικόνα 4">
            <a:extLst>
              <a:ext uri="{FF2B5EF4-FFF2-40B4-BE49-F238E27FC236}">
                <a16:creationId xmlns:a16="http://schemas.microsoft.com/office/drawing/2014/main" id="{7ACD658F-5451-8072-B139-DB50B25F1F14}"/>
              </a:ext>
            </a:extLst>
          </p:cNvPr>
          <p:cNvPicPr>
            <a:picLocks noChangeAspect="1"/>
          </p:cNvPicPr>
          <p:nvPr/>
        </p:nvPicPr>
        <p:blipFill>
          <a:blip r:embed="rId4"/>
          <a:stretch>
            <a:fillRect/>
          </a:stretch>
        </p:blipFill>
        <p:spPr>
          <a:xfrm>
            <a:off x="1606045" y="3311177"/>
            <a:ext cx="5937755" cy="2343477"/>
          </a:xfrm>
          <a:prstGeom prst="rect">
            <a:avLst/>
          </a:prstGeom>
        </p:spPr>
      </p:pic>
    </p:spTree>
    <p:extLst>
      <p:ext uri="{BB962C8B-B14F-4D97-AF65-F5344CB8AC3E}">
        <p14:creationId xmlns:p14="http://schemas.microsoft.com/office/powerpoint/2010/main" val="2679221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EAF71-0DF7-C00C-45EF-29DF03487489}"/>
            </a:ext>
          </a:extLst>
        </p:cNvPr>
        <p:cNvGrpSpPr/>
        <p:nvPr/>
      </p:nvGrpSpPr>
      <p:grpSpPr>
        <a:xfrm>
          <a:off x="0" y="0"/>
          <a:ext cx="0" cy="0"/>
          <a:chOff x="0" y="0"/>
          <a:chExt cx="0" cy="0"/>
        </a:xfrm>
      </p:grpSpPr>
      <p:pic>
        <p:nvPicPr>
          <p:cNvPr id="4" name="Picture 2" descr="Πανεπιστήμιο Πειραιώς - Οικονομολόγος">
            <a:extLst>
              <a:ext uri="{FF2B5EF4-FFF2-40B4-BE49-F238E27FC236}">
                <a16:creationId xmlns:a16="http://schemas.microsoft.com/office/drawing/2014/main" id="{555DC8B6-B16A-448C-3839-19F8EC2D0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B492942-7C15-9E4B-D224-329C3DA4AE30}"/>
              </a:ext>
            </a:extLst>
          </p:cNvPr>
          <p:cNvSpPr txBox="1"/>
          <p:nvPr/>
        </p:nvSpPr>
        <p:spPr>
          <a:xfrm>
            <a:off x="3006681" y="1536172"/>
            <a:ext cx="5726910" cy="3785652"/>
          </a:xfrm>
          <a:prstGeom prst="rect">
            <a:avLst/>
          </a:prstGeom>
          <a:solidFill>
            <a:srgbClr val="23262C"/>
          </a:solid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You are a scoring agent analyzing a text's bias, emotional tone, credibility, and time relevance.</a:t>
            </a:r>
          </a:p>
          <a:p>
            <a:r>
              <a:rPr lang="en-US" sz="1000" dirty="0">
                <a:solidFill>
                  <a:schemeClr val="bg1"/>
                </a:solidFill>
                <a:latin typeface="Arial" panose="020B0604020202020204" pitchFamily="34" charset="0"/>
                <a:cs typeface="Arial" panose="020B0604020202020204" pitchFamily="34" charset="0"/>
              </a:rPr>
              <a:t>===</a:t>
            </a:r>
          </a:p>
          <a:p>
            <a:r>
              <a:rPr lang="el-GR" sz="1000" dirty="0">
                <a:solidFill>
                  <a:schemeClr val="bg1"/>
                </a:solidFill>
                <a:latin typeface="Arial" panose="020B0604020202020204" pitchFamily="34" charset="0"/>
                <a:cs typeface="Arial" panose="020B0604020202020204" pitchFamily="34" charset="0"/>
              </a:rPr>
              <a:t>📎 </a:t>
            </a:r>
            <a:r>
              <a:rPr lang="en-US" sz="1000" dirty="0">
                <a:solidFill>
                  <a:schemeClr val="bg1"/>
                </a:solidFill>
                <a:latin typeface="Arial" panose="020B0604020202020204" pitchFamily="34" charset="0"/>
                <a:cs typeface="Arial" panose="020B0604020202020204" pitchFamily="34" charset="0"/>
              </a:rPr>
              <a:t>Input Claim:</a:t>
            </a:r>
          </a:p>
          <a:p>
            <a:r>
              <a:rPr lang="en-US" sz="1000" dirty="0">
                <a:solidFill>
                  <a:schemeClr val="bg1"/>
                </a:solidFill>
                <a:latin typeface="Arial" panose="020B0604020202020204" pitchFamily="34" charset="0"/>
                <a:cs typeface="Arial" panose="020B0604020202020204" pitchFamily="34" charset="0"/>
              </a:rPr>
              <a:t>{{ agentAgentflow_0 }} }}</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Return the following JSON object:</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bias_score</a:t>
            </a:r>
            <a:r>
              <a:rPr lang="en-US" sz="1000" dirty="0">
                <a:solidFill>
                  <a:schemeClr val="bg1"/>
                </a:solidFill>
                <a:latin typeface="Arial" panose="020B0604020202020204" pitchFamily="34" charset="0"/>
                <a:cs typeface="Arial" panose="020B0604020202020204" pitchFamily="34" charset="0"/>
              </a:rPr>
              <a:t>": &lt;0-100&gt;,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bias_label</a:t>
            </a:r>
            <a:r>
              <a:rPr lang="en-US" sz="1000" dirty="0">
                <a:solidFill>
                  <a:schemeClr val="bg1"/>
                </a:solidFill>
                <a:latin typeface="Arial" panose="020B0604020202020204" pitchFamily="34" charset="0"/>
                <a:cs typeface="Arial" panose="020B0604020202020204" pitchFamily="34" charset="0"/>
              </a:rPr>
              <a:t>": "&lt;LOW | MEDIUM | HIGH&gt;",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emotion_score</a:t>
            </a:r>
            <a:r>
              <a:rPr lang="en-US" sz="1000" dirty="0">
                <a:solidFill>
                  <a:schemeClr val="bg1"/>
                </a:solidFill>
                <a:latin typeface="Arial" panose="020B0604020202020204" pitchFamily="34" charset="0"/>
                <a:cs typeface="Arial" panose="020B0604020202020204" pitchFamily="34" charset="0"/>
              </a:rPr>
              <a:t>": &lt;0-100&gt;,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emotion_label</a:t>
            </a:r>
            <a:r>
              <a:rPr lang="en-US" sz="1000" dirty="0">
                <a:solidFill>
                  <a:schemeClr val="bg1"/>
                </a:solidFill>
                <a:latin typeface="Arial" panose="020B0604020202020204" pitchFamily="34" charset="0"/>
                <a:cs typeface="Arial" panose="020B0604020202020204" pitchFamily="34" charset="0"/>
              </a:rPr>
              <a:t>": "&lt;NEUTRAL | MODERATE | EMOTIONAL&gt;",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credibility_score</a:t>
            </a:r>
            <a:r>
              <a:rPr lang="en-US" sz="1000" dirty="0">
                <a:solidFill>
                  <a:schemeClr val="bg1"/>
                </a:solidFill>
                <a:latin typeface="Arial" panose="020B0604020202020204" pitchFamily="34" charset="0"/>
                <a:cs typeface="Arial" panose="020B0604020202020204" pitchFamily="34" charset="0"/>
              </a:rPr>
              <a:t>": &lt;0-100&gt;,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credibility_label</a:t>
            </a:r>
            <a:r>
              <a:rPr lang="en-US" sz="1000" dirty="0">
                <a:solidFill>
                  <a:schemeClr val="bg1"/>
                </a:solidFill>
                <a:latin typeface="Arial" panose="020B0604020202020204" pitchFamily="34" charset="0"/>
                <a:cs typeface="Arial" panose="020B0604020202020204" pitchFamily="34" charset="0"/>
              </a:rPr>
              <a:t>": "&lt;LOW | MEDIUM | HIGH&gt;",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time_relevance_score</a:t>
            </a:r>
            <a:r>
              <a:rPr lang="en-US" sz="1000" dirty="0">
                <a:solidFill>
                  <a:schemeClr val="bg1"/>
                </a:solidFill>
                <a:latin typeface="Arial" panose="020B0604020202020204" pitchFamily="34" charset="0"/>
                <a:cs typeface="Arial" panose="020B0604020202020204" pitchFamily="34" charset="0"/>
              </a:rPr>
              <a:t>": &lt;0-100&gt;,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time_label</a:t>
            </a:r>
            <a:r>
              <a:rPr lang="en-US" sz="1000" dirty="0">
                <a:solidFill>
                  <a:schemeClr val="bg1"/>
                </a:solidFill>
                <a:latin typeface="Arial" panose="020B0604020202020204" pitchFamily="34" charset="0"/>
                <a:cs typeface="Arial" panose="020B0604020202020204" pitchFamily="34" charset="0"/>
              </a:rPr>
              <a:t>": "&lt;OUTDATED | POSSIBLY RELEVANT | CURRENT&gt;",</a:t>
            </a:r>
          </a:p>
          <a:p>
            <a:r>
              <a:rPr lang="en-US" sz="1000" dirty="0">
                <a:solidFill>
                  <a:schemeClr val="bg1"/>
                </a:solidFill>
                <a:latin typeface="Arial" panose="020B0604020202020204" pitchFamily="34" charset="0"/>
                <a:cs typeface="Arial" panose="020B0604020202020204" pitchFamily="34" charset="0"/>
              </a:rPr>
              <a:t>"reasoning": "&lt;Brief explanation for bias, emotion, and credibility&gt;",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time_reasoning</a:t>
            </a:r>
            <a:r>
              <a:rPr lang="en-US" sz="1000" dirty="0">
                <a:solidFill>
                  <a:schemeClr val="bg1"/>
                </a:solidFill>
                <a:latin typeface="Arial" panose="020B0604020202020204" pitchFamily="34" charset="0"/>
                <a:cs typeface="Arial" panose="020B0604020202020204" pitchFamily="34" charset="0"/>
              </a:rPr>
              <a:t>": "&lt;Brief explanation for time relevance&gt;"</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Labeling thresholds:</a:t>
            </a:r>
          </a:p>
          <a:p>
            <a:r>
              <a:rPr lang="en-US" sz="1000" dirty="0">
                <a:solidFill>
                  <a:schemeClr val="bg1"/>
                </a:solidFill>
                <a:latin typeface="Arial" panose="020B0604020202020204" pitchFamily="34" charset="0"/>
                <a:cs typeface="Arial" panose="020B0604020202020204" pitchFamily="34" charset="0"/>
              </a:rPr>
              <a:t>Bias: LOW (0-30), MEDIUM (31-70), HIGH (71-100)</a:t>
            </a:r>
          </a:p>
          <a:p>
            <a:r>
              <a:rPr lang="en-US" sz="1000" dirty="0">
                <a:solidFill>
                  <a:schemeClr val="bg1"/>
                </a:solidFill>
                <a:latin typeface="Arial" panose="020B0604020202020204" pitchFamily="34" charset="0"/>
                <a:cs typeface="Arial" panose="020B0604020202020204" pitchFamily="34" charset="0"/>
              </a:rPr>
              <a:t>Emotion: NEUTRAL (0-30), MODERATE (31-70), EMOTIONAL (71-100)</a:t>
            </a:r>
          </a:p>
          <a:p>
            <a:r>
              <a:rPr lang="en-US" sz="1000" dirty="0">
                <a:solidFill>
                  <a:schemeClr val="bg1"/>
                </a:solidFill>
                <a:latin typeface="Arial" panose="020B0604020202020204" pitchFamily="34" charset="0"/>
                <a:cs typeface="Arial" panose="020B0604020202020204" pitchFamily="34" charset="0"/>
              </a:rPr>
              <a:t>Credibility: LOW (0-30), MEDIUM (31-70), HIGH (71-100)</a:t>
            </a:r>
          </a:p>
          <a:p>
            <a:r>
              <a:rPr lang="en-US" sz="1000" dirty="0">
                <a:solidFill>
                  <a:schemeClr val="bg1"/>
                </a:solidFill>
                <a:latin typeface="Arial" panose="020B0604020202020204" pitchFamily="34" charset="0"/>
                <a:cs typeface="Arial" panose="020B0604020202020204" pitchFamily="34" charset="0"/>
              </a:rPr>
              <a:t>Time: OUTDATED (0-30), POSSIBLY RELEVANT (31-70), CURRENT (71-100)</a:t>
            </a:r>
          </a:p>
          <a:p>
            <a:r>
              <a:rPr lang="en-US" sz="1000" dirty="0">
                <a:solidFill>
                  <a:schemeClr val="bg1"/>
                </a:solidFill>
                <a:latin typeface="Arial" panose="020B0604020202020204" pitchFamily="34" charset="0"/>
                <a:cs typeface="Arial" panose="020B0604020202020204" pitchFamily="34" charset="0"/>
              </a:rPr>
              <a:t>Respond with only the JSON.</a:t>
            </a:r>
          </a:p>
        </p:txBody>
      </p:sp>
      <p:pic>
        <p:nvPicPr>
          <p:cNvPr id="3" name="Εικόνα 2">
            <a:extLst>
              <a:ext uri="{FF2B5EF4-FFF2-40B4-BE49-F238E27FC236}">
                <a16:creationId xmlns:a16="http://schemas.microsoft.com/office/drawing/2014/main" id="{03948070-0603-C29E-231A-F5E9D9AA4171}"/>
              </a:ext>
            </a:extLst>
          </p:cNvPr>
          <p:cNvPicPr>
            <a:picLocks noChangeAspect="1"/>
          </p:cNvPicPr>
          <p:nvPr/>
        </p:nvPicPr>
        <p:blipFill>
          <a:blip r:embed="rId4"/>
          <a:stretch>
            <a:fillRect/>
          </a:stretch>
        </p:blipFill>
        <p:spPr>
          <a:xfrm>
            <a:off x="196629" y="997527"/>
            <a:ext cx="2675882" cy="5102015"/>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Γραφή 1">
                <a:extLst>
                  <a:ext uri="{FF2B5EF4-FFF2-40B4-BE49-F238E27FC236}">
                    <a16:creationId xmlns:a16="http://schemas.microsoft.com/office/drawing/2014/main" id="{0052DDF2-3708-CA41-3D97-31F37B5C5FE8}"/>
                  </a:ext>
                </a:extLst>
              </p14:cNvPr>
              <p14:cNvContentPartPr/>
              <p14:nvPr/>
            </p14:nvContentPartPr>
            <p14:xfrm>
              <a:off x="2927520" y="4159080"/>
              <a:ext cx="5035680" cy="1467360"/>
            </p14:xfrm>
          </p:contentPart>
        </mc:Choice>
        <mc:Fallback>
          <p:pic>
            <p:nvPicPr>
              <p:cNvPr id="2" name="Γραφή 1">
                <a:extLst>
                  <a:ext uri="{FF2B5EF4-FFF2-40B4-BE49-F238E27FC236}">
                    <a16:creationId xmlns:a16="http://schemas.microsoft.com/office/drawing/2014/main" id="{0052DDF2-3708-CA41-3D97-31F37B5C5FE8}"/>
                  </a:ext>
                </a:extLst>
              </p:cNvPr>
              <p:cNvPicPr/>
              <p:nvPr/>
            </p:nvPicPr>
            <p:blipFill>
              <a:blip r:embed="rId6"/>
              <a:stretch>
                <a:fillRect/>
              </a:stretch>
            </p:blipFill>
            <p:spPr>
              <a:xfrm>
                <a:off x="2918160" y="4149720"/>
                <a:ext cx="5054400" cy="1486080"/>
              </a:xfrm>
              <a:prstGeom prst="rect">
                <a:avLst/>
              </a:prstGeom>
            </p:spPr>
          </p:pic>
        </mc:Fallback>
      </mc:AlternateContent>
    </p:spTree>
    <p:extLst>
      <p:ext uri="{BB962C8B-B14F-4D97-AF65-F5344CB8AC3E}">
        <p14:creationId xmlns:p14="http://schemas.microsoft.com/office/powerpoint/2010/main" val="3480114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41E3B-F31E-3D8A-C113-F0EBE4557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9A868-C8AF-902A-1D1B-9AFA9F16C9D1}"/>
              </a:ext>
            </a:extLst>
          </p:cNvPr>
          <p:cNvSpPr>
            <a:spLocks noGrp="1"/>
          </p:cNvSpPr>
          <p:nvPr>
            <p:ph type="title"/>
          </p:nvPr>
        </p:nvSpPr>
        <p:spPr>
          <a:xfrm>
            <a:off x="1603119" y="370332"/>
            <a:ext cx="5937755" cy="1188720"/>
          </a:xfrm>
        </p:spPr>
        <p:txBody>
          <a:bodyPr/>
          <a:lstStyle/>
          <a:p>
            <a:r>
              <a:rPr lang="en-US" cap="none" dirty="0">
                <a:latin typeface="Arial" panose="020B0604020202020204" pitchFamily="34" charset="0"/>
                <a:cs typeface="Arial" panose="020B0604020202020204" pitchFamily="34" charset="0"/>
              </a:rPr>
              <a:t>Source Quality Checker</a:t>
            </a:r>
          </a:p>
        </p:txBody>
      </p:sp>
      <p:pic>
        <p:nvPicPr>
          <p:cNvPr id="4" name="Picture 2" descr="Πανεπιστήμιο Πειραιώς - Οικονομολόγος">
            <a:extLst>
              <a:ext uri="{FF2B5EF4-FFF2-40B4-BE49-F238E27FC236}">
                <a16:creationId xmlns:a16="http://schemas.microsoft.com/office/drawing/2014/main" id="{1CB519AF-54E9-A0DD-2FA5-E09E9C3FA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6591EBB8-63FE-ACA6-55BF-24B1A4FCBDAE}"/>
              </a:ext>
            </a:extLst>
          </p:cNvPr>
          <p:cNvSpPr>
            <a:spLocks noGrp="1"/>
          </p:cNvSpPr>
          <p:nvPr>
            <p:ph idx="1"/>
          </p:nvPr>
        </p:nvSpPr>
        <p:spPr>
          <a:xfrm>
            <a:off x="1756020" y="2210797"/>
            <a:ext cx="5631951" cy="828160"/>
          </a:xfrm>
        </p:spPr>
        <p:txBody>
          <a:bodyPr>
            <a:normAutofit/>
          </a:bodyPr>
          <a:lstStyle/>
          <a:p>
            <a:r>
              <a:rPr lang="en-US" sz="1400" b="1" dirty="0">
                <a:latin typeface="Arial" panose="020B0604020202020204" pitchFamily="34" charset="0"/>
                <a:cs typeface="Arial" panose="020B0604020202020204" pitchFamily="34" charset="0"/>
              </a:rPr>
              <a:t>Source Quality Checker</a:t>
            </a:r>
            <a:r>
              <a:rPr lang="en-US" sz="1400" dirty="0">
                <a:latin typeface="Arial" panose="020B0604020202020204" pitchFamily="34" charset="0"/>
                <a:cs typeface="Arial" panose="020B0604020202020204" pitchFamily="34" charset="0"/>
              </a:rPr>
              <a:t>: Evaluates the credibility of all supporting URLs using a domain-based rubric (.gov, .</a:t>
            </a:r>
            <a:r>
              <a:rPr lang="en-US" sz="1400" dirty="0" err="1">
                <a:latin typeface="Arial" panose="020B0604020202020204" pitchFamily="34" charset="0"/>
                <a:cs typeface="Arial" panose="020B0604020202020204" pitchFamily="34" charset="0"/>
              </a:rPr>
              <a:t>edu</a:t>
            </a:r>
            <a:r>
              <a:rPr lang="en-US" sz="1400" dirty="0">
                <a:latin typeface="Arial" panose="020B0604020202020204" pitchFamily="34" charset="0"/>
                <a:cs typeface="Arial" panose="020B0604020202020204" pitchFamily="34" charset="0"/>
              </a:rPr>
              <a:t> = High, blogs = Low, etc.).</a:t>
            </a:r>
          </a:p>
        </p:txBody>
      </p:sp>
      <p:pic>
        <p:nvPicPr>
          <p:cNvPr id="5" name="Εικόνα 4">
            <a:extLst>
              <a:ext uri="{FF2B5EF4-FFF2-40B4-BE49-F238E27FC236}">
                <a16:creationId xmlns:a16="http://schemas.microsoft.com/office/drawing/2014/main" id="{7FFA4CD1-5F20-AC1C-F2B4-689BDF78DD59}"/>
              </a:ext>
            </a:extLst>
          </p:cNvPr>
          <p:cNvPicPr>
            <a:picLocks noChangeAspect="1"/>
          </p:cNvPicPr>
          <p:nvPr/>
        </p:nvPicPr>
        <p:blipFill>
          <a:blip r:embed="rId4"/>
          <a:stretch>
            <a:fillRect/>
          </a:stretch>
        </p:blipFill>
        <p:spPr>
          <a:xfrm>
            <a:off x="1603121" y="3690702"/>
            <a:ext cx="5937755" cy="1314633"/>
          </a:xfrm>
          <a:prstGeom prst="rect">
            <a:avLst/>
          </a:prstGeom>
        </p:spPr>
      </p:pic>
    </p:spTree>
    <p:extLst>
      <p:ext uri="{BB962C8B-B14F-4D97-AF65-F5344CB8AC3E}">
        <p14:creationId xmlns:p14="http://schemas.microsoft.com/office/powerpoint/2010/main" val="1989210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4CCC6-278E-BE4A-6C07-7F3E56E6AB9D}"/>
            </a:ext>
          </a:extLst>
        </p:cNvPr>
        <p:cNvGrpSpPr/>
        <p:nvPr/>
      </p:nvGrpSpPr>
      <p:grpSpPr>
        <a:xfrm>
          <a:off x="0" y="0"/>
          <a:ext cx="0" cy="0"/>
          <a:chOff x="0" y="0"/>
          <a:chExt cx="0" cy="0"/>
        </a:xfrm>
      </p:grpSpPr>
      <p:pic>
        <p:nvPicPr>
          <p:cNvPr id="4" name="Picture 2" descr="Πανεπιστήμιο Πειραιώς - Οικονομολόγος">
            <a:extLst>
              <a:ext uri="{FF2B5EF4-FFF2-40B4-BE49-F238E27FC236}">
                <a16:creationId xmlns:a16="http://schemas.microsoft.com/office/drawing/2014/main" id="{E8CA58B9-58EC-AF32-9EAE-CED804022B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B1F4C0F-77F7-5BF9-BD95-533BDA963897}"/>
              </a:ext>
            </a:extLst>
          </p:cNvPr>
          <p:cNvSpPr txBox="1"/>
          <p:nvPr/>
        </p:nvSpPr>
        <p:spPr>
          <a:xfrm>
            <a:off x="3006681" y="1920893"/>
            <a:ext cx="5726910" cy="3016210"/>
          </a:xfrm>
          <a:prstGeom prst="rect">
            <a:avLst/>
          </a:prstGeom>
          <a:solidFill>
            <a:srgbClr val="23262C"/>
          </a:solid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You are a Source Quality Checker. You will receive a list of URLs used to support a claim.</a:t>
            </a:r>
          </a:p>
          <a:p>
            <a:r>
              <a:rPr lang="en-US" sz="1000" dirty="0">
                <a:solidFill>
                  <a:schemeClr val="bg1"/>
                </a:solidFill>
                <a:latin typeface="Arial" panose="020B0604020202020204" pitchFamily="34" charset="0"/>
                <a:cs typeface="Arial" panose="020B0604020202020204" pitchFamily="34" charset="0"/>
              </a:rPr>
              <a:t>You will receive input from:</a:t>
            </a:r>
          </a:p>
          <a:p>
            <a:r>
              <a:rPr lang="en-US" sz="1000" dirty="0">
                <a:solidFill>
                  <a:schemeClr val="bg1"/>
                </a:solidFill>
                <a:latin typeface="Arial" panose="020B0604020202020204" pitchFamily="34" charset="0"/>
                <a:cs typeface="Arial" panose="020B0604020202020204" pitchFamily="34" charset="0"/>
              </a:rPr>
              <a:t>{{ agentAgentflow_1 }} }}: URLs from the Google Custom Search Agent</a:t>
            </a:r>
          </a:p>
          <a:p>
            <a:r>
              <a:rPr lang="en-US" sz="1000" dirty="0">
                <a:solidFill>
                  <a:schemeClr val="bg1"/>
                </a:solidFill>
                <a:latin typeface="Arial" panose="020B0604020202020204" pitchFamily="34" charset="0"/>
                <a:cs typeface="Arial" panose="020B0604020202020204" pitchFamily="34" charset="0"/>
              </a:rPr>
              <a:t>{{ agentAgentflow_4 }} }}: URLs from the </a:t>
            </a:r>
            <a:r>
              <a:rPr lang="en-US" sz="1000" dirty="0" err="1">
                <a:solidFill>
                  <a:schemeClr val="bg1"/>
                </a:solidFill>
                <a:latin typeface="Arial" panose="020B0604020202020204" pitchFamily="34" charset="0"/>
                <a:cs typeface="Arial" panose="020B0604020202020204" pitchFamily="34" charset="0"/>
              </a:rPr>
              <a:t>Serper</a:t>
            </a:r>
            <a:r>
              <a:rPr lang="en-US" sz="1000" dirty="0">
                <a:solidFill>
                  <a:schemeClr val="bg1"/>
                </a:solidFill>
                <a:latin typeface="Arial" panose="020B0604020202020204" pitchFamily="34" charset="0"/>
                <a:cs typeface="Arial" panose="020B0604020202020204" pitchFamily="34" charset="0"/>
              </a:rPr>
              <a:t> API Agent</a:t>
            </a:r>
          </a:p>
          <a:p>
            <a:r>
              <a:rPr lang="en-US" sz="1000" dirty="0">
                <a:solidFill>
                  <a:schemeClr val="bg1"/>
                </a:solidFill>
                <a:latin typeface="Arial" panose="020B0604020202020204" pitchFamily="34" charset="0"/>
                <a:cs typeface="Arial" panose="020B0604020202020204" pitchFamily="34" charset="0"/>
              </a:rPr>
              <a:t>Your task is to evaluate the trustworthiness of these sources based on domain type, publisher reputation, and credibility.</a:t>
            </a:r>
          </a:p>
          <a:p>
            <a:r>
              <a:rPr lang="en-US" sz="1000" dirty="0">
                <a:solidFill>
                  <a:schemeClr val="bg1"/>
                </a:solidFill>
                <a:latin typeface="Arial" panose="020B0604020202020204" pitchFamily="34" charset="0"/>
                <a:cs typeface="Arial" panose="020B0604020202020204" pitchFamily="34" charset="0"/>
              </a:rPr>
              <a:t>Use this rubric:</a:t>
            </a:r>
          </a:p>
          <a:p>
            <a:r>
              <a:rPr lang="en-US" sz="1000" dirty="0">
                <a:solidFill>
                  <a:schemeClr val="bg1"/>
                </a:solidFill>
                <a:latin typeface="Arial" panose="020B0604020202020204" pitchFamily="34" charset="0"/>
                <a:cs typeface="Arial" panose="020B0604020202020204" pitchFamily="34" charset="0"/>
              </a:rPr>
              <a:t>.gov, .</a:t>
            </a:r>
            <a:r>
              <a:rPr lang="en-US" sz="1000" dirty="0" err="1">
                <a:solidFill>
                  <a:schemeClr val="bg1"/>
                </a:solidFill>
                <a:latin typeface="Arial" panose="020B0604020202020204" pitchFamily="34" charset="0"/>
                <a:cs typeface="Arial" panose="020B0604020202020204" pitchFamily="34" charset="0"/>
              </a:rPr>
              <a:t>edu</a:t>
            </a:r>
            <a:r>
              <a:rPr lang="en-US" sz="1000" dirty="0">
                <a:solidFill>
                  <a:schemeClr val="bg1"/>
                </a:solidFill>
                <a:latin typeface="Arial" panose="020B0604020202020204" pitchFamily="34" charset="0"/>
                <a:cs typeface="Arial" panose="020B0604020202020204" pitchFamily="34" charset="0"/>
              </a:rPr>
              <a:t>, reputable institutional/scientific domains → 85–100 (High)</a:t>
            </a:r>
          </a:p>
          <a:p>
            <a:r>
              <a:rPr lang="en-US" sz="1000" dirty="0">
                <a:solidFill>
                  <a:schemeClr val="bg1"/>
                </a:solidFill>
                <a:latin typeface="Arial" panose="020B0604020202020204" pitchFamily="34" charset="0"/>
                <a:cs typeface="Arial" panose="020B0604020202020204" pitchFamily="34" charset="0"/>
              </a:rPr>
              <a:t>Mainstream media (BBC, Reuters, NYT, Al Jazeera, etc.) → 70–84 (Medium-High)</a:t>
            </a:r>
          </a:p>
          <a:p>
            <a:r>
              <a:rPr lang="en-US" sz="1000" dirty="0">
                <a:solidFill>
                  <a:schemeClr val="bg1"/>
                </a:solidFill>
                <a:latin typeface="Arial" panose="020B0604020202020204" pitchFamily="34" charset="0"/>
                <a:cs typeface="Arial" panose="020B0604020202020204" pitchFamily="34" charset="0"/>
              </a:rPr>
              <a:t>Independent journalism or reputable .orgs → 50–69 (Medium)</a:t>
            </a:r>
          </a:p>
          <a:p>
            <a:r>
              <a:rPr lang="en-US" sz="1000" dirty="0">
                <a:solidFill>
                  <a:schemeClr val="bg1"/>
                </a:solidFill>
                <a:latin typeface="Arial" panose="020B0604020202020204" pitchFamily="34" charset="0"/>
                <a:cs typeface="Arial" panose="020B0604020202020204" pitchFamily="34" charset="0"/>
              </a:rPr>
              <a:t>Blogs, forums, opinion sites, or YouTube → 30–49 (Low)</a:t>
            </a:r>
          </a:p>
          <a:p>
            <a:r>
              <a:rPr lang="en-US" sz="1000" dirty="0">
                <a:solidFill>
                  <a:schemeClr val="bg1"/>
                </a:solidFill>
                <a:latin typeface="Arial" panose="020B0604020202020204" pitchFamily="34" charset="0"/>
                <a:cs typeface="Arial" panose="020B0604020202020204" pitchFamily="34" charset="0"/>
              </a:rPr>
              <a:t>Clickbait, conspiracy, anonymous, or unverifiable sites → 0–29 (Very Low)</a:t>
            </a:r>
          </a:p>
          <a:p>
            <a:r>
              <a:rPr lang="en-US" sz="1000" dirty="0">
                <a:solidFill>
                  <a:schemeClr val="bg1"/>
                </a:solidFill>
                <a:latin typeface="Arial" panose="020B0604020202020204" pitchFamily="34" charset="0"/>
                <a:cs typeface="Arial" panose="020B0604020202020204" pitchFamily="34" charset="0"/>
              </a:rPr>
              <a:t>Return this JSON:</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average_source_score</a:t>
            </a:r>
            <a:r>
              <a:rPr lang="en-US" sz="1000" dirty="0">
                <a:solidFill>
                  <a:schemeClr val="bg1"/>
                </a:solidFill>
                <a:latin typeface="Arial" panose="020B0604020202020204" pitchFamily="34" charset="0"/>
                <a:cs typeface="Arial" panose="020B0604020202020204" pitchFamily="34" charset="0"/>
              </a:rPr>
              <a:t>": &lt;0-100&gt;,</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source_quality</a:t>
            </a:r>
            <a:r>
              <a:rPr lang="en-US" sz="1000" dirty="0">
                <a:solidFill>
                  <a:schemeClr val="bg1"/>
                </a:solidFill>
                <a:latin typeface="Arial" panose="020B0604020202020204" pitchFamily="34" charset="0"/>
                <a:cs typeface="Arial" panose="020B0604020202020204" pitchFamily="34" charset="0"/>
              </a:rPr>
              <a:t>": "&lt;Very Low | Low | Medium | High | Very High&gt;",</a:t>
            </a:r>
          </a:p>
          <a:p>
            <a:r>
              <a:rPr lang="en-US" sz="1000" dirty="0">
                <a:solidFill>
                  <a:schemeClr val="bg1"/>
                </a:solidFill>
                <a:latin typeface="Arial" panose="020B0604020202020204" pitchFamily="34" charset="0"/>
                <a:cs typeface="Arial" panose="020B0604020202020204" pitchFamily="34" charset="0"/>
              </a:rPr>
              <a:t>"notes": "&lt;brief explanation referencing the domains or outlets involved&gt;"</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Use only the provided URLs.</a:t>
            </a:r>
          </a:p>
        </p:txBody>
      </p:sp>
      <p:pic>
        <p:nvPicPr>
          <p:cNvPr id="5" name="Εικόνα 4">
            <a:extLst>
              <a:ext uri="{FF2B5EF4-FFF2-40B4-BE49-F238E27FC236}">
                <a16:creationId xmlns:a16="http://schemas.microsoft.com/office/drawing/2014/main" id="{C80021DA-B938-BF9C-2AD7-31D1FE050741}"/>
              </a:ext>
            </a:extLst>
          </p:cNvPr>
          <p:cNvPicPr>
            <a:picLocks noChangeAspect="1"/>
          </p:cNvPicPr>
          <p:nvPr/>
        </p:nvPicPr>
        <p:blipFill>
          <a:blip r:embed="rId4"/>
          <a:stretch>
            <a:fillRect/>
          </a:stretch>
        </p:blipFill>
        <p:spPr>
          <a:xfrm>
            <a:off x="221609" y="935180"/>
            <a:ext cx="2578009" cy="4987636"/>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Γραφή 1">
                <a:extLst>
                  <a:ext uri="{FF2B5EF4-FFF2-40B4-BE49-F238E27FC236}">
                    <a16:creationId xmlns:a16="http://schemas.microsoft.com/office/drawing/2014/main" id="{81CB3122-3CE7-5A55-7BE7-AA685AF946CD}"/>
                  </a:ext>
                </a:extLst>
              </p14:cNvPr>
              <p14:cNvContentPartPr/>
              <p14:nvPr/>
            </p14:nvContentPartPr>
            <p14:xfrm>
              <a:off x="3003480" y="2800440"/>
              <a:ext cx="5048640" cy="876600"/>
            </p14:xfrm>
          </p:contentPart>
        </mc:Choice>
        <mc:Fallback>
          <p:pic>
            <p:nvPicPr>
              <p:cNvPr id="2" name="Γραφή 1">
                <a:extLst>
                  <a:ext uri="{FF2B5EF4-FFF2-40B4-BE49-F238E27FC236}">
                    <a16:creationId xmlns:a16="http://schemas.microsoft.com/office/drawing/2014/main" id="{81CB3122-3CE7-5A55-7BE7-AA685AF946CD}"/>
                  </a:ext>
                </a:extLst>
              </p:cNvPr>
              <p:cNvPicPr/>
              <p:nvPr/>
            </p:nvPicPr>
            <p:blipFill>
              <a:blip r:embed="rId6"/>
              <a:stretch>
                <a:fillRect/>
              </a:stretch>
            </p:blipFill>
            <p:spPr>
              <a:xfrm>
                <a:off x="2994120" y="2791080"/>
                <a:ext cx="5067360" cy="895320"/>
              </a:xfrm>
              <a:prstGeom prst="rect">
                <a:avLst/>
              </a:prstGeom>
            </p:spPr>
          </p:pic>
        </mc:Fallback>
      </mc:AlternateContent>
    </p:spTree>
    <p:extLst>
      <p:ext uri="{BB962C8B-B14F-4D97-AF65-F5344CB8AC3E}">
        <p14:creationId xmlns:p14="http://schemas.microsoft.com/office/powerpoint/2010/main" val="383643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8418E-7B49-F89B-B556-06C3890C3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E614D-4E1F-6BB2-D060-05D0D15AE81C}"/>
              </a:ext>
            </a:extLst>
          </p:cNvPr>
          <p:cNvSpPr>
            <a:spLocks noGrp="1"/>
          </p:cNvSpPr>
          <p:nvPr>
            <p:ph type="title"/>
          </p:nvPr>
        </p:nvSpPr>
        <p:spPr>
          <a:xfrm>
            <a:off x="1606045" y="449234"/>
            <a:ext cx="5937755" cy="1188720"/>
          </a:xfrm>
        </p:spPr>
        <p:txBody>
          <a:bodyPr/>
          <a:lstStyle/>
          <a:p>
            <a:r>
              <a:rPr lang="en-US" cap="none" dirty="0">
                <a:latin typeface="Arial" panose="020B0604020202020204" pitchFamily="34" charset="0"/>
                <a:cs typeface="Arial" panose="020B0604020202020204" pitchFamily="34" charset="0"/>
              </a:rPr>
              <a:t>Supervisor Agent</a:t>
            </a:r>
          </a:p>
        </p:txBody>
      </p:sp>
      <p:pic>
        <p:nvPicPr>
          <p:cNvPr id="4" name="Picture 2" descr="Πανεπιστήμιο Πειραιώς - Οικονομολόγος">
            <a:extLst>
              <a:ext uri="{FF2B5EF4-FFF2-40B4-BE49-F238E27FC236}">
                <a16:creationId xmlns:a16="http://schemas.microsoft.com/office/drawing/2014/main" id="{358CE701-3EF0-ABE9-E761-1A9C74D45E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538DDFC9-5CE1-A559-333E-7C732EA41A4C}"/>
              </a:ext>
            </a:extLst>
          </p:cNvPr>
          <p:cNvSpPr>
            <a:spLocks noGrp="1"/>
          </p:cNvSpPr>
          <p:nvPr>
            <p:ph idx="1"/>
          </p:nvPr>
        </p:nvSpPr>
        <p:spPr>
          <a:xfrm>
            <a:off x="1663661" y="2088757"/>
            <a:ext cx="5816677" cy="792988"/>
          </a:xfrm>
        </p:spPr>
        <p:txBody>
          <a:bodyPr>
            <a:normAutofit/>
          </a:bodyPr>
          <a:lstStyle/>
          <a:p>
            <a:r>
              <a:rPr lang="en-US" sz="1400" b="1" dirty="0">
                <a:latin typeface="Arial" panose="020B0604020202020204" pitchFamily="34" charset="0"/>
                <a:cs typeface="Arial" panose="020B0604020202020204" pitchFamily="34" charset="0"/>
              </a:rPr>
              <a:t>Supervisor Agent</a:t>
            </a:r>
            <a:r>
              <a:rPr lang="en-US" sz="1400" dirty="0">
                <a:latin typeface="Arial" panose="020B0604020202020204" pitchFamily="34" charset="0"/>
                <a:cs typeface="Arial" panose="020B0604020202020204" pitchFamily="34" charset="0"/>
              </a:rPr>
              <a:t>: Gathers structured outputs from all agents, applies rule-based logic, and produces the final fake news verdict, with explanation.</a:t>
            </a:r>
            <a:endParaRPr sz="1400" dirty="0">
              <a:latin typeface="Arial" panose="020B0604020202020204" pitchFamily="34" charset="0"/>
              <a:cs typeface="Arial" panose="020B0604020202020204" pitchFamily="34" charset="0"/>
            </a:endParaRPr>
          </a:p>
        </p:txBody>
      </p:sp>
      <p:pic>
        <p:nvPicPr>
          <p:cNvPr id="5" name="Εικόνα 4">
            <a:extLst>
              <a:ext uri="{FF2B5EF4-FFF2-40B4-BE49-F238E27FC236}">
                <a16:creationId xmlns:a16="http://schemas.microsoft.com/office/drawing/2014/main" id="{3E9EA5AD-4121-724C-315D-EF5F902EBD5C}"/>
              </a:ext>
            </a:extLst>
          </p:cNvPr>
          <p:cNvPicPr>
            <a:picLocks noChangeAspect="1"/>
          </p:cNvPicPr>
          <p:nvPr/>
        </p:nvPicPr>
        <p:blipFill>
          <a:blip r:embed="rId4"/>
          <a:stretch>
            <a:fillRect/>
          </a:stretch>
        </p:blipFill>
        <p:spPr>
          <a:xfrm>
            <a:off x="1598001" y="3429000"/>
            <a:ext cx="5937755" cy="2219635"/>
          </a:xfrm>
          <a:prstGeom prst="rect">
            <a:avLst/>
          </a:prstGeom>
        </p:spPr>
      </p:pic>
    </p:spTree>
    <p:extLst>
      <p:ext uri="{BB962C8B-B14F-4D97-AF65-F5344CB8AC3E}">
        <p14:creationId xmlns:p14="http://schemas.microsoft.com/office/powerpoint/2010/main" val="3951083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9BEF7-89DF-E86B-7200-C2C94E1AFD7D}"/>
            </a:ext>
          </a:extLst>
        </p:cNvPr>
        <p:cNvGrpSpPr/>
        <p:nvPr/>
      </p:nvGrpSpPr>
      <p:grpSpPr>
        <a:xfrm>
          <a:off x="0" y="0"/>
          <a:ext cx="0" cy="0"/>
          <a:chOff x="0" y="0"/>
          <a:chExt cx="0" cy="0"/>
        </a:xfrm>
      </p:grpSpPr>
      <p:pic>
        <p:nvPicPr>
          <p:cNvPr id="4" name="Picture 2" descr="Πανεπιστήμιο Πειραιώς - Οικονομολόγος">
            <a:extLst>
              <a:ext uri="{FF2B5EF4-FFF2-40B4-BE49-F238E27FC236}">
                <a16:creationId xmlns:a16="http://schemas.microsoft.com/office/drawing/2014/main" id="{4782E655-E142-8200-A1CC-35C509F28C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C1D62F7-8FC0-F88A-FC4B-D4FFF69D7A19}"/>
              </a:ext>
            </a:extLst>
          </p:cNvPr>
          <p:cNvSpPr txBox="1"/>
          <p:nvPr/>
        </p:nvSpPr>
        <p:spPr>
          <a:xfrm>
            <a:off x="240146" y="74234"/>
            <a:ext cx="3833091" cy="6709529"/>
          </a:xfrm>
          <a:prstGeom prst="rect">
            <a:avLst/>
          </a:prstGeom>
          <a:solidFill>
            <a:srgbClr val="23262C"/>
          </a:solid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You are the Supervisor Agent responsible for compiling and delivering the final analysis of a user-submitted claim.</a:t>
            </a:r>
          </a:p>
          <a:p>
            <a:r>
              <a:rPr lang="en-US" sz="1000" dirty="0">
                <a:solidFill>
                  <a:schemeClr val="bg1"/>
                </a:solidFill>
                <a:latin typeface="Arial" panose="020B0604020202020204" pitchFamily="34" charset="0"/>
                <a:cs typeface="Arial" panose="020B0604020202020204" pitchFamily="34" charset="0"/>
              </a:rPr>
              <a:t>Inputs you receive:</a:t>
            </a:r>
          </a:p>
          <a:p>
            <a:r>
              <a:rPr lang="en-US" sz="1000" dirty="0">
                <a:solidFill>
                  <a:schemeClr val="bg1"/>
                </a:solidFill>
                <a:latin typeface="Arial" panose="020B0604020202020204" pitchFamily="34" charset="0"/>
                <a:cs typeface="Arial" panose="020B0604020202020204" pitchFamily="34" charset="0"/>
              </a:rPr>
              <a:t>Cleaned claim text -&gt; {{ agentAgentflow_0 }}</a:t>
            </a:r>
          </a:p>
          <a:p>
            <a:r>
              <a:rPr lang="en-US" sz="1000" dirty="0">
                <a:solidFill>
                  <a:schemeClr val="bg1"/>
                </a:solidFill>
                <a:latin typeface="Arial" panose="020B0604020202020204" pitchFamily="34" charset="0"/>
                <a:cs typeface="Arial" panose="020B0604020202020204" pitchFamily="34" charset="0"/>
              </a:rPr>
              <a:t>Verdict, confidence, and reasoning from Fake News Classifier -&gt; {{ agentAgentflow_1 }}</a:t>
            </a:r>
          </a:p>
          <a:p>
            <a:r>
              <a:rPr lang="en-US" sz="1000" dirty="0">
                <a:solidFill>
                  <a:schemeClr val="bg1"/>
                </a:solidFill>
                <a:latin typeface="Arial" panose="020B0604020202020204" pitchFamily="34" charset="0"/>
                <a:cs typeface="Arial" panose="020B0604020202020204" pitchFamily="34" charset="0"/>
              </a:rPr>
              <a:t>Scoring metrics for bias, emotion, credibility, and time -&gt; {{ agentAgentflow_3 }}</a:t>
            </a:r>
          </a:p>
          <a:p>
            <a:r>
              <a:rPr lang="en-US" sz="1000" dirty="0">
                <a:solidFill>
                  <a:schemeClr val="bg1"/>
                </a:solidFill>
                <a:latin typeface="Arial" panose="020B0604020202020204" pitchFamily="34" charset="0"/>
                <a:cs typeface="Arial" panose="020B0604020202020204" pitchFamily="34" charset="0"/>
              </a:rPr>
              <a:t>Source quality score from Source Quality Checker -&gt; {{ agentAgentflow_5 }}</a:t>
            </a:r>
          </a:p>
          <a:p>
            <a:r>
              <a:rPr lang="en-US" sz="1000" dirty="0">
                <a:solidFill>
                  <a:schemeClr val="bg1"/>
                </a:solidFill>
                <a:latin typeface="Arial" panose="020B0604020202020204" pitchFamily="34" charset="0"/>
                <a:cs typeface="Arial" panose="020B0604020202020204" pitchFamily="34" charset="0"/>
              </a:rPr>
              <a:t>Timestamp of analysis</a:t>
            </a:r>
          </a:p>
          <a:p>
            <a:r>
              <a:rPr lang="en-US" sz="1000" dirty="0">
                <a:solidFill>
                  <a:schemeClr val="bg1"/>
                </a:solidFill>
                <a:latin typeface="Arial" panose="020B0604020202020204" pitchFamily="34" charset="0"/>
                <a:cs typeface="Arial" panose="020B0604020202020204" pitchFamily="34" charset="0"/>
              </a:rPr>
              <a:t>Secondary Search Verdict Hint + Summary + Sources -&gt; {{ agentAgentflow_4 }}</a:t>
            </a:r>
          </a:p>
          <a:p>
            <a:r>
              <a:rPr lang="en-US" sz="1000" dirty="0">
                <a:solidFill>
                  <a:schemeClr val="bg1"/>
                </a:solidFill>
                <a:latin typeface="Arial" panose="020B0604020202020204" pitchFamily="34" charset="0"/>
                <a:cs typeface="Arial" panose="020B0604020202020204" pitchFamily="34" charset="0"/>
              </a:rPr>
              <a:t>Respond with ONLY this structure:</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 Fake News Verdict:</a:t>
            </a:r>
          </a:p>
          <a:p>
            <a:r>
              <a:rPr lang="en-US" sz="1000" dirty="0">
                <a:solidFill>
                  <a:schemeClr val="bg1"/>
                </a:solidFill>
                <a:latin typeface="Arial" panose="020B0604020202020204" pitchFamily="34" charset="0"/>
                <a:cs typeface="Arial" panose="020B0604020202020204" pitchFamily="34" charset="0"/>
              </a:rPr>
              <a:t>Verdict: {verdict}</a:t>
            </a:r>
          </a:p>
          <a:p>
            <a:r>
              <a:rPr lang="en-US" sz="1000" dirty="0">
                <a:solidFill>
                  <a:schemeClr val="bg1"/>
                </a:solidFill>
                <a:latin typeface="Arial" panose="020B0604020202020204" pitchFamily="34" charset="0"/>
                <a:cs typeface="Arial" panose="020B0604020202020204" pitchFamily="34" charset="0"/>
              </a:rPr>
              <a:t>Confidence: {confidence}%</a:t>
            </a:r>
          </a:p>
          <a:p>
            <a:r>
              <a:rPr lang="en-US" sz="1000" dirty="0">
                <a:solidFill>
                  <a:schemeClr val="bg1"/>
                </a:solidFill>
                <a:latin typeface="Arial" panose="020B0604020202020204" pitchFamily="34" charset="0"/>
                <a:cs typeface="Arial" panose="020B0604020202020204" pitchFamily="34" charset="0"/>
              </a:rPr>
              <a:t>Sources: {</a:t>
            </a:r>
            <a:r>
              <a:rPr lang="en-US" sz="1000" dirty="0" err="1">
                <a:solidFill>
                  <a:schemeClr val="bg1"/>
                </a:solidFill>
                <a:latin typeface="Arial" panose="020B0604020202020204" pitchFamily="34" charset="0"/>
                <a:cs typeface="Arial" panose="020B0604020202020204" pitchFamily="34" charset="0"/>
              </a:rPr>
              <a:t>sources_list</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Reasoning: {</a:t>
            </a:r>
            <a:r>
              <a:rPr lang="en-US" sz="1000" dirty="0" err="1">
                <a:solidFill>
                  <a:schemeClr val="bg1"/>
                </a:solidFill>
                <a:latin typeface="Arial" panose="020B0604020202020204" pitchFamily="34" charset="0"/>
                <a:cs typeface="Arial" panose="020B0604020202020204" pitchFamily="34" charset="0"/>
              </a:rPr>
              <a:t>verdict_reasoning</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 Scoring Summary:</a:t>
            </a:r>
          </a:p>
          <a:p>
            <a:r>
              <a:rPr lang="en-US" sz="1000" dirty="0">
                <a:solidFill>
                  <a:schemeClr val="bg1"/>
                </a:solidFill>
                <a:latin typeface="Arial" panose="020B0604020202020204" pitchFamily="34" charset="0"/>
                <a:cs typeface="Arial" panose="020B0604020202020204" pitchFamily="34" charset="0"/>
              </a:rPr>
              <a:t>Bias Score: {</a:t>
            </a:r>
            <a:r>
              <a:rPr lang="en-US" sz="1000" dirty="0" err="1">
                <a:solidFill>
                  <a:schemeClr val="bg1"/>
                </a:solidFill>
                <a:latin typeface="Arial" panose="020B0604020202020204" pitchFamily="34" charset="0"/>
                <a:cs typeface="Arial" panose="020B0604020202020204" pitchFamily="34" charset="0"/>
              </a:rPr>
              <a:t>bias_score</a:t>
            </a:r>
            <a:r>
              <a:rPr lang="en-US" sz="1000" dirty="0">
                <a:solidFill>
                  <a:schemeClr val="bg1"/>
                </a:solidFill>
                <a:latin typeface="Arial" panose="020B0604020202020204" pitchFamily="34" charset="0"/>
                <a:cs typeface="Arial" panose="020B0604020202020204" pitchFamily="34" charset="0"/>
              </a:rPr>
              <a:t>}/100 — {</a:t>
            </a:r>
            <a:r>
              <a:rPr lang="en-US" sz="1000" dirty="0" err="1">
                <a:solidFill>
                  <a:schemeClr val="bg1"/>
                </a:solidFill>
                <a:latin typeface="Arial" panose="020B0604020202020204" pitchFamily="34" charset="0"/>
                <a:cs typeface="Arial" panose="020B0604020202020204" pitchFamily="34" charset="0"/>
              </a:rPr>
              <a:t>bias_label</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Emotion Score: {</a:t>
            </a:r>
            <a:r>
              <a:rPr lang="en-US" sz="1000" dirty="0" err="1">
                <a:solidFill>
                  <a:schemeClr val="bg1"/>
                </a:solidFill>
                <a:latin typeface="Arial" panose="020B0604020202020204" pitchFamily="34" charset="0"/>
                <a:cs typeface="Arial" panose="020B0604020202020204" pitchFamily="34" charset="0"/>
              </a:rPr>
              <a:t>emotion_score</a:t>
            </a:r>
            <a:r>
              <a:rPr lang="en-US" sz="1000" dirty="0">
                <a:solidFill>
                  <a:schemeClr val="bg1"/>
                </a:solidFill>
                <a:latin typeface="Arial" panose="020B0604020202020204" pitchFamily="34" charset="0"/>
                <a:cs typeface="Arial" panose="020B0604020202020204" pitchFamily="34" charset="0"/>
              </a:rPr>
              <a:t>}/100 — {</a:t>
            </a:r>
            <a:r>
              <a:rPr lang="en-US" sz="1000" dirty="0" err="1">
                <a:solidFill>
                  <a:schemeClr val="bg1"/>
                </a:solidFill>
                <a:latin typeface="Arial" panose="020B0604020202020204" pitchFamily="34" charset="0"/>
                <a:cs typeface="Arial" panose="020B0604020202020204" pitchFamily="34" charset="0"/>
              </a:rPr>
              <a:t>emotion_label</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Credibility Score: {</a:t>
            </a:r>
            <a:r>
              <a:rPr lang="en-US" sz="1000" dirty="0" err="1">
                <a:solidFill>
                  <a:schemeClr val="bg1"/>
                </a:solidFill>
                <a:latin typeface="Arial" panose="020B0604020202020204" pitchFamily="34" charset="0"/>
                <a:cs typeface="Arial" panose="020B0604020202020204" pitchFamily="34" charset="0"/>
              </a:rPr>
              <a:t>credibility_score</a:t>
            </a:r>
            <a:r>
              <a:rPr lang="en-US" sz="1000" dirty="0">
                <a:solidFill>
                  <a:schemeClr val="bg1"/>
                </a:solidFill>
                <a:latin typeface="Arial" panose="020B0604020202020204" pitchFamily="34" charset="0"/>
                <a:cs typeface="Arial" panose="020B0604020202020204" pitchFamily="34" charset="0"/>
              </a:rPr>
              <a:t>}/100 — {</a:t>
            </a:r>
            <a:r>
              <a:rPr lang="en-US" sz="1000" dirty="0" err="1">
                <a:solidFill>
                  <a:schemeClr val="bg1"/>
                </a:solidFill>
                <a:latin typeface="Arial" panose="020B0604020202020204" pitchFamily="34" charset="0"/>
                <a:cs typeface="Arial" panose="020B0604020202020204" pitchFamily="34" charset="0"/>
              </a:rPr>
              <a:t>credibility_label</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Time Relevance Score: {</a:t>
            </a:r>
            <a:r>
              <a:rPr lang="en-US" sz="1000" dirty="0" err="1">
                <a:solidFill>
                  <a:schemeClr val="bg1"/>
                </a:solidFill>
                <a:latin typeface="Arial" panose="020B0604020202020204" pitchFamily="34" charset="0"/>
                <a:cs typeface="Arial" panose="020B0604020202020204" pitchFamily="34" charset="0"/>
              </a:rPr>
              <a:t>time_relevance_score</a:t>
            </a:r>
            <a:r>
              <a:rPr lang="en-US" sz="1000" dirty="0">
                <a:solidFill>
                  <a:schemeClr val="bg1"/>
                </a:solidFill>
                <a:latin typeface="Arial" panose="020B0604020202020204" pitchFamily="34" charset="0"/>
                <a:cs typeface="Arial" panose="020B0604020202020204" pitchFamily="34" charset="0"/>
              </a:rPr>
              <a:t>}/100 — {</a:t>
            </a:r>
            <a:r>
              <a:rPr lang="en-US" sz="1000" dirty="0" err="1">
                <a:solidFill>
                  <a:schemeClr val="bg1"/>
                </a:solidFill>
                <a:latin typeface="Arial" panose="020B0604020202020204" pitchFamily="34" charset="0"/>
                <a:cs typeface="Arial" panose="020B0604020202020204" pitchFamily="34" charset="0"/>
              </a:rPr>
              <a:t>time_label</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 Scoring Reasoning: {</a:t>
            </a:r>
            <a:r>
              <a:rPr lang="en-US" sz="1000" dirty="0" err="1">
                <a:solidFill>
                  <a:schemeClr val="bg1"/>
                </a:solidFill>
                <a:latin typeface="Arial" panose="020B0604020202020204" pitchFamily="34" charset="0"/>
                <a:cs typeface="Arial" panose="020B0604020202020204" pitchFamily="34" charset="0"/>
              </a:rPr>
              <a:t>score_reasoning</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 Timestamp of Evaluation: {timestamp}</a:t>
            </a:r>
          </a:p>
          <a:p>
            <a:r>
              <a:rPr lang="en-US" sz="1000" dirty="0">
                <a:solidFill>
                  <a:schemeClr val="bg1"/>
                </a:solidFill>
                <a:latin typeface="Arial" panose="020B0604020202020204" pitchFamily="34" charset="0"/>
                <a:cs typeface="Arial" panose="020B0604020202020204" pitchFamily="34" charset="0"/>
              </a:rPr>
              <a:t>🌐 Secondary Web Search Summary:</a:t>
            </a:r>
          </a:p>
          <a:p>
            <a:r>
              <a:rPr lang="en-US" sz="1000" dirty="0">
                <a:solidFill>
                  <a:schemeClr val="bg1"/>
                </a:solidFill>
                <a:latin typeface="Arial" panose="020B0604020202020204" pitchFamily="34" charset="0"/>
                <a:cs typeface="Arial" panose="020B0604020202020204" pitchFamily="34" charset="0"/>
              </a:rPr>
              <a:t>Secondary Verdict Hint: {</a:t>
            </a:r>
            <a:r>
              <a:rPr lang="en-US" sz="1000" dirty="0" err="1">
                <a:solidFill>
                  <a:schemeClr val="bg1"/>
                </a:solidFill>
                <a:latin typeface="Arial" panose="020B0604020202020204" pitchFamily="34" charset="0"/>
                <a:cs typeface="Arial" panose="020B0604020202020204" pitchFamily="34" charset="0"/>
              </a:rPr>
              <a:t>secondary_verdict_hint</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Search Summary: {</a:t>
            </a:r>
            <a:r>
              <a:rPr lang="en-US" sz="1000" dirty="0" err="1">
                <a:solidFill>
                  <a:schemeClr val="bg1"/>
                </a:solidFill>
                <a:latin typeface="Arial" panose="020B0604020202020204" pitchFamily="34" charset="0"/>
                <a:cs typeface="Arial" panose="020B0604020202020204" pitchFamily="34" charset="0"/>
              </a:rPr>
              <a:t>search_summary</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Sources: {</a:t>
            </a:r>
            <a:r>
              <a:rPr lang="en-US" sz="1000" dirty="0" err="1">
                <a:solidFill>
                  <a:schemeClr val="bg1"/>
                </a:solidFill>
                <a:latin typeface="Arial" panose="020B0604020202020204" pitchFamily="34" charset="0"/>
                <a:cs typeface="Arial" panose="020B0604020202020204" pitchFamily="34" charset="0"/>
              </a:rPr>
              <a:t>sources_list</a:t>
            </a:r>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 Source Quality Assessment: Average Source Score:</a:t>
            </a:r>
          </a:p>
          <a:p>
            <a:r>
              <a:rPr lang="en-US" sz="1000" dirty="0">
                <a:solidFill>
                  <a:schemeClr val="bg1"/>
                </a:solidFill>
                <a:latin typeface="Arial" panose="020B0604020202020204" pitchFamily="34" charset="0"/>
                <a:cs typeface="Arial" panose="020B0604020202020204" pitchFamily="34" charset="0"/>
              </a:rPr>
              <a:t>{</a:t>
            </a:r>
            <a:r>
              <a:rPr lang="en-US" sz="1000" dirty="0" err="1">
                <a:solidFill>
                  <a:schemeClr val="bg1"/>
                </a:solidFill>
                <a:latin typeface="Arial" panose="020B0604020202020204" pitchFamily="34" charset="0"/>
                <a:cs typeface="Arial" panose="020B0604020202020204" pitchFamily="34" charset="0"/>
              </a:rPr>
              <a:t>average_source_score</a:t>
            </a:r>
            <a:r>
              <a:rPr lang="en-US" sz="1000" dirty="0">
                <a:solidFill>
                  <a:schemeClr val="bg1"/>
                </a:solidFill>
                <a:latin typeface="Arial" panose="020B0604020202020204" pitchFamily="34" charset="0"/>
                <a:cs typeface="Arial" panose="020B0604020202020204" pitchFamily="34" charset="0"/>
              </a:rPr>
              <a:t>}/100 — {</a:t>
            </a:r>
            <a:r>
              <a:rPr lang="en-US" sz="1000" dirty="0" err="1">
                <a:solidFill>
                  <a:schemeClr val="bg1"/>
                </a:solidFill>
                <a:latin typeface="Arial" panose="020B0604020202020204" pitchFamily="34" charset="0"/>
                <a:cs typeface="Arial" panose="020B0604020202020204" pitchFamily="34" charset="0"/>
              </a:rPr>
              <a:t>source_quality</a:t>
            </a:r>
            <a:r>
              <a:rPr lang="en-US" sz="1000" dirty="0">
                <a:solidFill>
                  <a:schemeClr val="bg1"/>
                </a:solidFill>
                <a:latin typeface="Arial" panose="020B0604020202020204" pitchFamily="34" charset="0"/>
                <a:cs typeface="Arial" panose="020B0604020202020204" pitchFamily="34" charset="0"/>
              </a:rPr>
              <a:t>} Notes: {notes}</a:t>
            </a:r>
          </a:p>
          <a:p>
            <a:r>
              <a:rPr lang="en-US" sz="1000" dirty="0">
                <a:solidFill>
                  <a:schemeClr val="bg1"/>
                </a:solidFill>
                <a:latin typeface="Arial" panose="020B0604020202020204" pitchFamily="34" charset="0"/>
                <a:cs typeface="Arial" panose="020B0604020202020204" pitchFamily="34" charset="0"/>
              </a:rPr>
              <a:t>📢 Final Call:</a:t>
            </a:r>
          </a:p>
          <a:p>
            <a:r>
              <a:rPr lang="en-US" sz="1000" dirty="0">
                <a:solidFill>
                  <a:schemeClr val="bg1"/>
                </a:solidFill>
                <a:latin typeface="Arial" panose="020B0604020202020204" pitchFamily="34" charset="0"/>
                <a:cs typeface="Arial" panose="020B0604020202020204" pitchFamily="34" charset="0"/>
              </a:rPr>
              <a:t>FINAL DECISION: {REAL | FAKE}</a:t>
            </a:r>
          </a:p>
          <a:p>
            <a:r>
              <a:rPr lang="en-US" sz="1000" dirty="0">
                <a:solidFill>
                  <a:schemeClr val="bg1"/>
                </a:solidFill>
                <a:latin typeface="Arial" panose="020B0604020202020204" pitchFamily="34" charset="0"/>
                <a:cs typeface="Arial" panose="020B0604020202020204" pitchFamily="34" charset="0"/>
              </a:rPr>
              <a:t>CONFIDENCE LEVEL: {High | Medium | Low}</a:t>
            </a:r>
          </a:p>
          <a:p>
            <a:r>
              <a:rPr lang="en-US" sz="1000" dirty="0">
                <a:solidFill>
                  <a:schemeClr val="bg1"/>
                </a:solidFill>
                <a:latin typeface="Arial" panose="020B0604020202020204" pitchFamily="34" charset="0"/>
                <a:cs typeface="Arial" panose="020B0604020202020204" pitchFamily="34" charset="0"/>
              </a:rPr>
              <a:t>EXPLANATION:</a:t>
            </a:r>
          </a:p>
          <a:p>
            <a:r>
              <a:rPr lang="en-US" sz="1000" dirty="0">
                <a:solidFill>
                  <a:schemeClr val="bg1"/>
                </a:solidFill>
                <a:latin typeface="Arial" panose="020B0604020202020204" pitchFamily="34" charset="0"/>
                <a:cs typeface="Arial" panose="020B0604020202020204" pitchFamily="34" charset="0"/>
              </a:rPr>
              <a:t>"{brief explanation based on </a:t>
            </a:r>
            <a:r>
              <a:rPr lang="en-US" sz="1000" i="1" dirty="0">
                <a:solidFill>
                  <a:schemeClr val="bg1"/>
                </a:solidFill>
                <a:latin typeface="Arial" panose="020B0604020202020204" pitchFamily="34" charset="0"/>
                <a:cs typeface="Arial" panose="020B0604020202020204" pitchFamily="34" charset="0"/>
              </a:rPr>
              <a:t>verdict agreement</a:t>
            </a:r>
            <a:r>
              <a:rPr lang="en-US" sz="1000" dirty="0">
                <a:solidFill>
                  <a:schemeClr val="bg1"/>
                </a:solidFill>
                <a:latin typeface="Arial" panose="020B0604020202020204" pitchFamily="34" charset="0"/>
                <a:cs typeface="Arial" panose="020B0604020202020204" pitchFamily="34" charset="0"/>
              </a:rPr>
              <a:t>, </a:t>
            </a:r>
            <a:r>
              <a:rPr lang="en-US" sz="1000" i="1" dirty="0">
                <a:solidFill>
                  <a:schemeClr val="bg1"/>
                </a:solidFill>
                <a:latin typeface="Arial" panose="020B0604020202020204" pitchFamily="34" charset="0"/>
                <a:cs typeface="Arial" panose="020B0604020202020204" pitchFamily="34" charset="0"/>
              </a:rPr>
              <a:t>source credibility</a:t>
            </a:r>
            <a:r>
              <a:rPr lang="en-US" sz="1000" dirty="0">
                <a:solidFill>
                  <a:schemeClr val="bg1"/>
                </a:solidFill>
                <a:latin typeface="Arial" panose="020B0604020202020204" pitchFamily="34" charset="0"/>
                <a:cs typeface="Arial" panose="020B0604020202020204" pitchFamily="34" charset="0"/>
              </a:rPr>
              <a:t>, and </a:t>
            </a:r>
            <a:r>
              <a:rPr lang="en-US" sz="1000" i="1" dirty="0">
                <a:solidFill>
                  <a:schemeClr val="bg1"/>
                </a:solidFill>
                <a:latin typeface="Arial" panose="020B0604020202020204" pitchFamily="34" charset="0"/>
                <a:cs typeface="Arial" panose="020B0604020202020204" pitchFamily="34" charset="0"/>
              </a:rPr>
              <a:t>semantic alignment</a:t>
            </a:r>
            <a:r>
              <a:rPr lang="en-US" sz="1000" dirty="0">
                <a:solidFill>
                  <a:schemeClr val="bg1"/>
                </a:solidFill>
                <a:latin typeface="Arial" panose="020B0604020202020204" pitchFamily="34" charset="0"/>
                <a:cs typeface="Arial" panose="020B0604020202020204" pitchFamily="34" charset="0"/>
              </a:rPr>
              <a:t> between the claim and found evidence}"</a:t>
            </a:r>
          </a:p>
          <a:p>
            <a:r>
              <a:rPr lang="en-US" sz="1000" dirty="0">
                <a:solidFill>
                  <a:schemeClr val="bg1"/>
                </a:solidFill>
                <a:latin typeface="Arial" panose="020B0604020202020204" pitchFamily="34" charset="0"/>
                <a:cs typeface="Arial" panose="020B0604020202020204" pitchFamily="34" charset="0"/>
              </a:rPr>
              <a:t>====================</a:t>
            </a:r>
          </a:p>
          <a:p>
            <a:endParaRPr lang="en-US" sz="1000" dirty="0">
              <a:solidFill>
                <a:schemeClr val="bg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94A1CB3-511C-2D85-27CB-38D3B9EB0235}"/>
              </a:ext>
            </a:extLst>
          </p:cNvPr>
          <p:cNvSpPr txBox="1"/>
          <p:nvPr/>
        </p:nvSpPr>
        <p:spPr>
          <a:xfrm>
            <a:off x="4331854" y="766732"/>
            <a:ext cx="4572000" cy="5324535"/>
          </a:xfrm>
          <a:prstGeom prst="rect">
            <a:avLst/>
          </a:prstGeom>
          <a:solidFill>
            <a:srgbClr val="23262C"/>
          </a:solidFill>
        </p:spPr>
        <p:txBody>
          <a:bodyPr wrap="square" rtlCol="0">
            <a:spAutoFit/>
          </a:bodyPr>
          <a:lstStyle/>
          <a:p>
            <a:r>
              <a:rPr lang="en-US" sz="1000" dirty="0">
                <a:solidFill>
                  <a:schemeClr val="bg1"/>
                </a:solidFill>
                <a:latin typeface="Arial" panose="020B0604020202020204" pitchFamily="34" charset="0"/>
                <a:cs typeface="Arial" panose="020B0604020202020204" pitchFamily="34" charset="0"/>
              </a:rPr>
              <a:t>🧠 Decision Logic:</a:t>
            </a:r>
          </a:p>
          <a:p>
            <a:r>
              <a:rPr lang="en-US" sz="1000" dirty="0">
                <a:solidFill>
                  <a:schemeClr val="bg1"/>
                </a:solidFill>
                <a:latin typeface="Arial" panose="020B0604020202020204" pitchFamily="34" charset="0"/>
                <a:cs typeface="Arial" panose="020B0604020202020204" pitchFamily="34" charset="0"/>
              </a:rPr>
              <a:t>1. SEMANTIC CONSISTENCY CHECK:</a:t>
            </a:r>
          </a:p>
          <a:p>
            <a:r>
              <a:rPr lang="en-US" sz="1000" dirty="0">
                <a:solidFill>
                  <a:schemeClr val="bg1"/>
                </a:solidFill>
                <a:latin typeface="Arial" panose="020B0604020202020204" pitchFamily="34" charset="0"/>
                <a:cs typeface="Arial" panose="020B0604020202020204" pitchFamily="34" charset="0"/>
              </a:rPr>
              <a:t>If:</a:t>
            </a:r>
          </a:p>
          <a:p>
            <a:r>
              <a:rPr lang="en-US" sz="1000" dirty="0">
                <a:solidFill>
                  <a:schemeClr val="bg1"/>
                </a:solidFill>
                <a:latin typeface="Arial" panose="020B0604020202020204" pitchFamily="34" charset="0"/>
                <a:cs typeface="Arial" panose="020B0604020202020204" pitchFamily="34" charset="0"/>
              </a:rPr>
              <a:t>- The supporting sources </a:t>
            </a:r>
            <a:r>
              <a:rPr lang="en-US" sz="1000" b="1" dirty="0">
                <a:solidFill>
                  <a:schemeClr val="bg1"/>
                </a:solidFill>
                <a:latin typeface="Arial" panose="020B0604020202020204" pitchFamily="34" charset="0"/>
                <a:cs typeface="Arial" panose="020B0604020202020204" pitchFamily="34" charset="0"/>
              </a:rPr>
              <a:t>do not directly confirm the exact wording or meaning</a:t>
            </a:r>
            <a:r>
              <a:rPr lang="en-US" sz="1000" dirty="0">
                <a:solidFill>
                  <a:schemeClr val="bg1"/>
                </a:solidFill>
                <a:latin typeface="Arial" panose="020B0604020202020204" pitchFamily="34" charset="0"/>
                <a:cs typeface="Arial" panose="020B0604020202020204" pitchFamily="34" charset="0"/>
              </a:rPr>
              <a:t> of the claim,</a:t>
            </a:r>
          </a:p>
          <a:p>
            <a:r>
              <a:rPr lang="en-US" sz="1000" dirty="0">
                <a:solidFill>
                  <a:schemeClr val="bg1"/>
                </a:solidFill>
                <a:latin typeface="Arial" panose="020B0604020202020204" pitchFamily="34" charset="0"/>
                <a:cs typeface="Arial" panose="020B0604020202020204" pitchFamily="34" charset="0"/>
              </a:rPr>
              <a:t>- Or if there is </a:t>
            </a:r>
            <a:r>
              <a:rPr lang="en-US" sz="1000" b="1" dirty="0">
                <a:solidFill>
                  <a:schemeClr val="bg1"/>
                </a:solidFill>
                <a:latin typeface="Arial" panose="020B0604020202020204" pitchFamily="34" charset="0"/>
                <a:cs typeface="Arial" panose="020B0604020202020204" pitchFamily="34" charset="0"/>
              </a:rPr>
              <a:t>only general topic overlap</a:t>
            </a:r>
            <a:r>
              <a:rPr lang="en-US" sz="1000" dirty="0">
                <a:solidFill>
                  <a:schemeClr val="bg1"/>
                </a:solidFill>
                <a:latin typeface="Arial" panose="020B0604020202020204" pitchFamily="34" charset="0"/>
                <a:cs typeface="Arial" panose="020B0604020202020204" pitchFamily="34" charset="0"/>
              </a:rPr>
              <a:t> without exact alignment,</a:t>
            </a:r>
          </a:p>
          <a:p>
            <a:r>
              <a:rPr lang="en-US" sz="1000" dirty="0">
                <a:solidFill>
                  <a:schemeClr val="bg1"/>
                </a:solidFill>
                <a:latin typeface="Arial" panose="020B0604020202020204" pitchFamily="34" charset="0"/>
                <a:cs typeface="Arial" panose="020B0604020202020204" pitchFamily="34" charset="0"/>
              </a:rPr>
              <a:t>- Or if the tone or intent in the claim differs significantly from the source evidence,</a:t>
            </a:r>
          </a:p>
          <a:p>
            <a:r>
              <a:rPr lang="en-US" sz="1000" dirty="0">
                <a:solidFill>
                  <a:schemeClr val="bg1"/>
                </a:solidFill>
                <a:latin typeface="Arial" panose="020B0604020202020204" pitchFamily="34" charset="0"/>
                <a:cs typeface="Arial" panose="020B0604020202020204" pitchFamily="34" charset="0"/>
              </a:rPr>
              <a:t>→ Treat the evidence as </a:t>
            </a:r>
            <a:r>
              <a:rPr lang="en-US" sz="1000" b="1" dirty="0">
                <a:solidFill>
                  <a:schemeClr val="bg1"/>
                </a:solidFill>
                <a:latin typeface="Arial" panose="020B0604020202020204" pitchFamily="34" charset="0"/>
                <a:cs typeface="Arial" panose="020B0604020202020204" pitchFamily="34" charset="0"/>
              </a:rPr>
              <a:t>non-confirmatory</a:t>
            </a:r>
            <a:r>
              <a:rPr lang="en-US" sz="1000" dirty="0">
                <a:solidFill>
                  <a:schemeClr val="bg1"/>
                </a:solidFill>
                <a:latin typeface="Arial" panose="020B0604020202020204" pitchFamily="34" charset="0"/>
                <a:cs typeface="Arial" panose="020B0604020202020204" pitchFamily="34" charset="0"/>
              </a:rPr>
              <a:t> and default to:</a:t>
            </a:r>
          </a:p>
          <a:p>
            <a:r>
              <a:rPr lang="en-US" sz="1000" dirty="0">
                <a:solidFill>
                  <a:schemeClr val="bg1"/>
                </a:solidFill>
                <a:latin typeface="Arial" panose="020B0604020202020204" pitchFamily="34" charset="0"/>
                <a:cs typeface="Arial" panose="020B0604020202020204" pitchFamily="34" charset="0"/>
              </a:rPr>
              <a:t>→ FINAL DECISION: FAKE or SUSPICIOUS</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2. Use the following logic </a:t>
            </a:r>
            <a:r>
              <a:rPr lang="en-US" sz="1000" i="1" dirty="0">
                <a:solidFill>
                  <a:schemeClr val="bg1"/>
                </a:solidFill>
                <a:latin typeface="Arial" panose="020B0604020202020204" pitchFamily="34" charset="0"/>
                <a:cs typeface="Arial" panose="020B0604020202020204" pitchFamily="34" charset="0"/>
              </a:rPr>
              <a:t>only if</a:t>
            </a:r>
            <a:r>
              <a:rPr lang="en-US" sz="1000" dirty="0">
                <a:solidFill>
                  <a:schemeClr val="bg1"/>
                </a:solidFill>
                <a:latin typeface="Arial" panose="020B0604020202020204" pitchFamily="34" charset="0"/>
                <a:cs typeface="Arial" panose="020B0604020202020204" pitchFamily="34" charset="0"/>
              </a:rPr>
              <a:t> the semantic match is strong:</a:t>
            </a:r>
          </a:p>
          <a:p>
            <a:r>
              <a:rPr lang="en-US" sz="1000" dirty="0">
                <a:solidFill>
                  <a:schemeClr val="bg1"/>
                </a:solidFill>
                <a:latin typeface="Arial" panose="020B0604020202020204" pitchFamily="34" charset="0"/>
                <a:cs typeface="Arial" panose="020B0604020202020204" pitchFamily="34" charset="0"/>
              </a:rPr>
              <a:t>- If:</a:t>
            </a:r>
          </a:p>
          <a:p>
            <a:r>
              <a:rPr lang="en-US" sz="1000" dirty="0">
                <a:solidFill>
                  <a:schemeClr val="bg1"/>
                </a:solidFill>
                <a:latin typeface="Arial" panose="020B0604020202020204" pitchFamily="34" charset="0"/>
                <a:cs typeface="Arial" panose="020B0604020202020204" pitchFamily="34" charset="0"/>
              </a:rPr>
              <a:t>- verdict = FAKE or SUSPICIOUS</a:t>
            </a:r>
          </a:p>
          <a:p>
            <a:r>
              <a:rPr lang="en-US" sz="1000" dirty="0">
                <a:solidFill>
                  <a:schemeClr val="bg1"/>
                </a:solidFill>
                <a:latin typeface="Arial" panose="020B0604020202020204" pitchFamily="34" charset="0"/>
                <a:cs typeface="Arial" panose="020B0604020202020204" pitchFamily="34" charset="0"/>
              </a:rPr>
              <a:t>- AND </a:t>
            </a:r>
            <a:r>
              <a:rPr lang="en-US" sz="1000" dirty="0" err="1">
                <a:solidFill>
                  <a:schemeClr val="bg1"/>
                </a:solidFill>
                <a:latin typeface="Arial" panose="020B0604020202020204" pitchFamily="34" charset="0"/>
                <a:cs typeface="Arial" panose="020B0604020202020204" pitchFamily="34" charset="0"/>
              </a:rPr>
              <a:t>secondary_verdict_hint</a:t>
            </a:r>
            <a:r>
              <a:rPr lang="en-US" sz="1000" dirty="0">
                <a:solidFill>
                  <a:schemeClr val="bg1"/>
                </a:solidFill>
                <a:latin typeface="Arial" panose="020B0604020202020204" pitchFamily="34" charset="0"/>
                <a:cs typeface="Arial" panose="020B0604020202020204" pitchFamily="34" charset="0"/>
              </a:rPr>
              <a:t> = LIKELY_FAKE</a:t>
            </a:r>
          </a:p>
          <a:p>
            <a:r>
              <a:rPr lang="en-US" sz="1000" dirty="0">
                <a:solidFill>
                  <a:schemeClr val="bg1"/>
                </a:solidFill>
                <a:latin typeface="Arial" panose="020B0604020202020204" pitchFamily="34" charset="0"/>
                <a:cs typeface="Arial" panose="020B0604020202020204" pitchFamily="34" charset="0"/>
              </a:rPr>
              <a:t>- AND </a:t>
            </a:r>
            <a:r>
              <a:rPr lang="en-US" sz="1000" dirty="0" err="1">
                <a:solidFill>
                  <a:schemeClr val="bg1"/>
                </a:solidFill>
                <a:latin typeface="Arial" panose="020B0604020202020204" pitchFamily="34" charset="0"/>
                <a:cs typeface="Arial" panose="020B0604020202020204" pitchFamily="34" charset="0"/>
              </a:rPr>
              <a:t>credibility_score</a:t>
            </a:r>
            <a:r>
              <a:rPr lang="en-US" sz="1000" dirty="0">
                <a:solidFill>
                  <a:schemeClr val="bg1"/>
                </a:solidFill>
                <a:latin typeface="Arial" panose="020B0604020202020204" pitchFamily="34" charset="0"/>
                <a:cs typeface="Arial" panose="020B0604020202020204" pitchFamily="34" charset="0"/>
              </a:rPr>
              <a:t> &lt; 70</a:t>
            </a:r>
          </a:p>
          <a:p>
            <a:r>
              <a:rPr lang="en-US" sz="1000" dirty="0">
                <a:solidFill>
                  <a:schemeClr val="bg1"/>
                </a:solidFill>
                <a:latin typeface="Arial" panose="020B0604020202020204" pitchFamily="34" charset="0"/>
                <a:cs typeface="Arial" panose="020B0604020202020204" pitchFamily="34" charset="0"/>
              </a:rPr>
              <a:t>→ FINAL DECISION: FAKE</a:t>
            </a:r>
          </a:p>
          <a:p>
            <a:r>
              <a:rPr lang="en-US" sz="1000" dirty="0">
                <a:solidFill>
                  <a:schemeClr val="bg1"/>
                </a:solidFill>
                <a:latin typeface="Arial" panose="020B0604020202020204" pitchFamily="34" charset="0"/>
                <a:cs typeface="Arial" panose="020B0604020202020204" pitchFamily="34" charset="0"/>
              </a:rPr>
              <a:t>- If:</a:t>
            </a:r>
          </a:p>
          <a:p>
            <a:r>
              <a:rPr lang="en-US" sz="1000" dirty="0">
                <a:solidFill>
                  <a:schemeClr val="bg1"/>
                </a:solidFill>
                <a:latin typeface="Arial" panose="020B0604020202020204" pitchFamily="34" charset="0"/>
                <a:cs typeface="Arial" panose="020B0604020202020204" pitchFamily="34" charset="0"/>
              </a:rPr>
              <a:t>- verdict = REAL</a:t>
            </a:r>
          </a:p>
          <a:p>
            <a:r>
              <a:rPr lang="en-US" sz="1000" dirty="0">
                <a:solidFill>
                  <a:schemeClr val="bg1"/>
                </a:solidFill>
                <a:latin typeface="Arial" panose="020B0604020202020204" pitchFamily="34" charset="0"/>
                <a:cs typeface="Arial" panose="020B0604020202020204" pitchFamily="34" charset="0"/>
              </a:rPr>
              <a:t>- AND </a:t>
            </a:r>
            <a:r>
              <a:rPr lang="en-US" sz="1000" dirty="0" err="1">
                <a:solidFill>
                  <a:schemeClr val="bg1"/>
                </a:solidFill>
                <a:latin typeface="Arial" panose="020B0604020202020204" pitchFamily="34" charset="0"/>
                <a:cs typeface="Arial" panose="020B0604020202020204" pitchFamily="34" charset="0"/>
              </a:rPr>
              <a:t>secondary_verdict_hint</a:t>
            </a:r>
            <a:r>
              <a:rPr lang="en-US" sz="1000" dirty="0">
                <a:solidFill>
                  <a:schemeClr val="bg1"/>
                </a:solidFill>
                <a:latin typeface="Arial" panose="020B0604020202020204" pitchFamily="34" charset="0"/>
                <a:cs typeface="Arial" panose="020B0604020202020204" pitchFamily="34" charset="0"/>
              </a:rPr>
              <a:t> = LIKELY_TRUE</a:t>
            </a:r>
          </a:p>
          <a:p>
            <a:r>
              <a:rPr lang="en-US" sz="1000" dirty="0">
                <a:solidFill>
                  <a:schemeClr val="bg1"/>
                </a:solidFill>
                <a:latin typeface="Arial" panose="020B0604020202020204" pitchFamily="34" charset="0"/>
                <a:cs typeface="Arial" panose="020B0604020202020204" pitchFamily="34" charset="0"/>
              </a:rPr>
              <a:t>- AND </a:t>
            </a:r>
            <a:r>
              <a:rPr lang="en-US" sz="1000" dirty="0" err="1">
                <a:solidFill>
                  <a:schemeClr val="bg1"/>
                </a:solidFill>
                <a:latin typeface="Arial" panose="020B0604020202020204" pitchFamily="34" charset="0"/>
                <a:cs typeface="Arial" panose="020B0604020202020204" pitchFamily="34" charset="0"/>
              </a:rPr>
              <a:t>credibility_score</a:t>
            </a:r>
            <a:r>
              <a:rPr lang="en-US" sz="1000" dirty="0">
                <a:solidFill>
                  <a:schemeClr val="bg1"/>
                </a:solidFill>
                <a:latin typeface="Arial" panose="020B0604020202020204" pitchFamily="34" charset="0"/>
                <a:cs typeface="Arial" panose="020B0604020202020204" pitchFamily="34" charset="0"/>
              </a:rPr>
              <a:t> ≥ 70</a:t>
            </a:r>
          </a:p>
          <a:p>
            <a:r>
              <a:rPr lang="en-US" sz="1000" dirty="0">
                <a:solidFill>
                  <a:schemeClr val="bg1"/>
                </a:solidFill>
                <a:latin typeface="Arial" panose="020B0604020202020204" pitchFamily="34" charset="0"/>
                <a:cs typeface="Arial" panose="020B0604020202020204" pitchFamily="34" charset="0"/>
              </a:rPr>
              <a:t>→ FINAL DECISION: REAL</a:t>
            </a:r>
          </a:p>
          <a:p>
            <a:r>
              <a:rPr lang="en-US" sz="1000" dirty="0">
                <a:solidFill>
                  <a:schemeClr val="bg1"/>
                </a:solidFill>
                <a:latin typeface="Arial" panose="020B0604020202020204" pitchFamily="34" charset="0"/>
                <a:cs typeface="Arial" panose="020B0604020202020204" pitchFamily="34" charset="0"/>
              </a:rPr>
              <a:t>- Else:</a:t>
            </a:r>
          </a:p>
          <a:p>
            <a:r>
              <a:rPr lang="en-US" sz="1000" dirty="0">
                <a:solidFill>
                  <a:schemeClr val="bg1"/>
                </a:solidFill>
                <a:latin typeface="Arial" panose="020B0604020202020204" pitchFamily="34" charset="0"/>
                <a:cs typeface="Arial" panose="020B0604020202020204" pitchFamily="34" charset="0"/>
              </a:rPr>
              <a:t>- If </a:t>
            </a:r>
            <a:r>
              <a:rPr lang="en-US" sz="1000" dirty="0" err="1">
                <a:solidFill>
                  <a:schemeClr val="bg1"/>
                </a:solidFill>
                <a:latin typeface="Arial" panose="020B0604020202020204" pitchFamily="34" charset="0"/>
                <a:cs typeface="Arial" panose="020B0604020202020204" pitchFamily="34" charset="0"/>
              </a:rPr>
              <a:t>credibility_score</a:t>
            </a:r>
            <a:r>
              <a:rPr lang="en-US" sz="1000" dirty="0">
                <a:solidFill>
                  <a:schemeClr val="bg1"/>
                </a:solidFill>
                <a:latin typeface="Arial" panose="020B0604020202020204" pitchFamily="34" charset="0"/>
                <a:cs typeface="Arial" panose="020B0604020202020204" pitchFamily="34" charset="0"/>
              </a:rPr>
              <a:t> &lt; 50 OR </a:t>
            </a:r>
            <a:r>
              <a:rPr lang="en-US" sz="1000" dirty="0" err="1">
                <a:solidFill>
                  <a:schemeClr val="bg1"/>
                </a:solidFill>
                <a:latin typeface="Arial" panose="020B0604020202020204" pitchFamily="34" charset="0"/>
                <a:cs typeface="Arial" panose="020B0604020202020204" pitchFamily="34" charset="0"/>
              </a:rPr>
              <a:t>source_quality</a:t>
            </a:r>
            <a:r>
              <a:rPr lang="en-US" sz="1000" dirty="0">
                <a:solidFill>
                  <a:schemeClr val="bg1"/>
                </a:solidFill>
                <a:latin typeface="Arial" panose="020B0604020202020204" pitchFamily="34" charset="0"/>
                <a:cs typeface="Arial" panose="020B0604020202020204" pitchFamily="34" charset="0"/>
              </a:rPr>
              <a:t> in ["Low", "Very Low"]</a:t>
            </a:r>
          </a:p>
          <a:p>
            <a:r>
              <a:rPr lang="en-US" sz="1000" dirty="0">
                <a:solidFill>
                  <a:schemeClr val="bg1"/>
                </a:solidFill>
                <a:latin typeface="Arial" panose="020B0604020202020204" pitchFamily="34" charset="0"/>
                <a:cs typeface="Arial" panose="020B0604020202020204" pitchFamily="34" charset="0"/>
              </a:rPr>
              <a:t>→ FINAL DECISION: FAKE</a:t>
            </a:r>
          </a:p>
          <a:p>
            <a:r>
              <a:rPr lang="en-US" sz="1000" dirty="0">
                <a:solidFill>
                  <a:schemeClr val="bg1"/>
                </a:solidFill>
                <a:latin typeface="Arial" panose="020B0604020202020204" pitchFamily="34" charset="0"/>
                <a:cs typeface="Arial" panose="020B0604020202020204" pitchFamily="34" charset="0"/>
              </a:rPr>
              <a:t>- Else → FINAL DECISION: REAL</a:t>
            </a:r>
          </a:p>
          <a:p>
            <a:r>
              <a:rPr lang="en-US" sz="1000" dirty="0">
                <a:solidFill>
                  <a:schemeClr val="bg1"/>
                </a:solidFill>
                <a:latin typeface="Arial" panose="020B0604020202020204" pitchFamily="34" charset="0"/>
                <a:cs typeface="Arial" panose="020B0604020202020204" pitchFamily="34" charset="0"/>
              </a:rPr>
              <a:t>—</a:t>
            </a:r>
          </a:p>
          <a:p>
            <a:r>
              <a:rPr lang="en-US" sz="1000" dirty="0">
                <a:solidFill>
                  <a:schemeClr val="bg1"/>
                </a:solidFill>
                <a:latin typeface="Arial" panose="020B0604020202020204" pitchFamily="34" charset="0"/>
                <a:cs typeface="Arial" panose="020B0604020202020204" pitchFamily="34" charset="0"/>
              </a:rPr>
              <a:t>3. CONFIDENCE LEVEL:</a:t>
            </a:r>
          </a:p>
          <a:p>
            <a:r>
              <a:rPr lang="en-US" sz="1000" dirty="0">
                <a:solidFill>
                  <a:schemeClr val="bg1"/>
                </a:solidFill>
                <a:latin typeface="Arial" panose="020B0604020202020204" pitchFamily="34" charset="0"/>
                <a:cs typeface="Arial" panose="020B0604020202020204" pitchFamily="34" charset="0"/>
              </a:rPr>
              <a:t>- High → if verdicts match AND credibility ≥ 80 AND semantic match is clear</a:t>
            </a:r>
          </a:p>
          <a:p>
            <a:r>
              <a:rPr lang="en-US" sz="1000" dirty="0">
                <a:solidFill>
                  <a:schemeClr val="bg1"/>
                </a:solidFill>
                <a:latin typeface="Arial" panose="020B0604020202020204" pitchFamily="34" charset="0"/>
                <a:cs typeface="Arial" panose="020B0604020202020204" pitchFamily="34" charset="0"/>
              </a:rPr>
              <a:t>- Medium → if some alignment exists but confidence or semantic match is partial</a:t>
            </a:r>
          </a:p>
          <a:p>
            <a:r>
              <a:rPr lang="en-US" sz="1000" dirty="0">
                <a:solidFill>
                  <a:schemeClr val="bg1"/>
                </a:solidFill>
                <a:latin typeface="Arial" panose="020B0604020202020204" pitchFamily="34" charset="0"/>
                <a:cs typeface="Arial" panose="020B0604020202020204" pitchFamily="34" charset="0"/>
              </a:rPr>
              <a:t>- Low → if sources are weak OR verdicts contradict each other OR low semantic match</a:t>
            </a:r>
          </a:p>
          <a:p>
            <a:r>
              <a:rPr lang="en-US" sz="10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380244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4769A-5772-14D0-BA21-45612DA42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19A82-12EF-84CC-5C2F-C55095C8D5D0}"/>
              </a:ext>
            </a:extLst>
          </p:cNvPr>
          <p:cNvSpPr>
            <a:spLocks noGrp="1"/>
          </p:cNvSpPr>
          <p:nvPr>
            <p:ph type="title"/>
          </p:nvPr>
        </p:nvSpPr>
        <p:spPr>
          <a:xfrm>
            <a:off x="1606045" y="270829"/>
            <a:ext cx="5937755" cy="1188720"/>
          </a:xfrm>
        </p:spPr>
        <p:txBody>
          <a:bodyPr/>
          <a:lstStyle/>
          <a:p>
            <a:r>
              <a:rPr lang="en-US" cap="none" dirty="0">
                <a:latin typeface="Arial" panose="020B0604020202020204" pitchFamily="34" charset="0"/>
                <a:cs typeface="Arial" panose="020B0604020202020204" pitchFamily="34" charset="0"/>
              </a:rPr>
              <a:t>End-to-End Example</a:t>
            </a:r>
          </a:p>
        </p:txBody>
      </p:sp>
      <p:pic>
        <p:nvPicPr>
          <p:cNvPr id="4" name="Picture 2" descr="Πανεπιστήμιο Πειραιώς - Οικονομολόγος">
            <a:extLst>
              <a:ext uri="{FF2B5EF4-FFF2-40B4-BE49-F238E27FC236}">
                <a16:creationId xmlns:a16="http://schemas.microsoft.com/office/drawing/2014/main" id="{1A38A52E-399E-122A-ED14-6495B0875E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pic>
        <p:nvPicPr>
          <p:cNvPr id="11" name="Εικόνα 10">
            <a:extLst>
              <a:ext uri="{FF2B5EF4-FFF2-40B4-BE49-F238E27FC236}">
                <a16:creationId xmlns:a16="http://schemas.microsoft.com/office/drawing/2014/main" id="{EF4FCB25-00F6-BA13-1AEB-BBB037296F6B}"/>
              </a:ext>
            </a:extLst>
          </p:cNvPr>
          <p:cNvPicPr>
            <a:picLocks noChangeAspect="1"/>
          </p:cNvPicPr>
          <p:nvPr/>
        </p:nvPicPr>
        <p:blipFill>
          <a:blip r:embed="rId4"/>
          <a:stretch>
            <a:fillRect/>
          </a:stretch>
        </p:blipFill>
        <p:spPr>
          <a:xfrm>
            <a:off x="306818" y="2822006"/>
            <a:ext cx="3794128" cy="3765165"/>
          </a:xfrm>
          <a:prstGeom prst="rect">
            <a:avLst/>
          </a:prstGeom>
        </p:spPr>
      </p:pic>
      <p:pic>
        <p:nvPicPr>
          <p:cNvPr id="13" name="Εικόνα 12">
            <a:extLst>
              <a:ext uri="{FF2B5EF4-FFF2-40B4-BE49-F238E27FC236}">
                <a16:creationId xmlns:a16="http://schemas.microsoft.com/office/drawing/2014/main" id="{7A9F11DC-7379-8DB7-729F-348FF6BCD623}"/>
              </a:ext>
            </a:extLst>
          </p:cNvPr>
          <p:cNvPicPr>
            <a:picLocks noChangeAspect="1"/>
          </p:cNvPicPr>
          <p:nvPr/>
        </p:nvPicPr>
        <p:blipFill>
          <a:blip r:embed="rId5"/>
          <a:stretch>
            <a:fillRect/>
          </a:stretch>
        </p:blipFill>
        <p:spPr>
          <a:xfrm>
            <a:off x="4738254" y="2822006"/>
            <a:ext cx="3794400" cy="3765165"/>
          </a:xfrm>
          <a:prstGeom prst="rect">
            <a:avLst/>
          </a:prstGeom>
        </p:spPr>
      </p:pic>
      <p:sp>
        <p:nvSpPr>
          <p:cNvPr id="14" name="TextBox 13">
            <a:extLst>
              <a:ext uri="{FF2B5EF4-FFF2-40B4-BE49-F238E27FC236}">
                <a16:creationId xmlns:a16="http://schemas.microsoft.com/office/drawing/2014/main" id="{3B8F48F3-9ED4-915E-CB88-2ACCD0F1D976}"/>
              </a:ext>
            </a:extLst>
          </p:cNvPr>
          <p:cNvSpPr txBox="1"/>
          <p:nvPr/>
        </p:nvSpPr>
        <p:spPr>
          <a:xfrm>
            <a:off x="1606045" y="1843774"/>
            <a:ext cx="2798618"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1. Multi-layered Analysis</a:t>
            </a:r>
          </a:p>
          <a:p>
            <a:r>
              <a:rPr lang="en-US" sz="1400" dirty="0">
                <a:latin typeface="Arial" panose="020B0604020202020204" pitchFamily="34" charset="0"/>
                <a:cs typeface="Arial" panose="020B0604020202020204" pitchFamily="34" charset="0"/>
              </a:rPr>
              <a:t>2. Contextual Intelligence</a:t>
            </a:r>
            <a:endParaRPr lang="el-GR" sz="14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68C3BBB-E987-BF02-EE06-CE5857165C51}"/>
              </a:ext>
            </a:extLst>
          </p:cNvPr>
          <p:cNvSpPr txBox="1"/>
          <p:nvPr/>
        </p:nvSpPr>
        <p:spPr>
          <a:xfrm>
            <a:off x="4942898" y="1879167"/>
            <a:ext cx="4566502"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3. Source Reliability Awareness</a:t>
            </a:r>
          </a:p>
          <a:p>
            <a:r>
              <a:rPr lang="en-US" sz="1400" dirty="0">
                <a:latin typeface="Arial" panose="020B0604020202020204" pitchFamily="34" charset="0"/>
                <a:cs typeface="Arial" panose="020B0604020202020204" pitchFamily="34" charset="0"/>
              </a:rPr>
              <a:t>4. Explainability in Action</a:t>
            </a:r>
            <a:endParaRPr lang="el-GR" sz="14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0C79F617-5F84-2CE8-9CD2-CF36E2A59EF1}"/>
              </a:ext>
            </a:extLst>
          </p:cNvPr>
          <p:cNvSpPr txBox="1"/>
          <p:nvPr/>
        </p:nvSpPr>
        <p:spPr>
          <a:xfrm>
            <a:off x="2402169" y="2366994"/>
            <a:ext cx="482398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5. Final Verdict – Not a Guess, a Rule-Based Conclusion.</a:t>
            </a:r>
            <a:endParaRPr lang="el-GR" sz="14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F0988583-2C3F-0123-098C-7F4ACA274B55}"/>
              </a:ext>
            </a:extLst>
          </p:cNvPr>
          <p:cNvSpPr txBox="1"/>
          <p:nvPr/>
        </p:nvSpPr>
        <p:spPr>
          <a:xfrm>
            <a:off x="1956305" y="1556002"/>
            <a:ext cx="5231390" cy="323165"/>
          </a:xfrm>
          <a:prstGeom prst="rect">
            <a:avLst/>
          </a:prstGeom>
          <a:noFill/>
        </p:spPr>
        <p:txBody>
          <a:bodyPr wrap="square" rtlCol="0">
            <a:spAutoFit/>
          </a:bodyPr>
          <a:lstStyle/>
          <a:p>
            <a:r>
              <a:rPr lang="en-US" sz="1500" b="1" dirty="0">
                <a:latin typeface="Arial" panose="020B0604020202020204" pitchFamily="34" charset="0"/>
                <a:cs typeface="Arial" panose="020B0604020202020204" pitchFamily="34" charset="0"/>
              </a:rPr>
              <a:t>Core Innovations in Agent-Based Fake News Detection</a:t>
            </a:r>
            <a:endParaRPr lang="el-GR" sz="15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7564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Pros &amp; Cons</a:t>
            </a:r>
            <a:endParaRPr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0E3E1FFF-D339-2BA2-02CC-7648F4E6E1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4AD8399-ECF0-14AC-9F76-69EEAA7A1856}"/>
              </a:ext>
            </a:extLst>
          </p:cNvPr>
          <p:cNvSpPr txBox="1"/>
          <p:nvPr/>
        </p:nvSpPr>
        <p:spPr>
          <a:xfrm>
            <a:off x="6373931" y="2300254"/>
            <a:ext cx="818983"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Cons</a:t>
            </a:r>
            <a:endParaRPr lang="el-GR"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8C451D1-A171-F19E-28E6-067829096871}"/>
              </a:ext>
            </a:extLst>
          </p:cNvPr>
          <p:cNvSpPr txBox="1"/>
          <p:nvPr/>
        </p:nvSpPr>
        <p:spPr>
          <a:xfrm>
            <a:off x="2004457" y="2318706"/>
            <a:ext cx="712239"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Pros</a:t>
            </a:r>
            <a:endParaRPr lang="el-GR"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6B6CC9EE-F026-6460-B3FF-E1836FFF4C3E}"/>
              </a:ext>
            </a:extLst>
          </p:cNvPr>
          <p:cNvSpPr>
            <a:spLocks noGrp="1"/>
          </p:cNvSpPr>
          <p:nvPr>
            <p:ph idx="1"/>
          </p:nvPr>
        </p:nvSpPr>
        <p:spPr>
          <a:xfrm>
            <a:off x="233142" y="2816428"/>
            <a:ext cx="4254872" cy="3776322"/>
          </a:xfrm>
        </p:spPr>
        <p:txBody>
          <a:bodyPr>
            <a:noAutofit/>
          </a:bodyPr>
          <a:lstStyle/>
          <a:p>
            <a:r>
              <a:rPr lang="en-US" sz="1400" b="1" dirty="0">
                <a:latin typeface="Arial" panose="020B0604020202020204" pitchFamily="34" charset="0"/>
                <a:cs typeface="Arial" panose="020B0604020202020204" pitchFamily="34" charset="0"/>
              </a:rPr>
              <a:t>Explainability</a:t>
            </a:r>
            <a:r>
              <a:rPr lang="en-US" sz="1400" dirty="0">
                <a:latin typeface="Arial" panose="020B0604020202020204" pitchFamily="34" charset="0"/>
                <a:cs typeface="Arial" panose="020B0604020202020204" pitchFamily="34" charset="0"/>
              </a:rPr>
              <a:t>: All outputs are structured in JSON and include human-readable reasoning for each verdict.</a:t>
            </a:r>
          </a:p>
          <a:p>
            <a:r>
              <a:rPr lang="en-US" sz="1400" b="1" dirty="0">
                <a:latin typeface="Arial" panose="020B0604020202020204" pitchFamily="34" charset="0"/>
                <a:cs typeface="Arial" panose="020B0604020202020204" pitchFamily="34" charset="0"/>
              </a:rPr>
              <a:t>Modularity</a:t>
            </a:r>
            <a:r>
              <a:rPr lang="en-US" sz="1400" dirty="0">
                <a:latin typeface="Arial" panose="020B0604020202020204" pitchFamily="34" charset="0"/>
                <a:cs typeface="Arial" panose="020B0604020202020204" pitchFamily="34" charset="0"/>
              </a:rPr>
              <a:t>: Each agent is independent and can be modified, replaced, or extended without disrupting the whole system.</a:t>
            </a:r>
          </a:p>
          <a:p>
            <a:r>
              <a:rPr lang="en-US" sz="1400" b="1" dirty="0">
                <a:latin typeface="Arial" panose="020B0604020202020204" pitchFamily="34" charset="0"/>
                <a:cs typeface="Arial" panose="020B0604020202020204" pitchFamily="34" charset="0"/>
              </a:rPr>
              <a:t>Zero – Shot Prompt Engineering</a:t>
            </a:r>
            <a:r>
              <a:rPr lang="en-US" sz="1400" dirty="0">
                <a:latin typeface="Arial" panose="020B0604020202020204" pitchFamily="34" charset="0"/>
                <a:cs typeface="Arial" panose="020B0604020202020204" pitchFamily="34" charset="0"/>
              </a:rPr>
              <a:t>: The system relies only on structured prompts — no training or fine-tuning is needed.</a:t>
            </a:r>
          </a:p>
          <a:p>
            <a:r>
              <a:rPr lang="en-US" sz="1400" b="1" dirty="0">
                <a:latin typeface="Arial" panose="020B0604020202020204" pitchFamily="34" charset="0"/>
                <a:cs typeface="Arial" panose="020B0604020202020204" pitchFamily="34" charset="0"/>
              </a:rPr>
              <a:t>API &amp; Tool Compatibility</a:t>
            </a:r>
            <a:r>
              <a:rPr lang="en-US" sz="1400" dirty="0">
                <a:latin typeface="Arial" panose="020B0604020202020204" pitchFamily="34" charset="0"/>
                <a:cs typeface="Arial" panose="020B0604020202020204" pitchFamily="34" charset="0"/>
              </a:rPr>
              <a:t>: Integrates smoothly with external services like Google Custom Search, </a:t>
            </a:r>
            <a:r>
              <a:rPr lang="en-US" sz="1400" dirty="0" err="1">
                <a:latin typeface="Arial" panose="020B0604020202020204" pitchFamily="34" charset="0"/>
                <a:cs typeface="Arial" panose="020B0604020202020204" pitchFamily="34" charset="0"/>
              </a:rPr>
              <a:t>Serper</a:t>
            </a:r>
            <a:r>
              <a:rPr lang="en-US" sz="1400" dirty="0">
                <a:latin typeface="Arial" panose="020B0604020202020204" pitchFamily="34" charset="0"/>
                <a:cs typeface="Arial" panose="020B0604020202020204" pitchFamily="34" charset="0"/>
              </a:rPr>
              <a:t> API, etc.</a:t>
            </a:r>
          </a:p>
        </p:txBody>
      </p:sp>
      <p:sp>
        <p:nvSpPr>
          <p:cNvPr id="10" name="Content Placeholder 2">
            <a:extLst>
              <a:ext uri="{FF2B5EF4-FFF2-40B4-BE49-F238E27FC236}">
                <a16:creationId xmlns:a16="http://schemas.microsoft.com/office/drawing/2014/main" id="{4E64E359-1BCD-DB9F-F128-2F339C44836F}"/>
              </a:ext>
            </a:extLst>
          </p:cNvPr>
          <p:cNvSpPr txBox="1">
            <a:spLocks/>
          </p:cNvSpPr>
          <p:nvPr/>
        </p:nvSpPr>
        <p:spPr>
          <a:xfrm>
            <a:off x="4655988" y="2816428"/>
            <a:ext cx="4254872" cy="281163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1600" b="1" dirty="0">
                <a:latin typeface="Arial" panose="020B0604020202020204" pitchFamily="34" charset="0"/>
                <a:cs typeface="Arial" panose="020B0604020202020204" pitchFamily="34" charset="0"/>
              </a:rPr>
              <a:t>Dependence on External Search Quality: </a:t>
            </a:r>
            <a:r>
              <a:rPr lang="en-US" sz="1600" dirty="0">
                <a:latin typeface="Arial" panose="020B0604020202020204" pitchFamily="34" charset="0"/>
                <a:cs typeface="Arial" panose="020B0604020202020204" pitchFamily="34" charset="0"/>
              </a:rPr>
              <a:t>If external search APIs return low-quality or vague results, classification accuracy may drop.</a:t>
            </a:r>
          </a:p>
          <a:p>
            <a:r>
              <a:rPr lang="en-US" sz="1600" b="1" dirty="0">
                <a:latin typeface="Arial" panose="020B0604020202020204" pitchFamily="34" charset="0"/>
                <a:cs typeface="Arial" panose="020B0604020202020204" pitchFamily="34" charset="0"/>
              </a:rPr>
              <a:t>Non – Mathematical Scoring Logic: </a:t>
            </a:r>
            <a:r>
              <a:rPr lang="en-US" sz="1600" dirty="0">
                <a:latin typeface="Arial" panose="020B0604020202020204" pitchFamily="34" charset="0"/>
                <a:cs typeface="Arial" panose="020B0604020202020204" pitchFamily="34" charset="0"/>
              </a:rPr>
              <a:t>Scoring Agent currently uses heuristic thresholds instead of a formal scoring function.</a:t>
            </a:r>
          </a:p>
          <a:p>
            <a:r>
              <a:rPr lang="en-US" sz="1600" b="1" dirty="0">
                <a:latin typeface="Arial" panose="020B0604020202020204" pitchFamily="34" charset="0"/>
                <a:cs typeface="Arial" panose="020B0604020202020204" pitchFamily="34" charset="0"/>
              </a:rPr>
              <a:t>No Multimodal Input Support: </a:t>
            </a:r>
            <a:r>
              <a:rPr lang="en-US" sz="1600" dirty="0">
                <a:latin typeface="Arial" panose="020B0604020202020204" pitchFamily="34" charset="0"/>
                <a:cs typeface="Arial" panose="020B0604020202020204" pitchFamily="34" charset="0"/>
              </a:rPr>
              <a:t>The system currently handles only textual inputs — no images or video yet.</a:t>
            </a:r>
          </a:p>
          <a:p>
            <a:r>
              <a:rPr lang="en-US" sz="1600" b="1" dirty="0">
                <a:latin typeface="Arial" panose="020B0604020202020204" pitchFamily="34" charset="0"/>
                <a:cs typeface="Arial" panose="020B0604020202020204" pitchFamily="34" charset="0"/>
              </a:rPr>
              <a:t>Manual Evaluation Process</a:t>
            </a:r>
            <a:r>
              <a:rPr lang="en-US" sz="1600" dirty="0">
                <a:latin typeface="Arial" panose="020B0604020202020204" pitchFamily="34" charset="0"/>
                <a:cs typeface="Arial" panose="020B0604020202020204" pitchFamily="34" charset="0"/>
              </a:rPr>
              <a:t>: System testing has been performed manually and is not yet integrated with automated test pipelines.</a:t>
            </a:r>
          </a:p>
          <a:p>
            <a:pPr marL="0" indent="0">
              <a:buNone/>
            </a:pP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4</a:t>
            </a:r>
            <a:r>
              <a:rPr dirty="0">
                <a:latin typeface="Arial" panose="020B0604020202020204" pitchFamily="34" charset="0"/>
                <a:cs typeface="Arial" panose="020B0604020202020204" pitchFamily="34" charset="0"/>
              </a:rPr>
              <a:t>. </a:t>
            </a:r>
            <a:r>
              <a:rPr lang="en-US" cap="none" dirty="0">
                <a:latin typeface="Arial" panose="020B0604020202020204" pitchFamily="34" charset="0"/>
                <a:cs typeface="Arial" panose="020B0604020202020204" pitchFamily="34" charset="0"/>
              </a:rPr>
              <a:t>Evaluation</a:t>
            </a:r>
            <a:endParaRPr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3E42A159-213F-F711-2FE8-96AC22014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Data Testing</a:t>
            </a:r>
          </a:p>
        </p:txBody>
      </p:sp>
      <p:sp>
        <p:nvSpPr>
          <p:cNvPr id="3" name="Content Placeholder 2"/>
          <p:cNvSpPr>
            <a:spLocks noGrp="1"/>
          </p:cNvSpPr>
          <p:nvPr>
            <p:ph idx="1"/>
          </p:nvPr>
        </p:nvSpPr>
        <p:spPr>
          <a:xfrm>
            <a:off x="301228" y="2638045"/>
            <a:ext cx="4496804" cy="3711384"/>
          </a:xfrm>
        </p:spPr>
        <p:txBody>
          <a:bodyPr>
            <a:noAutofit/>
          </a:bodyPr>
          <a:lstStyle/>
          <a:p>
            <a:r>
              <a:rPr lang="en-US" sz="1400" dirty="0">
                <a:latin typeface="Arial" panose="020B0604020202020204" pitchFamily="34" charset="0"/>
                <a:cs typeface="Arial" panose="020B0604020202020204" pitchFamily="34" charset="0"/>
              </a:rPr>
              <a:t>Total Samples Used: 80 (4O from LIAR, 40 from </a:t>
            </a:r>
            <a:r>
              <a:rPr lang="en-US" sz="1400" dirty="0" err="1">
                <a:latin typeface="Arial" panose="020B0604020202020204" pitchFamily="34" charset="0"/>
                <a:cs typeface="Arial" panose="020B0604020202020204" pitchFamily="34" charset="0"/>
              </a:rPr>
              <a:t>FakeNewsNet</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Overall Accuracy: 75%</a:t>
            </a:r>
          </a:p>
          <a:p>
            <a:pPr lvl="1"/>
            <a:r>
              <a:rPr lang="en-US" sz="1400" dirty="0">
                <a:latin typeface="Arial" panose="020B0604020202020204" pitchFamily="34" charset="0"/>
                <a:cs typeface="Arial" panose="020B0604020202020204" pitchFamily="34" charset="0"/>
              </a:rPr>
              <a:t>LIAR: 82.5%</a:t>
            </a:r>
          </a:p>
          <a:p>
            <a:pPr lvl="1"/>
            <a:r>
              <a:rPr lang="en-US" sz="1400" dirty="0" err="1">
                <a:latin typeface="Arial" panose="020B0604020202020204" pitchFamily="34" charset="0"/>
                <a:cs typeface="Arial" panose="020B0604020202020204" pitchFamily="34" charset="0"/>
              </a:rPr>
              <a:t>FakeNewsNet</a:t>
            </a:r>
            <a:r>
              <a:rPr lang="en-US" sz="1400" dirty="0">
                <a:latin typeface="Arial" panose="020B0604020202020204" pitchFamily="34" charset="0"/>
                <a:cs typeface="Arial" panose="020B0604020202020204" pitchFamily="34" charset="0"/>
              </a:rPr>
              <a:t>: 67.5</a:t>
            </a:r>
          </a:p>
          <a:p>
            <a:r>
              <a:rPr lang="en-US" sz="1400" dirty="0">
                <a:latin typeface="Arial" panose="020B0604020202020204" pitchFamily="34" charset="0"/>
                <a:cs typeface="Arial" panose="020B0604020202020204" pitchFamily="34" charset="0"/>
              </a:rPr>
              <a:t>Precision: 83.7%</a:t>
            </a:r>
          </a:p>
          <a:p>
            <a:r>
              <a:rPr lang="en-US" sz="1400" dirty="0">
                <a:latin typeface="Arial" panose="020B0604020202020204" pitchFamily="34" charset="0"/>
                <a:cs typeface="Arial" panose="020B0604020202020204" pitchFamily="34" charset="0"/>
              </a:rPr>
              <a:t>Recall: 73.5%</a:t>
            </a:r>
          </a:p>
          <a:p>
            <a:r>
              <a:rPr lang="en-US" sz="1400" dirty="0">
                <a:latin typeface="Arial" panose="020B0604020202020204" pitchFamily="34" charset="0"/>
                <a:cs typeface="Arial" panose="020B0604020202020204" pitchFamily="34" charset="0"/>
              </a:rPr>
              <a:t>F1-Score: 78.2%</a:t>
            </a:r>
          </a:p>
          <a:p>
            <a:r>
              <a:rPr lang="en-US" sz="1400" dirty="0">
                <a:latin typeface="Arial" panose="020B0604020202020204" pitchFamily="34" charset="0"/>
                <a:cs typeface="Arial" panose="020B0604020202020204" pitchFamily="34" charset="0"/>
              </a:rPr>
              <a:t>Inputs:</a:t>
            </a:r>
          </a:p>
          <a:p>
            <a:pPr lvl="1"/>
            <a:r>
              <a:rPr lang="en-US" sz="1400" dirty="0">
                <a:latin typeface="Arial" panose="020B0604020202020204" pitchFamily="34" charset="0"/>
                <a:cs typeface="Arial" panose="020B0604020202020204" pitchFamily="34" charset="0"/>
              </a:rPr>
              <a:t>Titles with 76.6% Accuracy.</a:t>
            </a:r>
          </a:p>
          <a:p>
            <a:pPr lvl="1"/>
            <a:r>
              <a:rPr lang="en-US" sz="1400" dirty="0">
                <a:latin typeface="Arial" panose="020B0604020202020204" pitchFamily="34" charset="0"/>
                <a:cs typeface="Arial" panose="020B0604020202020204" pitchFamily="34" charset="0"/>
              </a:rPr>
              <a:t>Full Texts with 70% Accuracy</a:t>
            </a:r>
            <a:endParaRPr sz="1400" dirty="0">
              <a:latin typeface="Arial" panose="020B0604020202020204" pitchFamily="34" charset="0"/>
              <a:cs typeface="Arial" panose="020B0604020202020204" pitchFamily="34" charset="0"/>
            </a:endParaRPr>
          </a:p>
          <a:p>
            <a:endParaRPr sz="1400"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73935F4D-0010-6590-2E40-17EF9E04F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pic>
        <p:nvPicPr>
          <p:cNvPr id="6" name="Εικόνα 5">
            <a:extLst>
              <a:ext uri="{FF2B5EF4-FFF2-40B4-BE49-F238E27FC236}">
                <a16:creationId xmlns:a16="http://schemas.microsoft.com/office/drawing/2014/main" id="{44E398F0-2A2C-B11B-978C-5CD0DC533A63}"/>
              </a:ext>
            </a:extLst>
          </p:cNvPr>
          <p:cNvPicPr>
            <a:picLocks noChangeAspect="1"/>
          </p:cNvPicPr>
          <p:nvPr/>
        </p:nvPicPr>
        <p:blipFill>
          <a:blip r:embed="rId4"/>
          <a:stretch>
            <a:fillRect/>
          </a:stretch>
        </p:blipFill>
        <p:spPr>
          <a:xfrm>
            <a:off x="5599973" y="2638045"/>
            <a:ext cx="3133618" cy="371138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Comparison with Traditional Models</a:t>
            </a:r>
          </a:p>
        </p:txBody>
      </p:sp>
      <p:pic>
        <p:nvPicPr>
          <p:cNvPr id="4" name="Picture 2" descr="Πανεπιστήμιο Πειραιώς - Οικονομολόγος">
            <a:extLst>
              <a:ext uri="{FF2B5EF4-FFF2-40B4-BE49-F238E27FC236}">
                <a16:creationId xmlns:a16="http://schemas.microsoft.com/office/drawing/2014/main" id="{021C47E5-9B94-6A6A-1713-92E686095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Πίνακας 6">
            <a:extLst>
              <a:ext uri="{FF2B5EF4-FFF2-40B4-BE49-F238E27FC236}">
                <a16:creationId xmlns:a16="http://schemas.microsoft.com/office/drawing/2014/main" id="{3060D97E-06B9-86B4-5434-DBA90A2C07D9}"/>
              </a:ext>
            </a:extLst>
          </p:cNvPr>
          <p:cNvGraphicFramePr>
            <a:graphicFrameLocks noGrp="1"/>
          </p:cNvGraphicFramePr>
          <p:nvPr>
            <p:extLst>
              <p:ext uri="{D42A27DB-BD31-4B8C-83A1-F6EECF244321}">
                <p14:modId xmlns:p14="http://schemas.microsoft.com/office/powerpoint/2010/main" val="3388045539"/>
              </p:ext>
            </p:extLst>
          </p:nvPr>
        </p:nvGraphicFramePr>
        <p:xfrm>
          <a:off x="3366656" y="2587185"/>
          <a:ext cx="5572142" cy="3460325"/>
        </p:xfrm>
        <a:graphic>
          <a:graphicData uri="http://schemas.openxmlformats.org/drawingml/2006/table">
            <a:tbl>
              <a:tblPr firstRow="1" firstCol="1" bandRow="1">
                <a:tableStyleId>{5C22544A-7EE6-4342-B048-85BDC9FD1C3A}</a:tableStyleId>
              </a:tblPr>
              <a:tblGrid>
                <a:gridCol w="1631371">
                  <a:extLst>
                    <a:ext uri="{9D8B030D-6E8A-4147-A177-3AD203B41FA5}">
                      <a16:colId xmlns:a16="http://schemas.microsoft.com/office/drawing/2014/main" val="3300468656"/>
                    </a:ext>
                  </a:extLst>
                </a:gridCol>
                <a:gridCol w="1465118">
                  <a:extLst>
                    <a:ext uri="{9D8B030D-6E8A-4147-A177-3AD203B41FA5}">
                      <a16:colId xmlns:a16="http://schemas.microsoft.com/office/drawing/2014/main" val="2936366175"/>
                    </a:ext>
                  </a:extLst>
                </a:gridCol>
                <a:gridCol w="1330037">
                  <a:extLst>
                    <a:ext uri="{9D8B030D-6E8A-4147-A177-3AD203B41FA5}">
                      <a16:colId xmlns:a16="http://schemas.microsoft.com/office/drawing/2014/main" val="3497452184"/>
                    </a:ext>
                  </a:extLst>
                </a:gridCol>
                <a:gridCol w="1145616">
                  <a:extLst>
                    <a:ext uri="{9D8B030D-6E8A-4147-A177-3AD203B41FA5}">
                      <a16:colId xmlns:a16="http://schemas.microsoft.com/office/drawing/2014/main" val="2354786751"/>
                    </a:ext>
                  </a:extLst>
                </a:gridCol>
              </a:tblGrid>
              <a:tr h="438763">
                <a:tc>
                  <a:txBody>
                    <a:bodyPr/>
                    <a:lstStyle/>
                    <a:p>
                      <a:pPr algn="ctr">
                        <a:lnSpc>
                          <a:spcPct val="150000"/>
                        </a:lnSpc>
                        <a:spcAft>
                          <a:spcPts val="800"/>
                        </a:spcAft>
                        <a:buNone/>
                      </a:pPr>
                      <a:r>
                        <a:rPr lang="en-US" sz="900" dirty="0">
                          <a:effectLst/>
                        </a:rPr>
                        <a:t>Model/System</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latin typeface="Corbel" panose="020B0503020204020204" pitchFamily="34" charset="0"/>
                          <a:ea typeface="Times New Roman" panose="02020603050405020304" pitchFamily="18" charset="0"/>
                          <a:cs typeface="Times New Roman" panose="02020603050405020304" pitchFamily="18" charset="0"/>
                        </a:rPr>
                        <a:t>Technical Approach</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Accuracy (%)</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F1 Score</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extLst>
                  <a:ext uri="{0D108BD9-81ED-4DB2-BD59-A6C34878D82A}">
                    <a16:rowId xmlns:a16="http://schemas.microsoft.com/office/drawing/2014/main" val="2183771610"/>
                  </a:ext>
                </a:extLst>
              </a:tr>
              <a:tr h="383898">
                <a:tc>
                  <a:txBody>
                    <a:bodyPr/>
                    <a:lstStyle/>
                    <a:p>
                      <a:pPr algn="ctr">
                        <a:lnSpc>
                          <a:spcPct val="150000"/>
                        </a:lnSpc>
                        <a:spcAft>
                          <a:spcPts val="800"/>
                        </a:spcAft>
                        <a:buNone/>
                      </a:pPr>
                      <a:r>
                        <a:rPr lang="en-US" sz="900">
                          <a:effectLst/>
                        </a:rPr>
                        <a:t>Our Multi-Agent System</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latin typeface="Corbel" panose="020B0503020204020204" pitchFamily="34" charset="0"/>
                          <a:ea typeface="Times New Roman" panose="02020603050405020304" pitchFamily="18" charset="0"/>
                          <a:cs typeface="Times New Roman" panose="02020603050405020304" pitchFamily="18" charset="0"/>
                        </a:rPr>
                        <a:t>Agentic AI</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75</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0.74</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extLst>
                  <a:ext uri="{0D108BD9-81ED-4DB2-BD59-A6C34878D82A}">
                    <a16:rowId xmlns:a16="http://schemas.microsoft.com/office/drawing/2014/main" val="3509359309"/>
                  </a:ext>
                </a:extLst>
              </a:tr>
              <a:tr h="439505">
                <a:tc>
                  <a:txBody>
                    <a:bodyPr/>
                    <a:lstStyle/>
                    <a:p>
                      <a:pPr algn="ctr">
                        <a:lnSpc>
                          <a:spcPct val="150000"/>
                        </a:lnSpc>
                        <a:spcAft>
                          <a:spcPts val="800"/>
                        </a:spcAft>
                        <a:buNone/>
                      </a:pPr>
                      <a:r>
                        <a:rPr lang="en-US" sz="900">
                          <a:effectLst/>
                        </a:rPr>
                        <a:t>Logistic Regression (TF-IDF)</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Machine Learning</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63-65</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~0.63</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extLst>
                  <a:ext uri="{0D108BD9-81ED-4DB2-BD59-A6C34878D82A}">
                    <a16:rowId xmlns:a16="http://schemas.microsoft.com/office/drawing/2014/main" val="2610434089"/>
                  </a:ext>
                </a:extLst>
              </a:tr>
              <a:tr h="257109">
                <a:tc>
                  <a:txBody>
                    <a:bodyPr/>
                    <a:lstStyle/>
                    <a:p>
                      <a:pPr algn="ctr">
                        <a:lnSpc>
                          <a:spcPct val="150000"/>
                        </a:lnSpc>
                        <a:spcAft>
                          <a:spcPts val="800"/>
                        </a:spcAft>
                        <a:buNone/>
                      </a:pPr>
                      <a:r>
                        <a:rPr lang="en-US" sz="900" dirty="0">
                          <a:effectLst/>
                        </a:rPr>
                        <a:t>LSTM/Bi-LSTM</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latin typeface="Corbel" panose="020B0503020204020204" pitchFamily="34" charset="0"/>
                          <a:ea typeface="Times New Roman" panose="02020603050405020304" pitchFamily="18" charset="0"/>
                          <a:cs typeface="Times New Roman" panose="02020603050405020304" pitchFamily="18" charset="0"/>
                        </a:rPr>
                        <a:t>Machine Learning</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70-73</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~0.72</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extLst>
                  <a:ext uri="{0D108BD9-81ED-4DB2-BD59-A6C34878D82A}">
                    <a16:rowId xmlns:a16="http://schemas.microsoft.com/office/drawing/2014/main" val="3549546923"/>
                  </a:ext>
                </a:extLst>
              </a:tr>
              <a:tr h="383898">
                <a:tc>
                  <a:txBody>
                    <a:bodyPr/>
                    <a:lstStyle/>
                    <a:p>
                      <a:pPr algn="ctr">
                        <a:lnSpc>
                          <a:spcPct val="150000"/>
                        </a:lnSpc>
                        <a:spcAft>
                          <a:spcPts val="800"/>
                        </a:spcAft>
                        <a:buNone/>
                      </a:pPr>
                      <a:r>
                        <a:rPr lang="en-US" sz="900" dirty="0">
                          <a:effectLst/>
                        </a:rPr>
                        <a:t>CSI (</a:t>
                      </a:r>
                      <a:r>
                        <a:rPr lang="en-US" sz="900" dirty="0" err="1">
                          <a:effectLst/>
                        </a:rPr>
                        <a:t>Ruchansky</a:t>
                      </a:r>
                      <a:r>
                        <a:rPr lang="en-US" sz="900" dirty="0">
                          <a:effectLst/>
                        </a:rPr>
                        <a:t> et al., 2017)</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Hybrid</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89.2/95.3</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0.894/0.954</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extLst>
                  <a:ext uri="{0D108BD9-81ED-4DB2-BD59-A6C34878D82A}">
                    <a16:rowId xmlns:a16="http://schemas.microsoft.com/office/drawing/2014/main" val="2616371552"/>
                  </a:ext>
                </a:extLst>
              </a:tr>
              <a:tr h="383898">
                <a:tc>
                  <a:txBody>
                    <a:bodyPr/>
                    <a:lstStyle/>
                    <a:p>
                      <a:pPr algn="ctr">
                        <a:lnSpc>
                          <a:spcPct val="150000"/>
                        </a:lnSpc>
                        <a:spcAft>
                          <a:spcPts val="800"/>
                        </a:spcAft>
                        <a:buNone/>
                      </a:pPr>
                      <a:r>
                        <a:rPr lang="en-US" sz="900" dirty="0" err="1">
                          <a:effectLst/>
                        </a:rPr>
                        <a:t>TriFN</a:t>
                      </a:r>
                      <a:r>
                        <a:rPr lang="en-US" sz="900" dirty="0">
                          <a:effectLst/>
                        </a:rPr>
                        <a:t> (Shu et al., 2019)</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Hybrid</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86.4/87.8</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0.86</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extLst>
                  <a:ext uri="{0D108BD9-81ED-4DB2-BD59-A6C34878D82A}">
                    <a16:rowId xmlns:a16="http://schemas.microsoft.com/office/drawing/2014/main" val="4101352292"/>
                  </a:ext>
                </a:extLst>
              </a:tr>
              <a:tr h="586627">
                <a:tc>
                  <a:txBody>
                    <a:bodyPr/>
                    <a:lstStyle/>
                    <a:p>
                      <a:pPr algn="ctr">
                        <a:lnSpc>
                          <a:spcPct val="150000"/>
                        </a:lnSpc>
                        <a:spcAft>
                          <a:spcPts val="800"/>
                        </a:spcAft>
                        <a:buNone/>
                      </a:pPr>
                      <a:r>
                        <a:rPr lang="en-US" sz="900" dirty="0">
                          <a:effectLst/>
                        </a:rPr>
                        <a:t>RCNN + Sentiment (Wu et al.,2019)</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Hybrid</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83.3/84.6</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0.431/0.549</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extLst>
                  <a:ext uri="{0D108BD9-81ED-4DB2-BD59-A6C34878D82A}">
                    <a16:rowId xmlns:a16="http://schemas.microsoft.com/office/drawing/2014/main" val="2521253180"/>
                  </a:ext>
                </a:extLst>
              </a:tr>
              <a:tr h="586627">
                <a:tc>
                  <a:txBody>
                    <a:bodyPr/>
                    <a:lstStyle/>
                    <a:p>
                      <a:pPr algn="ctr">
                        <a:lnSpc>
                          <a:spcPct val="150000"/>
                        </a:lnSpc>
                        <a:spcAft>
                          <a:spcPts val="800"/>
                        </a:spcAft>
                        <a:buNone/>
                      </a:pPr>
                      <a:r>
                        <a:rPr lang="en-US" sz="900" dirty="0">
                          <a:effectLst/>
                        </a:rPr>
                        <a:t>Propagation GCN (Monti et al., 2019)</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Deep Learning</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a:effectLst/>
                        </a:rPr>
                        <a:t>ROC-AUC 92.7</a:t>
                      </a:r>
                      <a:endParaRPr lang="el-GR" sz="90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tc>
                  <a:txBody>
                    <a:bodyPr/>
                    <a:lstStyle/>
                    <a:p>
                      <a:pPr algn="ctr">
                        <a:lnSpc>
                          <a:spcPct val="150000"/>
                        </a:lnSpc>
                        <a:spcAft>
                          <a:spcPts val="800"/>
                        </a:spcAft>
                        <a:buNone/>
                      </a:pPr>
                      <a:r>
                        <a:rPr lang="en-US" sz="900" dirty="0">
                          <a:effectLst/>
                        </a:rPr>
                        <a:t>N/A</a:t>
                      </a:r>
                      <a:endParaRPr lang="el-GR" sz="900" dirty="0">
                        <a:effectLst/>
                        <a:latin typeface="Corbel" panose="020B0503020204020204" pitchFamily="34" charset="0"/>
                        <a:ea typeface="Times New Roman" panose="02020603050405020304" pitchFamily="18" charset="0"/>
                        <a:cs typeface="Times New Roman" panose="02020603050405020304" pitchFamily="18" charset="0"/>
                      </a:endParaRPr>
                    </a:p>
                  </a:txBody>
                  <a:tcPr marL="38617" marR="38617" marT="0" marB="0"/>
                </a:tc>
                <a:extLst>
                  <a:ext uri="{0D108BD9-81ED-4DB2-BD59-A6C34878D82A}">
                    <a16:rowId xmlns:a16="http://schemas.microsoft.com/office/drawing/2014/main" val="1778961190"/>
                  </a:ext>
                </a:extLst>
              </a:tr>
            </a:tbl>
          </a:graphicData>
        </a:graphic>
      </p:graphicFrame>
      <p:sp>
        <p:nvSpPr>
          <p:cNvPr id="8" name="Content Placeholder 2">
            <a:extLst>
              <a:ext uri="{FF2B5EF4-FFF2-40B4-BE49-F238E27FC236}">
                <a16:creationId xmlns:a16="http://schemas.microsoft.com/office/drawing/2014/main" id="{80FDD1D9-0E1E-8EEE-6AB9-E4FF10EDCB9C}"/>
              </a:ext>
            </a:extLst>
          </p:cNvPr>
          <p:cNvSpPr>
            <a:spLocks noGrp="1"/>
          </p:cNvSpPr>
          <p:nvPr>
            <p:ph idx="1"/>
          </p:nvPr>
        </p:nvSpPr>
        <p:spPr>
          <a:xfrm>
            <a:off x="233142" y="3314870"/>
            <a:ext cx="2769831" cy="2004954"/>
          </a:xfrm>
        </p:spPr>
        <p:txBody>
          <a:bodyPr>
            <a:noAutofit/>
          </a:bodyPr>
          <a:lstStyle/>
          <a:p>
            <a:r>
              <a:rPr lang="en-US" sz="1400" dirty="0">
                <a:latin typeface="Arial" panose="020B0604020202020204" pitchFamily="34" charset="0"/>
                <a:cs typeface="Arial" panose="020B0604020202020204" pitchFamily="34" charset="0"/>
              </a:rPr>
              <a:t>Our agent-based system clearly outperforms all traditional machine learning models, achieving higher accuracy and F1-score than Logistic Regression and LSTM, while offering added benefits like explainability and modularity.</a:t>
            </a:r>
            <a:endParaRPr sz="1400" dirty="0">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5</a:t>
            </a:r>
            <a:r>
              <a:rPr dirty="0">
                <a:latin typeface="Arial" panose="020B0604020202020204" pitchFamily="34" charset="0"/>
                <a:cs typeface="Arial" panose="020B0604020202020204" pitchFamily="34" charset="0"/>
              </a:rPr>
              <a:t>. </a:t>
            </a:r>
            <a:r>
              <a:rPr lang="en-US" cap="none" dirty="0">
                <a:latin typeface="Arial" panose="020B0604020202020204" pitchFamily="34" charset="0"/>
                <a:cs typeface="Arial" panose="020B0604020202020204" pitchFamily="34" charset="0"/>
              </a:rPr>
              <a:t>Conclusion</a:t>
            </a:r>
            <a:endParaRPr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A473B697-5C81-6300-3FCD-0B69154F7F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Future Improvements &amp; Evolution Possibilities</a:t>
            </a:r>
          </a:p>
        </p:txBody>
      </p:sp>
      <p:sp>
        <p:nvSpPr>
          <p:cNvPr id="3" name="Content Placeholder 2"/>
          <p:cNvSpPr>
            <a:spLocks noGrp="1"/>
          </p:cNvSpPr>
          <p:nvPr>
            <p:ph idx="1"/>
          </p:nvPr>
        </p:nvSpPr>
        <p:spPr>
          <a:xfrm>
            <a:off x="1606045" y="2690355"/>
            <a:ext cx="5937755" cy="1434173"/>
          </a:xfrm>
        </p:spPr>
        <p:txBody>
          <a:bodyPr>
            <a:normAutofit/>
          </a:bodyPr>
          <a:lstStyle/>
          <a:p>
            <a:r>
              <a:rPr lang="en-US" sz="1400" dirty="0">
                <a:latin typeface="Arial" panose="020B0604020202020204" pitchFamily="34" charset="0"/>
                <a:cs typeface="Arial" panose="020B0604020202020204" pitchFamily="34" charset="0"/>
              </a:rPr>
              <a:t>LLM Replacement (e.g., open-source models).</a:t>
            </a:r>
          </a:p>
          <a:p>
            <a:r>
              <a:rPr lang="en-US" sz="1400" dirty="0">
                <a:latin typeface="Arial" panose="020B0604020202020204" pitchFamily="34" charset="0"/>
                <a:cs typeface="Arial" panose="020B0604020202020204" pitchFamily="34" charset="0"/>
              </a:rPr>
              <a:t>Mathematical formalization of scoring agent criteria.</a:t>
            </a:r>
          </a:p>
          <a:p>
            <a:r>
              <a:rPr lang="en-US" sz="1400" dirty="0">
                <a:latin typeface="Arial" panose="020B0604020202020204" pitchFamily="34" charset="0"/>
                <a:cs typeface="Arial" panose="020B0604020202020204" pitchFamily="34" charset="0"/>
              </a:rPr>
              <a:t>Expanded evaluation with bigger datasets.</a:t>
            </a:r>
          </a:p>
          <a:p>
            <a:r>
              <a:rPr lang="en-US" sz="1400" dirty="0">
                <a:latin typeface="Arial" panose="020B0604020202020204" pitchFamily="34" charset="0"/>
                <a:cs typeface="Arial" panose="020B0604020202020204" pitchFamily="34" charset="0"/>
              </a:rPr>
              <a:t>Multimodal input support, including images and videos.</a:t>
            </a:r>
            <a:endParaRPr lang="el-GR" sz="1400" dirty="0">
              <a:latin typeface="Arial" panose="020B0604020202020204" pitchFamily="34" charset="0"/>
              <a:cs typeface="Arial" panose="020B0604020202020204" pitchFamily="34" charset="0"/>
            </a:endParaRPr>
          </a:p>
          <a:p>
            <a:endParaRPr lang="el-GR" sz="1400"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2A5A522D-83A7-FEE4-9163-6F6C754CC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Acknowledgements</a:t>
            </a:r>
            <a:endParaRPr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603122" y="2832599"/>
            <a:ext cx="5937755" cy="1719946"/>
          </a:xfrm>
        </p:spPr>
        <p:txBody>
          <a:bodyPr>
            <a:normAutofit/>
          </a:bodyPr>
          <a:lstStyle/>
          <a:p>
            <a:r>
              <a:rPr lang="en-US" sz="1400" dirty="0">
                <a:latin typeface="Arial" panose="020B0604020202020204" pitchFamily="34" charset="0"/>
                <a:cs typeface="Arial" panose="020B0604020202020204" pitchFamily="34" charset="0"/>
              </a:rPr>
              <a:t>Supervisor: Dr. Nikolaos </a:t>
            </a:r>
            <a:r>
              <a:rPr lang="en-US" sz="1400" dirty="0" err="1">
                <a:latin typeface="Arial" panose="020B0604020202020204" pitchFamily="34" charset="0"/>
                <a:cs typeface="Arial" panose="020B0604020202020204" pitchFamily="34" charset="0"/>
              </a:rPr>
              <a:t>Pelekis</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OpenAI – for access to GPT-4o-mini.</a:t>
            </a:r>
          </a:p>
          <a:p>
            <a:r>
              <a:rPr lang="en-US" sz="1400" dirty="0" err="1">
                <a:latin typeface="Arial" panose="020B0604020202020204" pitchFamily="34" charset="0"/>
                <a:cs typeface="Arial" panose="020B0604020202020204" pitchFamily="34" charset="0"/>
              </a:rPr>
              <a:t>Flowise</a:t>
            </a:r>
            <a:r>
              <a:rPr lang="en-US" sz="1400" dirty="0">
                <a:latin typeface="Arial" panose="020B0604020202020204" pitchFamily="34" charset="0"/>
                <a:cs typeface="Arial" panose="020B0604020202020204" pitchFamily="34" charset="0"/>
              </a:rPr>
              <a:t> &amp; Node.js developer community.</a:t>
            </a:r>
          </a:p>
          <a:p>
            <a:r>
              <a:rPr lang="en-US" sz="1400" dirty="0">
                <a:latin typeface="Arial" panose="020B0604020202020204" pitchFamily="34" charset="0"/>
                <a:cs typeface="Arial" panose="020B0604020202020204" pitchFamily="34" charset="0"/>
              </a:rPr>
              <a:t>Fact-checking platforms – including </a:t>
            </a:r>
            <a:r>
              <a:rPr lang="en-US" sz="1400" dirty="0" err="1">
                <a:latin typeface="Arial" panose="020B0604020202020204" pitchFamily="34" charset="0"/>
                <a:cs typeface="Arial" panose="020B0604020202020204" pitchFamily="34" charset="0"/>
              </a:rPr>
              <a:t>Politifact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GossipCop</a:t>
            </a:r>
            <a:r>
              <a:rPr lang="en-US" sz="1400" dirty="0">
                <a:latin typeface="Arial" panose="020B0604020202020204" pitchFamily="34" charset="0"/>
                <a:cs typeface="Arial" panose="020B0604020202020204" pitchFamily="34" charset="0"/>
              </a:rPr>
              <a:t>, and others.</a:t>
            </a:r>
          </a:p>
          <a:p>
            <a:r>
              <a:rPr lang="en-US" sz="1400" dirty="0" err="1">
                <a:latin typeface="Arial" panose="020B0604020202020204" pitchFamily="34" charset="0"/>
                <a:cs typeface="Arial" panose="020B0604020202020204" pitchFamily="34" charset="0"/>
              </a:rPr>
              <a:t>Github</a:t>
            </a:r>
            <a:r>
              <a:rPr lang="en-US" sz="1400"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p:txBody>
      </p:sp>
      <p:pic>
        <p:nvPicPr>
          <p:cNvPr id="4" name="Picture 2" descr="Πανεπιστήμιο Πειραιώς - Οικονομολόγος">
            <a:extLst>
              <a:ext uri="{FF2B5EF4-FFF2-40B4-BE49-F238E27FC236}">
                <a16:creationId xmlns:a16="http://schemas.microsoft.com/office/drawing/2014/main" id="{EFDD8401-B6AF-C281-759E-B04001E6FC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3591" y="0"/>
            <a:ext cx="410409" cy="48052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5" name="Γραφή 4">
                <a:extLst>
                  <a:ext uri="{FF2B5EF4-FFF2-40B4-BE49-F238E27FC236}">
                    <a16:creationId xmlns:a16="http://schemas.microsoft.com/office/drawing/2014/main" id="{5D40160B-A61F-7405-72ED-CE0614853EDB}"/>
                  </a:ext>
                </a:extLst>
              </p14:cNvPr>
              <p14:cNvContentPartPr/>
              <p14:nvPr/>
            </p14:nvContentPartPr>
            <p14:xfrm>
              <a:off x="7524720" y="82440"/>
              <a:ext cx="360" cy="360"/>
            </p14:xfrm>
          </p:contentPart>
        </mc:Choice>
        <mc:Fallback>
          <p:pic>
            <p:nvPicPr>
              <p:cNvPr id="5" name="Γραφή 4">
                <a:extLst>
                  <a:ext uri="{FF2B5EF4-FFF2-40B4-BE49-F238E27FC236}">
                    <a16:creationId xmlns:a16="http://schemas.microsoft.com/office/drawing/2014/main" id="{5D40160B-A61F-7405-72ED-CE0614853EDB}"/>
                  </a:ext>
                </a:extLst>
              </p:cNvPr>
              <p:cNvPicPr/>
              <p:nvPr/>
            </p:nvPicPr>
            <p:blipFill>
              <a:blip r:embed="rId5"/>
              <a:stretch>
                <a:fillRect/>
              </a:stretch>
            </p:blipFill>
            <p:spPr>
              <a:xfrm>
                <a:off x="7515360" y="73080"/>
                <a:ext cx="19080" cy="19080"/>
              </a:xfrm>
              <a:prstGeom prst="rect">
                <a:avLst/>
              </a:prstGeom>
            </p:spPr>
          </p:pic>
        </mc:Fallback>
      </mc:AlternateContent>
    </p:spTree>
  </p:cSld>
  <p:clrMapOvr>
    <a:masterClrMapping/>
  </p:clrMapOvr>
</p:sld>
</file>

<file path=ppt/theme/theme1.xml><?xml version="1.0" encoding="utf-8"?>
<a:theme xmlns:a="http://schemas.openxmlformats.org/drawingml/2006/main" name="Δέμα">
  <a:themeElements>
    <a:clrScheme name="Δέμα">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Δέμα">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Δέμα">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TM10001115[[fn=Δέμα]]</Template>
  <TotalTime>5476</TotalTime>
  <Words>8217</Words>
  <Application>Microsoft Office PowerPoint</Application>
  <PresentationFormat>Προβολή στην οθόνη (4:3)</PresentationFormat>
  <Paragraphs>388</Paragraphs>
  <Slides>27</Slides>
  <Notes>27</Notes>
  <HiddenSlides>1</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27</vt:i4>
      </vt:variant>
    </vt:vector>
  </HeadingPairs>
  <TitlesOfParts>
    <vt:vector size="32" baseType="lpstr">
      <vt:lpstr>Arial</vt:lpstr>
      <vt:lpstr>Calibri</vt:lpstr>
      <vt:lpstr>Corbel</vt:lpstr>
      <vt:lpstr>Gill Sans MT</vt:lpstr>
      <vt:lpstr>Δέμα</vt:lpstr>
      <vt:lpstr>Fake News Detection On Social Media</vt:lpstr>
      <vt:lpstr>1. Introduction</vt:lpstr>
      <vt:lpstr>Scope Of Thesis</vt:lpstr>
      <vt:lpstr>2. Literature Review</vt:lpstr>
      <vt:lpstr>Machine and Deep Learning Techniques</vt:lpstr>
      <vt:lpstr>Representative Articles Used in the Thesis</vt:lpstr>
      <vt:lpstr>3. System Architecture</vt:lpstr>
      <vt:lpstr>Multi-Agent Architecture Overview</vt:lpstr>
      <vt:lpstr>Input Agent</vt:lpstr>
      <vt:lpstr>Fake News Classifier Agent</vt:lpstr>
      <vt:lpstr>Παρουσίαση του PowerPoint</vt:lpstr>
      <vt:lpstr>Second Search Agent</vt:lpstr>
      <vt:lpstr>Παρουσίαση του PowerPoint</vt:lpstr>
      <vt:lpstr>Scoring Agent</vt:lpstr>
      <vt:lpstr>Παρουσίαση του PowerPoint</vt:lpstr>
      <vt:lpstr>Source Quality Checker</vt:lpstr>
      <vt:lpstr>Παρουσίαση του PowerPoint</vt:lpstr>
      <vt:lpstr>Supervisor Agent</vt:lpstr>
      <vt:lpstr>Παρουσίαση του PowerPoint</vt:lpstr>
      <vt:lpstr>End-to-End Example</vt:lpstr>
      <vt:lpstr>Pros &amp; Cons</vt:lpstr>
      <vt:lpstr>4. Evaluation</vt:lpstr>
      <vt:lpstr>Data Testing</vt:lpstr>
      <vt:lpstr>Comparison with Traditional Models</vt:lpstr>
      <vt:lpstr>5. Conclusion</vt:lpstr>
      <vt:lpstr>Future Improvements &amp; Evolution Possibilities</vt:lpstr>
      <vt:lpstr>Acknowledgements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tzwrakos</dc:creator>
  <cp:keywords/>
  <dc:description>generated using python-pptx</dc:description>
  <cp:lastModifiedBy>Χρήστος Τζώρας</cp:lastModifiedBy>
  <cp:revision>17</cp:revision>
  <dcterms:created xsi:type="dcterms:W3CDTF">2013-01-27T09:14:16Z</dcterms:created>
  <dcterms:modified xsi:type="dcterms:W3CDTF">2025-09-29T08:05:37Z</dcterms:modified>
  <cp:category/>
</cp:coreProperties>
</file>